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delSld">
      <pc:chgData name="RIFAT AL MAMUN RUDRO" userId="24b27b9a-aab3-4351-8aca-a88306e0f932" providerId="ADAL" clId="{DB9BBBDC-F455-4572-BF35-B25E0968203C}" dt="2026-10-05T10:12:10.034" v="3" actId="47"/>
      <pc:docMkLst>
        <pc:docMk/>
      </pc:docMkLst>
      <pc:sldChg chg="del">
        <pc:chgData name="RIFAT AL MAMUN RUDRO" userId="24b27b9a-aab3-4351-8aca-a88306e0f932" providerId="ADAL" clId="{DB9BBBDC-F455-4572-BF35-B25E0968203C}" dt="2026-10-05T10:12:08.593" v="0" actId="47"/>
        <pc:sldMkLst>
          <pc:docMk/>
          <pc:sldMk cId="0" sldId="275"/>
        </pc:sldMkLst>
      </pc:sldChg>
      <pc:sldChg chg="del">
        <pc:chgData name="RIFAT AL MAMUN RUDRO" userId="24b27b9a-aab3-4351-8aca-a88306e0f932" providerId="ADAL" clId="{DB9BBBDC-F455-4572-BF35-B25E0968203C}" dt="2026-10-05T10:12:08.998" v="1" actId="47"/>
        <pc:sldMkLst>
          <pc:docMk/>
          <pc:sldMk cId="0" sldId="276"/>
        </pc:sldMkLst>
      </pc:sldChg>
      <pc:sldChg chg="del">
        <pc:chgData name="RIFAT AL MAMUN RUDRO" userId="24b27b9a-aab3-4351-8aca-a88306e0f932" providerId="ADAL" clId="{DB9BBBDC-F455-4572-BF35-B25E0968203C}" dt="2026-10-05T10:12:09.462" v="2" actId="47"/>
        <pc:sldMkLst>
          <pc:docMk/>
          <pc:sldMk cId="0" sldId="277"/>
        </pc:sldMkLst>
      </pc:sldChg>
      <pc:sldChg chg="del">
        <pc:chgData name="RIFAT AL MAMUN RUDRO" userId="24b27b9a-aab3-4351-8aca-a88306e0f932" providerId="ADAL" clId="{DB9BBBDC-F455-4572-BF35-B25E0968203C}" dt="2026-10-05T10:12:10.034" v="3" actId="47"/>
        <pc:sldMkLst>
          <pc:docMk/>
          <pc:sldMk cId="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81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slide" Target="slide3.xml"/><Relationship Id="rId10" Type="http://schemas.openxmlformats.org/officeDocument/2006/relationships/image" Target="../media/image4.png"/><Relationship Id="rId4" Type="http://schemas.openxmlformats.org/officeDocument/2006/relationships/slide" Target="slide2.xml"/><Relationship Id="rId9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" Target="slide2.xml"/><Relationship Id="rId9" Type="http://schemas.openxmlformats.org/officeDocument/2006/relationships/hyperlink" Target="https://www.w3schools.com/jsref/dom_obj_event.asp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w3schools.com/js/js_events.as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js_functions.asp" TargetMode="External"/><Relationship Id="rId5" Type="http://schemas.openxmlformats.org/officeDocument/2006/relationships/image" Target="../media/image12.pn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js/js_functions.as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jsref/dom_obj_event.asp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js/js_events.asp" TargetMode="External"/><Relationship Id="rId5" Type="http://schemas.openxmlformats.org/officeDocument/2006/relationships/image" Target="../media/image13.png"/><Relationship Id="rId4" Type="http://schemas.openxmlformats.org/officeDocument/2006/relationships/slide" Target="slide2.xml"/><Relationship Id="rId9" Type="http://schemas.openxmlformats.org/officeDocument/2006/relationships/hyperlink" Target="https://www.springboard.com/blog/history-of-javascrip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SESSION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Events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23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03: events, event handlers, functions, invocation, and return values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1563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35624" y="1563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81928" y="1563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517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179222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"greet()"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00" dirty="0"/>
          </a:p>
        </p:txBody>
      </p:sp>
      <p:sp>
        <p:nvSpPr>
          <p:cNvPr id="16" name="btn">
            <a:hlinkClick r:id="rId4" action="ppaction://hlinksldjump"/>
          </p:cNvPr>
          <p:cNvSpPr/>
          <p:nvPr/>
        </p:nvSpPr>
        <p:spPr>
          <a:xfrm>
            <a:off x="457200" y="32461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1792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4133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34640" y="3840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999232" y="3931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999232" y="41330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03 · Week 05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3840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736592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41330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199632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4133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14173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Events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events are and how to handle them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64408" y="14173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Functions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Defining, calling, and returning values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rId9" action="ppaction://hlinksldjump"/>
          </p:cNvPr>
          <p:cNvSpPr/>
          <p:nvPr/>
        </p:nvSpPr>
        <p:spPr>
          <a:xfrm>
            <a:off x="6071616" y="1417320"/>
            <a:ext cx="2624328" cy="3108960"/>
          </a:xfrm>
          <a:prstGeom prst="roundRect">
            <a:avLst>
              <a:gd name="adj" fmla="val 3484"/>
            </a:avLst>
          </a:prstGeom>
          <a:solidFill>
            <a:srgbClr val="F1ECFA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calculator and a colour changer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Events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that happen to HTML elements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event?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events are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that happen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HTML elements. JavaScript can react to them.</a:t>
            </a:r>
            <a:endParaRPr lang="en-US" sz="1300" dirty="0"/>
          </a:p>
        </p:txBody>
      </p:sp>
      <p:sp>
        <p:nvSpPr>
          <p:cNvPr id="9" name="anim-1-0"/>
          <p:cNvSpPr/>
          <p:nvPr/>
        </p:nvSpPr>
        <p:spPr>
          <a:xfrm>
            <a:off x="457200" y="155448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anim-1-0"/>
          <p:cNvSpPr/>
          <p:nvPr/>
        </p:nvSpPr>
        <p:spPr>
          <a:xfrm>
            <a:off x="621792" y="1719072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anim-1-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" y="1849831"/>
            <a:ext cx="241402" cy="241402"/>
          </a:xfrm>
          <a:prstGeom prst="rect">
            <a:avLst/>
          </a:prstGeom>
        </p:spPr>
      </p:pic>
      <p:sp>
        <p:nvSpPr>
          <p:cNvPr id="12" name="anim-1-0"/>
          <p:cNvSpPr txBox="1"/>
          <p:nvPr/>
        </p:nvSpPr>
        <p:spPr>
          <a:xfrm>
            <a:off x="1234440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has finished loading</a:t>
            </a:r>
            <a:endParaRPr lang="en-US" sz="1200" dirty="0"/>
          </a:p>
        </p:txBody>
      </p:sp>
      <p:sp>
        <p:nvSpPr>
          <p:cNvPr id="13" name="anim-1-0"/>
          <p:cNvSpPr/>
          <p:nvPr/>
        </p:nvSpPr>
        <p:spPr>
          <a:xfrm>
            <a:off x="1234440" y="22128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1-0"/>
          <p:cNvSpPr txBox="1"/>
          <p:nvPr/>
        </p:nvSpPr>
        <p:spPr>
          <a:xfrm>
            <a:off x="1234440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onload</a:t>
            </a:r>
            <a:endParaRPr lang="en-US" sz="1000" dirty="0"/>
          </a:p>
        </p:txBody>
      </p:sp>
      <p:sp>
        <p:nvSpPr>
          <p:cNvPr id="15" name="anim-2-1"/>
          <p:cNvSpPr/>
          <p:nvPr/>
        </p:nvSpPr>
        <p:spPr>
          <a:xfrm>
            <a:off x="3264408" y="155448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1"/>
          <p:cNvSpPr/>
          <p:nvPr/>
        </p:nvSpPr>
        <p:spPr>
          <a:xfrm>
            <a:off x="3429000" y="1719072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anim-2-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759" y="1849831"/>
            <a:ext cx="241402" cy="241402"/>
          </a:xfrm>
          <a:prstGeom prst="rect">
            <a:avLst/>
          </a:prstGeom>
        </p:spPr>
      </p:pic>
      <p:sp>
        <p:nvSpPr>
          <p:cNvPr id="18" name="anim-2-1"/>
          <p:cNvSpPr txBox="1"/>
          <p:nvPr/>
        </p:nvSpPr>
        <p:spPr>
          <a:xfrm>
            <a:off x="4041648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input field was changed</a:t>
            </a:r>
            <a:endParaRPr lang="en-US" sz="1200" dirty="0"/>
          </a:p>
        </p:txBody>
      </p:sp>
      <p:sp>
        <p:nvSpPr>
          <p:cNvPr id="19" name="anim-2-1"/>
          <p:cNvSpPr/>
          <p:nvPr/>
        </p:nvSpPr>
        <p:spPr>
          <a:xfrm>
            <a:off x="4041648" y="22128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1"/>
          <p:cNvSpPr txBox="1"/>
          <p:nvPr/>
        </p:nvSpPr>
        <p:spPr>
          <a:xfrm>
            <a:off x="4041648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endParaRPr lang="en-US" sz="1000" dirty="0"/>
          </a:p>
        </p:txBody>
      </p:sp>
      <p:sp>
        <p:nvSpPr>
          <p:cNvPr id="21" name="anim-3-2"/>
          <p:cNvSpPr/>
          <p:nvPr/>
        </p:nvSpPr>
        <p:spPr>
          <a:xfrm>
            <a:off x="6071616" y="155448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anim-3-2"/>
          <p:cNvSpPr/>
          <p:nvPr/>
        </p:nvSpPr>
        <p:spPr>
          <a:xfrm>
            <a:off x="6236208" y="1719072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anim-3-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6967" y="1849831"/>
            <a:ext cx="241402" cy="241402"/>
          </a:xfrm>
          <a:prstGeom prst="rect">
            <a:avLst/>
          </a:prstGeom>
        </p:spPr>
      </p:pic>
      <p:sp>
        <p:nvSpPr>
          <p:cNvPr id="24" name="anim-3-2"/>
          <p:cNvSpPr txBox="1"/>
          <p:nvPr/>
        </p:nvSpPr>
        <p:spPr>
          <a:xfrm>
            <a:off x="6848856" y="1645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button was clicked</a:t>
            </a:r>
            <a:endParaRPr lang="en-US" sz="1200" dirty="0"/>
          </a:p>
        </p:txBody>
      </p:sp>
      <p:sp>
        <p:nvSpPr>
          <p:cNvPr id="25" name="anim-3-2"/>
          <p:cNvSpPr/>
          <p:nvPr/>
        </p:nvSpPr>
        <p:spPr>
          <a:xfrm>
            <a:off x="6848856" y="22128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3-2"/>
          <p:cNvSpPr txBox="1"/>
          <p:nvPr/>
        </p:nvSpPr>
        <p:spPr>
          <a:xfrm>
            <a:off x="6848856" y="2212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2834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HANDLER ATTRIBUTES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57200" y="309067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&lt;element </a:t>
            </a:r>
            <a:r>
              <a:rPr lang="en-US" sz="15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</a:t>
            </a:r>
            <a:r>
              <a:rPr lang="en-US" sz="15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 JavaScript</a:t>
            </a:r>
            <a:r>
              <a:rPr lang="en-US" sz="15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lets you add event handler attributes, containing JavaScript code, to any element. Single or double quotes both work.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event handler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"document.getElementById('demo')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.innerHTML = 'Clicked';"&gt;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346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onclick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attribute is the event handler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value is JavaScript code that runs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button is clicked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code inside an attribute is hard to read, so next we will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a function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instead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CLICK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0" y="141732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96128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15000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33872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35040" y="14721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126480" y="14767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522976" y="1691640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60136" y="210312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660136" y="21031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Me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CLICK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0" y="29718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96128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715000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833872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035040" y="3026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126480" y="3031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5522976" y="3246120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1-3"/>
          <p:cNvSpPr txBox="1"/>
          <p:nvPr/>
        </p:nvSpPr>
        <p:spPr>
          <a:xfrm>
            <a:off x="5660136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Clicked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660136" y="365760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660136" y="3657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Me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0" y="4206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to "press" the button.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events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76072" y="1298448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79" y="1403055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12252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423160" y="12252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HTML element has been changed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82312" y="1298448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919" y="140305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12252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629400" y="12252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clicks an HTML element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1938528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76072" y="2048256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679" y="2152863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1975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onmouseover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2423160" y="197510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mouse moves over an element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663440" y="1938528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82312" y="2048256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919" y="2152863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19751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onmouseout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629400" y="197510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mouse moves away from an element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57200" y="2688336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576072" y="2798064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79" y="290267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97280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onkeydown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2423160" y="27249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pushes a keyboard key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663440" y="2688336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782312" y="2798064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919" y="2902671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03520" y="27249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onkeyup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6629400" y="27249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releases a keyboard key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57200" y="3438144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576072" y="3547872"/>
            <a:ext cx="402336" cy="402336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679" y="365247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97280" y="3474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onload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2423160" y="3474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has finished loading the page</a:t>
            </a:r>
            <a:endParaRPr lang="en-US" sz="1050" dirty="0"/>
          </a:p>
        </p:txBody>
      </p:sp>
      <p:sp>
        <p:nvSpPr>
          <p:cNvPr id="43" name="btn">
            <a:hlinkClick r:id="rId9"/>
          </p:cNvPr>
          <p:cNvSpPr/>
          <p:nvPr/>
        </p:nvSpPr>
        <p:spPr>
          <a:xfrm>
            <a:off x="4663440" y="352044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read: all DOM events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onmouseover and onmouseout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45720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onmouseover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"over()"</a:t>
            </a:r>
            <a:r>
              <a:rPr lang="en-US" sz="8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onmouseout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"out()"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 at me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"lightgrey"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events, two functions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function changes the </a:t>
            </a: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same element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with onclick, onkeyup, or onload too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188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AWAY (ONMOUSEOUT)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577840" y="141732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87568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06440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25312" y="15087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26480" y="14721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217920" y="14767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5614416" y="1691640"/>
            <a:ext cx="3035808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43016" y="1874520"/>
            <a:ext cx="2651760" cy="548640"/>
          </a:xfrm>
          <a:prstGeom prst="rect">
            <a:avLst/>
          </a:prstGeom>
          <a:solidFill>
            <a:srgbClr val="D3D3D3"/>
          </a:solidFill>
          <a:ln w="1270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934456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at me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2880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MOUSE OVER (ONMOUSEOVER)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7840" y="3108960"/>
            <a:ext cx="3108960" cy="1234440"/>
          </a:xfrm>
          <a:prstGeom prst="roundRect">
            <a:avLst>
              <a:gd name="adj" fmla="val 4444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687568" y="32004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806440" y="32004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925312" y="32004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126480" y="316382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6217920" y="31683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614416" y="3383280"/>
            <a:ext cx="3035808" cy="9235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1-4"/>
          <p:cNvSpPr/>
          <p:nvPr/>
        </p:nvSpPr>
        <p:spPr>
          <a:xfrm>
            <a:off x="5843016" y="3566160"/>
            <a:ext cx="2651760" cy="54864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nim-1-4"/>
          <p:cNvSpPr txBox="1"/>
          <p:nvPr/>
        </p:nvSpPr>
        <p:spPr>
          <a:xfrm>
            <a:off x="5934456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Point at me</a:t>
            </a:r>
            <a:endParaRPr lang="en-US" sz="1100" dirty="0"/>
          </a:p>
        </p:txBody>
      </p:sp>
      <p:pic>
        <p:nvPicPr>
          <p:cNvPr id="34" name="anim-1-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3840480"/>
            <a:ext cx="201168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event fires when the user releases a keyboard key?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onkeydown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onkeyup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onchange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onload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Functions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Blocks of code that do one task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 of code designed to perform a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particular task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 when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invokes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(calls) 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Defined with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keyword, a name, and parentheses ()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follow the variable rules: letters, digits, _ and $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function, parameters behave as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variables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3258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0" name="anim-1-5"/>
          <p:cNvSpPr/>
          <p:nvPr/>
        </p:nvSpPr>
        <p:spPr>
          <a:xfrm>
            <a:off x="4663440" y="1755648"/>
            <a:ext cx="914400" cy="914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1-5"/>
          <p:cNvSpPr txBox="1"/>
          <p:nvPr/>
        </p:nvSpPr>
        <p:spPr>
          <a:xfrm>
            <a:off x="4663440" y="1792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325880"/>
            <a:ext cx="1303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F6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myFunction</a:t>
            </a:r>
            <a:endParaRPr lang="en-US" sz="1500" dirty="0"/>
          </a:p>
        </p:txBody>
      </p:sp>
      <p:sp>
        <p:nvSpPr>
          <p:cNvPr id="13" name="anim-2-6"/>
          <p:cNvSpPr/>
          <p:nvPr/>
        </p:nvSpPr>
        <p:spPr>
          <a:xfrm>
            <a:off x="5692140" y="1755648"/>
            <a:ext cx="1143000" cy="914"/>
          </a:xfrm>
          <a:prstGeom prst="line">
            <a:avLst/>
          </a:prstGeom>
          <a:noFill/>
          <a:ln w="25400">
            <a:solidFill>
              <a:srgbClr val="2F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2-6"/>
          <p:cNvSpPr txBox="1"/>
          <p:nvPr/>
        </p:nvSpPr>
        <p:spPr>
          <a:xfrm>
            <a:off x="5692140" y="17922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35140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</a:t>
            </a:r>
            <a:endParaRPr lang="en-US" sz="1500" dirty="0"/>
          </a:p>
        </p:txBody>
      </p:sp>
      <p:sp>
        <p:nvSpPr>
          <p:cNvPr id="16" name="anim-3-7"/>
          <p:cNvSpPr/>
          <p:nvPr/>
        </p:nvSpPr>
        <p:spPr>
          <a:xfrm>
            <a:off x="6835140" y="1755648"/>
            <a:ext cx="685800" cy="914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3-7"/>
          <p:cNvSpPr txBox="1"/>
          <p:nvPr/>
        </p:nvSpPr>
        <p:spPr>
          <a:xfrm>
            <a:off x="6835140" y="17922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520940" y="13258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* b;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1" name="anim-4-8"/>
          <p:cNvSpPr/>
          <p:nvPr/>
        </p:nvSpPr>
        <p:spPr>
          <a:xfrm>
            <a:off x="6766560" y="2240280"/>
            <a:ext cx="320040" cy="914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anim-4-8"/>
          <p:cNvSpPr txBox="1"/>
          <p:nvPr/>
        </p:nvSpPr>
        <p:spPr>
          <a:xfrm>
            <a:off x="7132320" y="2121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body: the code that runs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4828032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FUNCTION IS INVOKED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4828032" y="3474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occurs, e.g. a button click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is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from JavaScript code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Automatically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if it is self-invoked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vs invocation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846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demoFunction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'demo'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'Clicked'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"demoFunction()"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Me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4" name="anim-1-9"/>
          <p:cNvSpPr/>
          <p:nvPr/>
        </p:nvSpPr>
        <p:spPr>
          <a:xfrm>
            <a:off x="5715000" y="1993392"/>
            <a:ext cx="914" cy="42062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1-9"/>
          <p:cNvSpPr txBox="1"/>
          <p:nvPr/>
        </p:nvSpPr>
        <p:spPr>
          <a:xfrm>
            <a:off x="5833872" y="2057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definition</a:t>
            </a:r>
            <a:endParaRPr lang="en-US" sz="1200" dirty="0"/>
          </a:p>
        </p:txBody>
      </p:sp>
      <p:sp>
        <p:nvSpPr>
          <p:cNvPr id="16" name="anim-2-10"/>
          <p:cNvSpPr/>
          <p:nvPr/>
        </p:nvSpPr>
        <p:spPr>
          <a:xfrm>
            <a:off x="5715000" y="3060192"/>
            <a:ext cx="914" cy="115824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10"/>
          <p:cNvSpPr txBox="1"/>
          <p:nvPr/>
        </p:nvSpPr>
        <p:spPr>
          <a:xfrm>
            <a:off x="5833872" y="29718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invocation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code in the onclick attribute is hard to read. A function keeps the HTML clean and the code reusable.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a value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 to send a value back to the caller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can be used like variables: in formulas, assignments, and calculations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operator invokes the function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23408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23408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23408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56946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2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2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2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240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x IS WORKED OUT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663440" y="25146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myFunction(4, 3) + 12</a:t>
            </a:r>
            <a:endParaRPr lang="en-US" sz="1300" dirty="0"/>
          </a:p>
        </p:txBody>
      </p:sp>
      <p:sp>
        <p:nvSpPr>
          <p:cNvPr id="17" name="anim-1-11"/>
          <p:cNvSpPr/>
          <p:nvPr/>
        </p:nvSpPr>
        <p:spPr>
          <a:xfrm>
            <a:off x="4663440" y="3063240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nim-1-11"/>
          <p:cNvSpPr txBox="1"/>
          <p:nvPr/>
        </p:nvSpPr>
        <p:spPr>
          <a:xfrm>
            <a:off x="4663440" y="3063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10 + 12 + 12</a:t>
            </a:r>
            <a:endParaRPr lang="en-US" sz="1300" dirty="0"/>
          </a:p>
        </p:txBody>
      </p:sp>
      <p:sp>
        <p:nvSpPr>
          <p:cNvPr id="19" name="anim-2-12"/>
          <p:cNvSpPr/>
          <p:nvPr/>
        </p:nvSpPr>
        <p:spPr>
          <a:xfrm>
            <a:off x="4663440" y="3611880"/>
            <a:ext cx="4023360" cy="438912"/>
          </a:xfrm>
          <a:prstGeom prst="roundRect">
            <a:avLst>
              <a:gd name="adj" fmla="val 10417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2-12"/>
          <p:cNvSpPr txBox="1"/>
          <p:nvPr/>
        </p:nvSpPr>
        <p:spPr>
          <a:xfrm>
            <a:off x="4663440" y="3611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34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5720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myFunction(4, 3)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377440" y="379476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12</a:t>
            </a: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calls it: the result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422452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5720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myFunction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377440" y="422452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ƒ myFunction(a, b) { ... }</a:t>
            </a: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no (): the function object itself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function myFunction(a, b) { return a * b; }, what is x = 10 + myFunction(4, 3) + 12?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up events to functions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mini calculator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157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1197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202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calculator.html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93776" y="1417320"/>
            <a:ext cx="3950208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59536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 Calculator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number: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093976" y="2176272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2139696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 number: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093976" y="2587752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139696" y="2587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9536" y="3063240"/>
            <a:ext cx="438912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59536" y="30632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408176" y="3063240"/>
            <a:ext cx="438912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408176" y="30632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56816" y="3063240"/>
            <a:ext cx="438912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1956816" y="30632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505456" y="3063240"/>
            <a:ext cx="438912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2505456" y="30632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9536" y="3566160"/>
            <a:ext cx="2651760" cy="457200"/>
          </a:xfrm>
          <a:prstGeom prst="rect">
            <a:avLst/>
          </a:prstGeom>
          <a:solidFill>
            <a:srgbClr val="F1ECFA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969264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16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754880" y="1143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5488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21208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 inputs, four buttons, one result area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54880" y="1975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212080" y="19019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add, subtract, multiply, divide(a, b)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each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754880" y="2505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212080" y="24323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button's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onclick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calls a helper that reads both inputs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75488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5212080" y="29626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inputs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Number()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before calculating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75488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212080" y="3493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result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innerHTML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4754880" y="4096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521208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dividing by zero, show "Cannot divide by 0"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code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30352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502920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"calc('+')"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&gt;&lt;/p&gt;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write subtract, multiply, divide here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7F8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the other operators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"Result: "</a:t>
            </a: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118872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3258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922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44768" y="169164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values are strings. "12" + "4" gives "124". Convert with Number() first, so you get 16.</a:t>
            </a:r>
            <a:endParaRPr lang="en-US" sz="1100" dirty="0"/>
          </a:p>
        </p:txBody>
      </p:sp>
      <p:sp>
        <p:nvSpPr>
          <p:cNvPr id="18" name="btn">
            <a:hlinkClick r:id="rId6"/>
          </p:cNvPr>
          <p:cNvSpPr/>
          <p:nvPr/>
        </p:nvSpPr>
        <p:spPr>
          <a:xfrm>
            <a:off x="5989320" y="347472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functions tutorial  →</a:t>
            </a:r>
            <a:endParaRPr lang="en-US" sz="1000" dirty="0"/>
          </a:p>
        </p:txBody>
      </p:sp>
      <p:sp>
        <p:nvSpPr>
          <p:cNvPr id="19" name="btn">
            <a:hlinkClick r:id="rId7"/>
          </p:cNvPr>
          <p:cNvSpPr/>
          <p:nvPr/>
        </p:nvSpPr>
        <p:spPr>
          <a:xfrm>
            <a:off x="5989320" y="39776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events tutorial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changer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box that reacts to the user. Use a separate function for every event.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54480"/>
            <a:ext cx="4023360" cy="3063240"/>
          </a:xfrm>
          <a:prstGeom prst="roundRect">
            <a:avLst>
              <a:gd name="adj" fmla="val 1791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1645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1645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" y="16459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05840" y="16093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97280" y="16139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colours.html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93776" y="1828800"/>
            <a:ext cx="3950208" cy="2752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9536" y="2103120"/>
            <a:ext cx="3200400" cy="1188720"/>
          </a:xfrm>
          <a:prstGeom prst="rect">
            <a:avLst/>
          </a:prstGeom>
          <a:solidFill>
            <a:srgbClr val="87CEEB"/>
          </a:solidFill>
          <a:ln w="12700">
            <a:solidFill>
              <a:srgbClr val="87C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50976" y="2103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Hover, click, or type a colour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9536" y="3520440"/>
            <a:ext cx="16459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05256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42616" y="3520440"/>
            <a:ext cx="731520" cy="256032"/>
          </a:xfrm>
          <a:prstGeom prst="roundRect">
            <a:avLst>
              <a:gd name="adj" fmla="val 10714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2642616" y="3520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18562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21208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onmouseover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the box turns orange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54880" y="23317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5212080" y="2258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onmouseout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the box goes back to sky blue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54880" y="28072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212080" y="27340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onclick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the box text shows the click count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754880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5212080" y="32095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onkeyup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on the input: the box takes the typed colour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754880" y="3758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212080" y="36850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Reset button restores everything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54880" y="4233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21208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both tasks to GitHub as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lab03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this lab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are things that happen to elements: clicks, key presses, page loads.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2803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2803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handler attribute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like onclick runs JavaScript when the event happens.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179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the code in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call it from the event: cleaner and reusable.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2803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2803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function =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keyword + name + (parameters) + { body }.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179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2179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sends a value back;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()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invokes the function.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2803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2803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4068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(), you get the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object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instead of its result.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Ballard and Moncur; Sams, 2010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Sams, 2007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Welling and Thomson; Addison-Wesley,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P. J. Deitel and H. M. Deitel; Prentice Hall,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Naramore et al.; Wiley, 2005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Harold and Means; O'Reilly, 2004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ONLINE: CLICK TO OPEN</a:t>
            </a:r>
            <a:endParaRPr lang="en-US" sz="850" dirty="0"/>
          </a:p>
        </p:txBody>
      </p:sp>
      <p:sp>
        <p:nvSpPr>
          <p:cNvPr id="14" name="btn">
            <a:hlinkClick r:id="rId6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Events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www.w3schools.com/js/js_events.asp</a:t>
            </a:r>
            <a:endParaRPr lang="en-US" sz="1200" dirty="0"/>
          </a:p>
        </p:txBody>
      </p:sp>
      <p:sp>
        <p:nvSpPr>
          <p:cNvPr id="15" name="btn">
            <a:hlinkClick r:id="rId7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event reference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www.w3schools.com/jsref/dom_obj_event.asp</a:t>
            </a:r>
            <a:endParaRPr lang="en-US" sz="1200" dirty="0"/>
          </a:p>
        </p:txBody>
      </p:sp>
      <p:sp>
        <p:nvSpPr>
          <p:cNvPr id="16" name="btn">
            <a:hlinkClick r:id="rId8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Functions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www.w3schools.com/js/js_functions.asp</a:t>
            </a:r>
            <a:endParaRPr lang="en-US" sz="1200" dirty="0"/>
          </a:p>
        </p:txBody>
      </p:sp>
      <p:sp>
        <p:nvSpPr>
          <p:cNvPr id="17" name="btn">
            <a:hlinkClick r:id="rId9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JavaScript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www.springboard.com/blog/history-of-javascript/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1821</Words>
  <Application>Microsoft Office PowerPoint</Application>
  <PresentationFormat>On-screen Show (16:9)</PresentationFormat>
  <Paragraphs>358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 — JavaScript Events and Functions</dc:title>
  <dc:subject>PptxGenJS Presentation</dc:subject>
  <dc:creator>Rifat Al Mamun Rudro</dc:creator>
  <cp:lastModifiedBy>RIFAT AL MAMUN RUDRO</cp:lastModifiedBy>
  <cp:revision>1</cp:revision>
  <dcterms:created xsi:type="dcterms:W3CDTF">2026-10-05T10:04:38Z</dcterms:created>
  <dcterms:modified xsi:type="dcterms:W3CDTF">2026-10-05T10:12:11Z</dcterms:modified>
</cp:coreProperties>
</file>