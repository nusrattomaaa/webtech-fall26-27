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FAT AL MAMUN RUDRO" userId="24b27b9a-aab3-4351-8aca-a88306e0f932" providerId="ADAL" clId="{DB9BBBDC-F455-4572-BF35-B25E0968203C}"/>
    <pc:docChg chg="delSld">
      <pc:chgData name="RIFAT AL MAMUN RUDRO" userId="24b27b9a-aab3-4351-8aca-a88306e0f932" providerId="ADAL" clId="{DB9BBBDC-F455-4572-BF35-B25E0968203C}" dt="2026-10-05T10:11:55.326" v="3" actId="47"/>
      <pc:docMkLst>
        <pc:docMk/>
      </pc:docMkLst>
      <pc:sldChg chg="del">
        <pc:chgData name="RIFAT AL MAMUN RUDRO" userId="24b27b9a-aab3-4351-8aca-a88306e0f932" providerId="ADAL" clId="{DB9BBBDC-F455-4572-BF35-B25E0968203C}" dt="2026-10-05T10:11:54.328" v="0" actId="47"/>
        <pc:sldMkLst>
          <pc:docMk/>
          <pc:sldMk cId="0" sldId="278"/>
        </pc:sldMkLst>
      </pc:sldChg>
      <pc:sldChg chg="del">
        <pc:chgData name="RIFAT AL MAMUN RUDRO" userId="24b27b9a-aab3-4351-8aca-a88306e0f932" providerId="ADAL" clId="{DB9BBBDC-F455-4572-BF35-B25E0968203C}" dt="2026-10-05T10:11:54.599" v="1" actId="47"/>
        <pc:sldMkLst>
          <pc:docMk/>
          <pc:sldMk cId="0" sldId="279"/>
        </pc:sldMkLst>
      </pc:sldChg>
      <pc:sldChg chg="del">
        <pc:chgData name="RIFAT AL MAMUN RUDRO" userId="24b27b9a-aab3-4351-8aca-a88306e0f932" providerId="ADAL" clId="{DB9BBBDC-F455-4572-BF35-B25E0968203C}" dt="2026-10-05T10:11:54.940" v="2" actId="47"/>
        <pc:sldMkLst>
          <pc:docMk/>
          <pc:sldMk cId="0" sldId="280"/>
        </pc:sldMkLst>
      </pc:sldChg>
      <pc:sldChg chg="del">
        <pc:chgData name="RIFAT AL MAMUN RUDRO" userId="24b27b9a-aab3-4351-8aca-a88306e0f932" providerId="ADAL" clId="{DB9BBBDC-F455-4572-BF35-B25E0968203C}" dt="2026-10-05T10:11:55.326" v="3" actId="47"/>
        <pc:sldMkLst>
          <pc:docMk/>
          <pc:sldMk cId="0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8577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slide" Target="slide18.xml"/><Relationship Id="rId3" Type="http://schemas.openxmlformats.org/officeDocument/2006/relationships/image" Target="../media/image1.png"/><Relationship Id="rId7" Type="http://schemas.openxmlformats.org/officeDocument/2006/relationships/slide" Target="slide7.xm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slide" Target="slide14.xml"/><Relationship Id="rId5" Type="http://schemas.openxmlformats.org/officeDocument/2006/relationships/slide" Target="slide3.xml"/><Relationship Id="rId10" Type="http://schemas.openxmlformats.org/officeDocument/2006/relationships/image" Target="../media/image4.png"/><Relationship Id="rId4" Type="http://schemas.openxmlformats.org/officeDocument/2006/relationships/slide" Target="slide2.xml"/><Relationship Id="rId9" Type="http://schemas.openxmlformats.org/officeDocument/2006/relationships/slide" Target="slide10.xml"/><Relationship Id="rId1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w3schools.com/css/css_border.asp" TargetMode="Externa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css/css_padding.asp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w3schools.com/css/css_margin.asp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css/css_border.asp" TargetMode="External"/><Relationship Id="rId5" Type="http://schemas.openxmlformats.org/officeDocument/2006/relationships/image" Target="../media/image8.png"/><Relationship Id="rId4" Type="http://schemas.openxmlformats.org/officeDocument/2006/relationships/slide" Target="slide2.xml"/><Relationship Id="rId9" Type="http://schemas.openxmlformats.org/officeDocument/2006/relationships/hyperlink" Target="https://www.w3schools.com/css/css_dimension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65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AMERICAN INTERNATIONAL UNIVERSITY-BANGLADESH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217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Computer Science  ·  Faculty of Science and Technology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57200" y="1417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SESSION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7373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CSS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423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02: borders, margins, padding, height and width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52160" y="146304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89320" y="156362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135624" y="156362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81928" y="156362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492240" y="15179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5989320" y="1792224"/>
            <a:ext cx="25603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1px solid black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20px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btn">
            <a:hlinkClick r:id="rId4" action="ppaction://hlinksldjump"/>
          </p:cNvPr>
          <p:cNvSpPr/>
          <p:nvPr/>
        </p:nvSpPr>
        <p:spPr>
          <a:xfrm>
            <a:off x="457200" y="324612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  Start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920240" y="3319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deck: run it in Slide Show mode and click the buttons.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8404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21792" y="3931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" y="41330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· Web Technologies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834640" y="384048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2999232" y="39319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2999232" y="413308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 02 · Week 04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0" y="384048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4736592" y="39319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SEMESTER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4736592" y="413308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2026-27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035040" y="38404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6199632" y="39319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LECTURER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6199632" y="41330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Rifat Al Mamun Rudro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mamun.rudro@aiub.edu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02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outline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241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 section to jump to it. The ⌂ Outline button on every slide brings you back here.</a:t>
            </a:r>
            <a:endParaRPr lang="en-US" sz="1000" dirty="0"/>
          </a:p>
        </p:txBody>
      </p:sp>
      <p:sp>
        <p:nvSpPr>
          <p:cNvPr id="9" name="btn">
            <a:hlinkClick r:id="rId5" action="ppaction://hlinksldjump"/>
          </p:cNvPr>
          <p:cNvSpPr/>
          <p:nvPr/>
        </p:nvSpPr>
        <p:spPr>
          <a:xfrm>
            <a:off x="457200" y="141732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Borders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Style, width, color, and shorthand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23160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6787" y="1705539"/>
            <a:ext cx="228234" cy="228234"/>
          </a:xfrm>
          <a:prstGeom prst="rect">
            <a:avLst/>
          </a:prstGeom>
        </p:spPr>
      </p:pic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3264408" y="141732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Margins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 outside the border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230368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995" y="1705539"/>
            <a:ext cx="228234" cy="228234"/>
          </a:xfrm>
          <a:prstGeom prst="rect">
            <a:avLst/>
          </a:prstGeom>
        </p:spPr>
      </p:pic>
      <p:sp>
        <p:nvSpPr>
          <p:cNvPr id="15" name="btn">
            <a:hlinkClick r:id="rId9" action="ppaction://hlinksldjump"/>
          </p:cNvPr>
          <p:cNvSpPr/>
          <p:nvPr/>
        </p:nvSpPr>
        <p:spPr>
          <a:xfrm>
            <a:off x="6071616" y="141732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 inside the border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037576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1203" y="1705539"/>
            <a:ext cx="228234" cy="228234"/>
          </a:xfrm>
          <a:prstGeom prst="rect">
            <a:avLst/>
          </a:prstGeom>
        </p:spPr>
      </p:pic>
      <p:sp>
        <p:nvSpPr>
          <p:cNvPr id="18" name="btn">
            <a:hlinkClick r:id="rId11" action="ppaction://hlinksldjump"/>
          </p:cNvPr>
          <p:cNvSpPr/>
          <p:nvPr/>
        </p:nvSpPr>
        <p:spPr>
          <a:xfrm>
            <a:off x="457200" y="306324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Height, Width, External CSS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Sizing elements, linking a stylesheet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2423160" y="322783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46787" y="3351459"/>
            <a:ext cx="228234" cy="228234"/>
          </a:xfrm>
          <a:prstGeom prst="rect">
            <a:avLst/>
          </a:prstGeom>
        </p:spPr>
      </p:pic>
      <p:sp>
        <p:nvSpPr>
          <p:cNvPr id="21" name="btn">
            <a:hlinkClick r:id="rId13" action="ppaction://hlinksldjump"/>
          </p:cNvPr>
          <p:cNvSpPr/>
          <p:nvPr/>
        </p:nvSpPr>
        <p:spPr>
          <a:xfrm>
            <a:off x="3264408" y="306324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1ECFA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Lab Tasks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profile card and a box-model challenge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5230368" y="3227832"/>
            <a:ext cx="475488" cy="47548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53995" y="3351459"/>
            <a:ext cx="228234" cy="22823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Borders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Lines around an element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00" dirty="0"/>
          </a:p>
        </p:txBody>
      </p:sp>
      <p:sp>
        <p:nvSpPr>
          <p:cNvPr id="10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border properties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border properties set the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width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and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 an element's border.</a:t>
            </a:r>
            <a:endParaRPr lang="en-US" sz="1300" dirty="0"/>
          </a:p>
        </p:txBody>
      </p:sp>
      <p:sp>
        <p:nvSpPr>
          <p:cNvPr id="9" name="anim-1-0"/>
          <p:cNvSpPr/>
          <p:nvPr/>
        </p:nvSpPr>
        <p:spPr>
          <a:xfrm>
            <a:off x="457200" y="1554480"/>
            <a:ext cx="262432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anim-1-0"/>
          <p:cNvSpPr txBox="1"/>
          <p:nvPr/>
        </p:nvSpPr>
        <p:spPr>
          <a:xfrm>
            <a:off x="621792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border-style</a:t>
            </a:r>
            <a:endParaRPr lang="en-US" sz="1300" dirty="0"/>
          </a:p>
        </p:txBody>
      </p:sp>
      <p:sp>
        <p:nvSpPr>
          <p:cNvPr id="11" name="anim-1-0"/>
          <p:cNvSpPr txBox="1"/>
          <p:nvPr/>
        </p:nvSpPr>
        <p:spPr>
          <a:xfrm>
            <a:off x="621792" y="1947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kind of border to display</a:t>
            </a:r>
            <a:endParaRPr lang="en-US" sz="1150" dirty="0"/>
          </a:p>
        </p:txBody>
      </p:sp>
      <p:sp>
        <p:nvSpPr>
          <p:cNvPr id="12" name="anim-1-0"/>
          <p:cNvSpPr txBox="1"/>
          <p:nvPr/>
        </p:nvSpPr>
        <p:spPr>
          <a:xfrm>
            <a:off x="621792" y="2359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solid, dotted, dashed...</a:t>
            </a:r>
            <a:endParaRPr lang="en-US" sz="1000" dirty="0"/>
          </a:p>
        </p:txBody>
      </p:sp>
      <p:sp>
        <p:nvSpPr>
          <p:cNvPr id="13" name="anim-2-1"/>
          <p:cNvSpPr/>
          <p:nvPr/>
        </p:nvSpPr>
        <p:spPr>
          <a:xfrm>
            <a:off x="3264408" y="1554480"/>
            <a:ext cx="262432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anim-2-1"/>
          <p:cNvSpPr txBox="1"/>
          <p:nvPr/>
        </p:nvSpPr>
        <p:spPr>
          <a:xfrm>
            <a:off x="342900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border-width</a:t>
            </a:r>
            <a:endParaRPr lang="en-US" sz="1300" dirty="0"/>
          </a:p>
        </p:txBody>
      </p:sp>
      <p:sp>
        <p:nvSpPr>
          <p:cNvPr id="15" name="anim-2-1"/>
          <p:cNvSpPr txBox="1"/>
          <p:nvPr/>
        </p:nvSpPr>
        <p:spPr>
          <a:xfrm>
            <a:off x="3429000" y="1947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width of the four borders</a:t>
            </a:r>
            <a:endParaRPr lang="en-US" sz="1150" dirty="0"/>
          </a:p>
        </p:txBody>
      </p:sp>
      <p:sp>
        <p:nvSpPr>
          <p:cNvPr id="16" name="anim-2-1"/>
          <p:cNvSpPr txBox="1"/>
          <p:nvPr/>
        </p:nvSpPr>
        <p:spPr>
          <a:xfrm>
            <a:off x="3429000" y="2359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5px, thin, medium, thick</a:t>
            </a:r>
            <a:endParaRPr lang="en-US" sz="1000" dirty="0"/>
          </a:p>
        </p:txBody>
      </p:sp>
      <p:sp>
        <p:nvSpPr>
          <p:cNvPr id="17" name="anim-3-2"/>
          <p:cNvSpPr/>
          <p:nvPr/>
        </p:nvSpPr>
        <p:spPr>
          <a:xfrm>
            <a:off x="6071616" y="1554480"/>
            <a:ext cx="262432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anim-3-2"/>
          <p:cNvSpPr txBox="1"/>
          <p:nvPr/>
        </p:nvSpPr>
        <p:spPr>
          <a:xfrm>
            <a:off x="6236208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border-color</a:t>
            </a:r>
            <a:endParaRPr lang="en-US" sz="1300" dirty="0"/>
          </a:p>
        </p:txBody>
      </p:sp>
      <p:sp>
        <p:nvSpPr>
          <p:cNvPr id="19" name="anim-3-2"/>
          <p:cNvSpPr txBox="1"/>
          <p:nvPr/>
        </p:nvSpPr>
        <p:spPr>
          <a:xfrm>
            <a:off x="6236208" y="1947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color of the four borders</a:t>
            </a:r>
            <a:endParaRPr lang="en-US" sz="1150" dirty="0"/>
          </a:p>
        </p:txBody>
      </p:sp>
      <p:sp>
        <p:nvSpPr>
          <p:cNvPr id="20" name="anim-3-2"/>
          <p:cNvSpPr txBox="1"/>
          <p:nvPr/>
        </p:nvSpPr>
        <p:spPr>
          <a:xfrm>
            <a:off x="6236208" y="2359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red, #ff0000, rgb(255,0,0)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2926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BORDER-STYLE VALUES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3200400"/>
            <a:ext cx="1517904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457200" y="320040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139696" y="3200400"/>
            <a:ext cx="1517904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1F3B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2139696" y="320040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dotted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822192" y="3200400"/>
            <a:ext cx="1517904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1F3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3822192" y="320040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dashed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504688" y="3200400"/>
            <a:ext cx="1517904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559552" y="3255264"/>
            <a:ext cx="1408176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5504688" y="320040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187184" y="3200400"/>
            <a:ext cx="1517904" cy="64008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7187184" y="320040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3977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available: groove, ridge, inset, outset, and hidden.</a:t>
            </a:r>
            <a:endParaRPr lang="en-US" sz="1000" dirty="0"/>
          </a:p>
        </p:txBody>
      </p:sp>
      <p:sp>
        <p:nvSpPr>
          <p:cNvPr id="34" name="btn">
            <a:hlinkClick r:id="rId5"/>
          </p:cNvPr>
          <p:cNvSpPr/>
          <p:nvPr/>
        </p:nvSpPr>
        <p:spPr>
          <a:xfrm>
            <a:off x="457200" y="429768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borders tutorial  →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three paragraph borders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3840480" cy="3429000"/>
          </a:xfrm>
          <a:prstGeom prst="roundRect">
            <a:avLst>
              <a:gd name="adj" fmla="val 21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124358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1517904"/>
            <a:ext cx="356616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p.one 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border-style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solid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border-color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red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p.two 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border-style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solid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border-color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green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p.three 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border-style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dotted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border-color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blue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0" y="1188720"/>
            <a:ext cx="4114800" cy="3429000"/>
          </a:xfrm>
          <a:prstGeom prst="roundRect">
            <a:avLst>
              <a:gd name="adj" fmla="val 1600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81728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00600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919472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120640" y="12435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212080" y="12481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4608576" y="1463040"/>
            <a:ext cx="4041648" cy="31181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4572000" y="9692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791456" y="1737360"/>
            <a:ext cx="3675888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4882896" y="1737360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solid red border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791456" y="2606040"/>
            <a:ext cx="3675888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4882896" y="2606040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solid green border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791456" y="3474720"/>
            <a:ext cx="3675888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FF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882896" y="3474720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dotted blue border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border shorthand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all border properties in one line.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shorthand for border-width,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border-style (required)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and border-color.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2727960" y="1691640"/>
            <a:ext cx="121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border: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901440" y="1691640"/>
            <a:ext cx="71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5px</a:t>
            </a:r>
            <a:endParaRPr lang="en-US" sz="2200" dirty="0"/>
          </a:p>
        </p:txBody>
      </p:sp>
      <p:sp>
        <p:nvSpPr>
          <p:cNvPr id="11" name="anim-1-6"/>
          <p:cNvSpPr txBox="1"/>
          <p:nvPr/>
        </p:nvSpPr>
        <p:spPr>
          <a:xfrm>
            <a:off x="4069080" y="21945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width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16916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solid</a:t>
            </a:r>
            <a:endParaRPr lang="en-US" sz="2200" dirty="0"/>
          </a:p>
        </p:txBody>
      </p:sp>
      <p:sp>
        <p:nvSpPr>
          <p:cNvPr id="13" name="anim-2-7"/>
          <p:cNvSpPr txBox="1"/>
          <p:nvPr/>
        </p:nvSpPr>
        <p:spPr>
          <a:xfrm>
            <a:off x="4739640" y="219456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1691640"/>
            <a:ext cx="71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red</a:t>
            </a:r>
            <a:endParaRPr lang="en-US" sz="2200" dirty="0"/>
          </a:p>
        </p:txBody>
      </p:sp>
      <p:sp>
        <p:nvSpPr>
          <p:cNvPr id="15" name="anim-3-8"/>
          <p:cNvSpPr txBox="1"/>
          <p:nvPr/>
        </p:nvSpPr>
        <p:spPr>
          <a:xfrm>
            <a:off x="5745480" y="21945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248400" y="1691640"/>
            <a:ext cx="21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457200" y="260604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94360" y="270662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40664" y="270662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86968" y="270662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594360" y="293522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5px solid red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3886200"/>
            <a:ext cx="3611880" cy="548640"/>
          </a:xfrm>
          <a:prstGeom prst="rect">
            <a:avLst/>
          </a:prstGeom>
          <a:solidFill>
            <a:srgbClr val="FFFFFF"/>
          </a:solidFill>
          <a:ln w="508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31520" y="38862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paragraph has a 5px solid red border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709160" y="260604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846320" y="270662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992624" y="270662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138928" y="270662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4846320" y="293522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border-left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6px solid red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lightgrey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892040" y="3886200"/>
            <a:ext cx="3611880" cy="548640"/>
          </a:xfrm>
          <a:prstGeom prst="rect">
            <a:avLst/>
          </a:prstGeom>
          <a:solidFill>
            <a:srgbClr val="D3D3D3"/>
          </a:solidFill>
          <a:ln w="1270">
            <a:solidFill>
              <a:srgbClr val="D3D3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892040" y="3886200"/>
            <a:ext cx="73152" cy="54864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5056632" y="38862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the left border is styled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Margins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 outside the border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800" dirty="0"/>
          </a:p>
        </p:txBody>
      </p:sp>
      <p:sp>
        <p:nvSpPr>
          <p:cNvPr id="10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margins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Margins create space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around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 element,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outside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any border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side has its own property: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margin-top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margin-right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margin-bottom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margin-left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011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7200" y="2267712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2677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22677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browser calculates the margin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2816352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57200" y="28163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28163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margin in px, pt, cm, etc.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3364992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457200" y="33649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508760" y="33649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of the width of the containing element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3913632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57200" y="39136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inherit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508760" y="39136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inherited from the parent element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2011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SHORTHAND: CLOCKWISE FROM THE TOP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846320" y="2267712"/>
            <a:ext cx="3840480" cy="457200"/>
          </a:xfrm>
          <a:prstGeom prst="roundRect">
            <a:avLst>
              <a:gd name="adj" fmla="val 10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4846320" y="22677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margin: 10px 20px 30px 40px;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217920" y="3291840"/>
            <a:ext cx="1097280" cy="640080"/>
          </a:xfrm>
          <a:prstGeom prst="rect">
            <a:avLst/>
          </a:prstGeom>
          <a:solidFill>
            <a:srgbClr val="E3D9F4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6217920" y="3291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</a:t>
            </a:r>
            <a:endParaRPr lang="en-US" sz="1000" dirty="0"/>
          </a:p>
        </p:txBody>
      </p:sp>
      <p:sp>
        <p:nvSpPr>
          <p:cNvPr id="27" name="anim-1-9"/>
          <p:cNvSpPr txBox="1"/>
          <p:nvPr/>
        </p:nvSpPr>
        <p:spPr>
          <a:xfrm>
            <a:off x="6217920" y="2990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top 10px</a:t>
            </a:r>
            <a:endParaRPr lang="en-US" sz="1000" dirty="0"/>
          </a:p>
        </p:txBody>
      </p:sp>
      <p:sp>
        <p:nvSpPr>
          <p:cNvPr id="28" name="anim-2-10"/>
          <p:cNvSpPr txBox="1"/>
          <p:nvPr/>
        </p:nvSpPr>
        <p:spPr>
          <a:xfrm>
            <a:off x="7388352" y="35021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right 20px</a:t>
            </a:r>
            <a:endParaRPr lang="en-US" sz="1000" dirty="0"/>
          </a:p>
        </p:txBody>
      </p:sp>
      <p:sp>
        <p:nvSpPr>
          <p:cNvPr id="29" name="anim-3-11"/>
          <p:cNvSpPr txBox="1"/>
          <p:nvPr/>
        </p:nvSpPr>
        <p:spPr>
          <a:xfrm>
            <a:off x="6217920" y="39959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bottom 30px</a:t>
            </a:r>
            <a:endParaRPr lang="en-US" sz="1000" dirty="0"/>
          </a:p>
        </p:txBody>
      </p:sp>
      <p:sp>
        <p:nvSpPr>
          <p:cNvPr id="30" name="anim-4-12"/>
          <p:cNvSpPr txBox="1"/>
          <p:nvPr/>
        </p:nvSpPr>
        <p:spPr>
          <a:xfrm>
            <a:off x="5138928" y="35021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left 40px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margins on a div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124358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1517904"/>
            <a:ext cx="33832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1px solid black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margin-top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50px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margin-bottom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100px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margin-right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150px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margin-left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80px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lightblue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520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Scaled drawing: the dashed area is the margin. Nothing is drawn there; it simply pushes other content away.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89120" y="1188720"/>
            <a:ext cx="4297680" cy="3429000"/>
          </a:xfrm>
          <a:prstGeom prst="roundRect">
            <a:avLst>
              <a:gd name="adj" fmla="val 1600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498848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617720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36592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937760" y="12435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029200" y="12481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4425696" y="1463040"/>
            <a:ext cx="4224528" cy="31181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517136" y="1554480"/>
            <a:ext cx="4041648" cy="2423160"/>
          </a:xfrm>
          <a:prstGeom prst="rect">
            <a:avLst/>
          </a:prstGeom>
          <a:solidFill>
            <a:srgbClr val="FFF4E0"/>
          </a:solidFill>
          <a:ln w="12700">
            <a:solidFill>
              <a:srgbClr val="E0A52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394960" y="2103120"/>
            <a:ext cx="1517904" cy="502920"/>
          </a:xfrm>
          <a:prstGeom prst="rect">
            <a:avLst/>
          </a:prstGeom>
          <a:solidFill>
            <a:srgbClr val="ADD8E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5468112" y="21031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div has margins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394960" y="170992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50px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4517136" y="224028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80px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912864" y="2240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150px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5394960" y="301752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100px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4608576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next element starts here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Padding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 inside the border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800" dirty="0"/>
          </a:p>
        </p:txBody>
      </p:sp>
      <p:sp>
        <p:nvSpPr>
          <p:cNvPr id="10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padding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 creates space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around an element's content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the border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side has its own property: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padding-top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padding-right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padding-bottom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padding-left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Values: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(px, pt, cm),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 the containing element's width, or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 cannot be negative, and it takes the element's background color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0" y="1280160"/>
            <a:ext cx="3657600" cy="3108960"/>
          </a:xfrm>
          <a:prstGeom prst="rect">
            <a:avLst/>
          </a:prstGeom>
          <a:solidFill>
            <a:srgbClr val="F4F4F8"/>
          </a:solidFill>
          <a:ln w="12700">
            <a:solidFill>
              <a:srgbClr val="9AA0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0292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(outside)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49240" y="1600200"/>
            <a:ext cx="3017520" cy="2468880"/>
          </a:xfrm>
          <a:prstGeom prst="rect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349240" y="16276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</a:t>
            </a:r>
            <a:endParaRPr lang="en-US" sz="1000" dirty="0"/>
          </a:p>
        </p:txBody>
      </p:sp>
      <p:sp>
        <p:nvSpPr>
          <p:cNvPr id="13" name="anim-1-13"/>
          <p:cNvSpPr/>
          <p:nvPr/>
        </p:nvSpPr>
        <p:spPr>
          <a:xfrm>
            <a:off x="5623560" y="1874520"/>
            <a:ext cx="2468880" cy="1920240"/>
          </a:xfrm>
          <a:prstGeom prst="rect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nim-1-13"/>
          <p:cNvSpPr txBox="1"/>
          <p:nvPr/>
        </p:nvSpPr>
        <p:spPr>
          <a:xfrm>
            <a:off x="5623560" y="19019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 (inside)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2286000"/>
            <a:ext cx="1645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0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035040" y="22860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padding on a div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124358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1517904"/>
            <a:ext cx="33832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1px solid black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lightblue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padding-top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50px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padding-right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30px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padding-bottom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50px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padding-left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80px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520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Scaled drawing: the background color fills the padding too. The dashed line marks where the content sits.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89120" y="1188720"/>
            <a:ext cx="4297680" cy="3429000"/>
          </a:xfrm>
          <a:prstGeom prst="roundRect">
            <a:avLst>
              <a:gd name="adj" fmla="val 1600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498848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617720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36592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937760" y="12435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029200" y="12481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4425696" y="1463040"/>
            <a:ext cx="4224528" cy="31181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608576" y="1691640"/>
            <a:ext cx="3858768" cy="1508760"/>
          </a:xfrm>
          <a:prstGeom prst="rect">
            <a:avLst/>
          </a:prstGeom>
          <a:solidFill>
            <a:srgbClr val="ADD8E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486400" y="2240280"/>
            <a:ext cx="2651760" cy="411480"/>
          </a:xfrm>
          <a:prstGeom prst="rect">
            <a:avLst/>
          </a:prstGeom>
          <a:solidFill>
            <a:srgbClr val="ADD8E6"/>
          </a:solidFill>
          <a:ln w="12700">
            <a:solidFill>
              <a:srgbClr val="1F4E7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5559552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div has padding</a:t>
            </a:r>
            <a:endParaRPr lang="en-US" sz="1000" dirty="0"/>
          </a:p>
        </p:txBody>
      </p:sp>
      <p:sp>
        <p:nvSpPr>
          <p:cNvPr id="25" name="anim-1-14"/>
          <p:cNvSpPr txBox="1"/>
          <p:nvPr/>
        </p:nvSpPr>
        <p:spPr>
          <a:xfrm>
            <a:off x="5486400" y="18562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50px</a:t>
            </a:r>
            <a:endParaRPr lang="en-US" sz="900" dirty="0"/>
          </a:p>
        </p:txBody>
      </p:sp>
      <p:sp>
        <p:nvSpPr>
          <p:cNvPr id="26" name="anim-2-15"/>
          <p:cNvSpPr txBox="1"/>
          <p:nvPr/>
        </p:nvSpPr>
        <p:spPr>
          <a:xfrm>
            <a:off x="7772400" y="20116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30px</a:t>
            </a:r>
            <a:endParaRPr lang="en-US" sz="900" dirty="0"/>
          </a:p>
        </p:txBody>
      </p:sp>
      <p:sp>
        <p:nvSpPr>
          <p:cNvPr id="27" name="anim-3-16"/>
          <p:cNvSpPr txBox="1"/>
          <p:nvPr/>
        </p:nvSpPr>
        <p:spPr>
          <a:xfrm>
            <a:off x="5486400" y="28072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50px</a:t>
            </a:r>
            <a:endParaRPr lang="en-US" sz="900" dirty="0"/>
          </a:p>
        </p:txBody>
      </p:sp>
      <p:sp>
        <p:nvSpPr>
          <p:cNvPr id="28" name="anim-4-17"/>
          <p:cNvSpPr txBox="1"/>
          <p:nvPr/>
        </p:nvSpPr>
        <p:spPr>
          <a:xfrm>
            <a:off x="4608576" y="235000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80px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 · QUIZ 1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" y="7095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502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margin: 10px 20px; sets which sides to 20px?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1389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an answer to check it.</a:t>
            </a:r>
            <a:endParaRPr lang="en-US" sz="1000" dirty="0"/>
          </a:p>
        </p:txBody>
      </p:sp>
      <p:sp>
        <p:nvSpPr>
          <p:cNvPr id="11" name="btn">
            <a:hlinkClick r:id="" action="ppaction://noaction"/>
          </p:cNvPr>
          <p:cNvSpPr/>
          <p:nvPr/>
        </p:nvSpPr>
        <p:spPr>
          <a:xfrm>
            <a:off x="45720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and bottom</a:t>
            </a:r>
            <a:endParaRPr lang="en-US" sz="1400" dirty="0"/>
          </a:p>
        </p:txBody>
      </p:sp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65836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btn">
            <a:hlinkClick r:id="" action="ppaction://noaction"/>
          </p:cNvPr>
          <p:cNvSpPr/>
          <p:nvPr/>
        </p:nvSpPr>
        <p:spPr>
          <a:xfrm>
            <a:off x="466344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and right</a:t>
            </a:r>
            <a:endParaRPr lang="en-US" sz="1400" dirty="0"/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86460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45720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top</a:t>
            </a:r>
            <a:endParaRPr lang="en-US" sz="1400" dirty="0"/>
          </a:p>
        </p:txBody>
      </p:sp>
      <p:sp>
        <p:nvSpPr>
          <p:cNvPr id="16" name="btn">
            <a:hlinkClick r:id="" action="ppaction://noaction"/>
          </p:cNvPr>
          <p:cNvSpPr/>
          <p:nvPr/>
        </p:nvSpPr>
        <p:spPr>
          <a:xfrm>
            <a:off x="65836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btn">
            <a:hlinkClick r:id="" action="ppaction://noaction"/>
          </p:cNvPr>
          <p:cNvSpPr/>
          <p:nvPr/>
        </p:nvSpPr>
        <p:spPr>
          <a:xfrm>
            <a:off x="466344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four sides</a:t>
            </a:r>
            <a:endParaRPr lang="en-US" sz="1400" dirty="0"/>
          </a:p>
        </p:txBody>
      </p:sp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86460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Height, Width, and External CSS</a:t>
            </a:r>
            <a:endParaRPr lang="en-US" sz="2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Sizing elements and linking a stylesheet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800" dirty="0"/>
          </a:p>
        </p:txBody>
      </p:sp>
      <p:sp>
        <p:nvSpPr>
          <p:cNvPr id="10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 AND WIDTH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height and width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430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width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set the size of an element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include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padding, borders, or margins: they size the content area inside them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57200" y="22860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481328" y="22860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default: the browser calculates it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74320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57200" y="27432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481328" y="27432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px, cm, etc.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20040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57200" y="32004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481328" y="32004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 of the containing block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65760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457200" y="36576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481328" y="36576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to the default value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411480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57200" y="41148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inherit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1481328" y="41148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taken from the parent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846320" y="118872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98348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12978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27608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4983480" y="1517904"/>
            <a:ext cx="35661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</a:t>
            </a:r>
            <a:r>
              <a:rPr lang="en-US" sz="11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</a:t>
            </a:r>
            <a:r>
              <a:rPr lang="en-US" sz="11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200px</a:t>
            </a:r>
            <a:r>
              <a:rPr lang="en-US" sz="11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</a:t>
            </a:r>
            <a:r>
              <a:rPr lang="en-US" sz="11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50%</a:t>
            </a:r>
            <a:r>
              <a:rPr lang="en-US" sz="11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</a:t>
            </a:r>
            <a:r>
              <a:rPr lang="en-US" sz="11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powderblue</a:t>
            </a:r>
            <a:r>
              <a:rPr lang="en-US" sz="11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846320" y="2651760"/>
            <a:ext cx="3840480" cy="1965960"/>
          </a:xfrm>
          <a:prstGeom prst="roundRect">
            <a:avLst>
              <a:gd name="adj" fmla="val 2791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956048" y="274320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074920" y="274320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193792" y="274320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394960" y="270662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5486400" y="27111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4882896" y="2926080"/>
            <a:ext cx="3767328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anim-1-18"/>
          <p:cNvSpPr/>
          <p:nvPr/>
        </p:nvSpPr>
        <p:spPr>
          <a:xfrm>
            <a:off x="4974336" y="3035808"/>
            <a:ext cx="1792224" cy="1234440"/>
          </a:xfrm>
          <a:prstGeom prst="rect">
            <a:avLst/>
          </a:prstGeom>
          <a:solidFill>
            <a:srgbClr val="B0E0E6"/>
          </a:solidFill>
          <a:ln w="12700">
            <a:solidFill>
              <a:srgbClr val="B0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anim-1-18"/>
          <p:cNvSpPr txBox="1"/>
          <p:nvPr/>
        </p:nvSpPr>
        <p:spPr>
          <a:xfrm>
            <a:off x="5065776" y="3035808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height: 200px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width: 50%</a:t>
            </a:r>
            <a:endParaRPr lang="en-US" sz="1000" dirty="0"/>
          </a:p>
        </p:txBody>
      </p:sp>
      <p:sp>
        <p:nvSpPr>
          <p:cNvPr id="38" name="anim-1-18"/>
          <p:cNvSpPr/>
          <p:nvPr/>
        </p:nvSpPr>
        <p:spPr>
          <a:xfrm>
            <a:off x="4974336" y="4343400"/>
            <a:ext cx="1792224" cy="914"/>
          </a:xfrm>
          <a:prstGeom prst="line">
            <a:avLst/>
          </a:prstGeom>
          <a:noFill/>
          <a:ln w="15875">
            <a:solidFill>
              <a:srgbClr val="66339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anim-1-18"/>
          <p:cNvSpPr txBox="1"/>
          <p:nvPr/>
        </p:nvSpPr>
        <p:spPr>
          <a:xfrm>
            <a:off x="4974336" y="4361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 of the page width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CSS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the styles in a separate file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external style sheet is written in a file with a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.css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extension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.css file must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contain any HTML tags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it from the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 every page that should use it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4206240" cy="2331720"/>
          </a:xfrm>
          <a:prstGeom prst="roundRect">
            <a:avLst>
              <a:gd name="adj" fmla="val 313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238658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238658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238658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97280" y="234086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2615184"/>
            <a:ext cx="393192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"stylesheet"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"mystyle.css"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a heading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3246120"/>
            <a:ext cx="411480" cy="365760"/>
          </a:xfrm>
          <a:prstGeom prst="rightArrow">
            <a:avLst/>
          </a:prstGeom>
          <a:solidFill>
            <a:srgbClr val="8E6CC8"/>
          </a:solidFill>
          <a:ln w="12700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349240" y="2286000"/>
            <a:ext cx="3337560" cy="2331720"/>
          </a:xfrm>
          <a:prstGeom prst="roundRect">
            <a:avLst>
              <a:gd name="adj" fmla="val 313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486400" y="238658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632704" y="238658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79008" y="238658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989320" y="23408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mystyle.css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0" y="2615184"/>
            <a:ext cx="30632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lightblue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navy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margin-left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20px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 · QUIZ 2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" y="7095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502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space sits inside the border and takes the element's background color?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1389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an answer to check it.</a:t>
            </a:r>
            <a:endParaRPr lang="en-US" sz="1000" dirty="0"/>
          </a:p>
        </p:txBody>
      </p:sp>
      <p:sp>
        <p:nvSpPr>
          <p:cNvPr id="11" name="btn">
            <a:hlinkClick r:id="" action="ppaction://noaction"/>
          </p:cNvPr>
          <p:cNvSpPr/>
          <p:nvPr/>
        </p:nvSpPr>
        <p:spPr>
          <a:xfrm>
            <a:off x="45720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</a:t>
            </a:r>
            <a:endParaRPr lang="en-US" sz="1400" dirty="0"/>
          </a:p>
        </p:txBody>
      </p:sp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65836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btn">
            <a:hlinkClick r:id="" action="ppaction://noaction"/>
          </p:cNvPr>
          <p:cNvSpPr/>
          <p:nvPr/>
        </p:nvSpPr>
        <p:spPr>
          <a:xfrm>
            <a:off x="466344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</a:t>
            </a:r>
            <a:endParaRPr lang="en-US" sz="1400" dirty="0"/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86460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45720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Width</a:t>
            </a:r>
            <a:endParaRPr lang="en-US" sz="1400" dirty="0"/>
          </a:p>
        </p:txBody>
      </p:sp>
      <p:sp>
        <p:nvSpPr>
          <p:cNvPr id="16" name="btn">
            <a:hlinkClick r:id="" action="ppaction://noaction"/>
          </p:cNvPr>
          <p:cNvSpPr/>
          <p:nvPr/>
        </p:nvSpPr>
        <p:spPr>
          <a:xfrm>
            <a:off x="65836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btn">
            <a:hlinkClick r:id="" action="ppaction://noaction"/>
          </p:cNvPr>
          <p:cNvSpPr/>
          <p:nvPr/>
        </p:nvSpPr>
        <p:spPr>
          <a:xfrm>
            <a:off x="466344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1400" dirty="0"/>
          </a:p>
        </p:txBody>
      </p:sp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86460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05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Lab Tasks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it, measure it, push it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800" dirty="0"/>
          </a:p>
        </p:txBody>
      </p:sp>
      <p:sp>
        <p:nvSpPr>
          <p:cNvPr id="10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TASK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a profile card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4206240" cy="3474720"/>
          </a:xfrm>
          <a:prstGeom prst="roundRect">
            <a:avLst>
              <a:gd name="adj" fmla="val 1579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66928" y="12344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85800" y="12344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04672" y="12344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05840" y="119786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97280" y="120243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card.html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493776" y="1417320"/>
            <a:ext cx="4133088" cy="3163824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79576" y="1737360"/>
            <a:ext cx="283464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6A5A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79576" y="1737360"/>
            <a:ext cx="64008" cy="2651760"/>
          </a:xfrm>
          <a:prstGeom prst="rect">
            <a:avLst/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231136" y="1965960"/>
            <a:ext cx="731520" cy="731520"/>
          </a:xfrm>
          <a:prstGeom prst="ellipse">
            <a:avLst/>
          </a:prstGeom>
          <a:solidFill>
            <a:srgbClr val="E3D9F4"/>
          </a:solidFill>
          <a:ln w="12700">
            <a:solidFill>
              <a:srgbClr val="6A5A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1179576" y="2788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179576" y="3108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Student, AIUB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453896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enjoy building web pages and learning CSS.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002536" y="3950208"/>
            <a:ext cx="1188720" cy="274320"/>
          </a:xfrm>
          <a:prstGeom prst="rect">
            <a:avLst/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2002536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me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4937760" y="1143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937760" y="14447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539496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all CSS in an external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card.css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937760" y="19751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539496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width: 300px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centred with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margin: 40px auto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937760" y="25054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394960" y="24323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2px solid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border plus a thicker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border-left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937760" y="3035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5394960" y="29626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padding: 20px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inside the card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937760" y="35661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5394960" y="34930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round photo: equal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width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937760" y="40965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539496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button with its own padding and background color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TASK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Box-model challenge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out the total width each box takes on the page. Total = width + left/right padding + left/right border + left/right margin.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737360"/>
            <a:ext cx="2624328" cy="1645920"/>
          </a:xfrm>
          <a:prstGeom prst="roundRect">
            <a:avLst>
              <a:gd name="adj" fmla="val 444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18379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18379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18379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94360" y="2066544"/>
            <a:ext cx="23500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div.a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300px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20px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5px solid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474720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answer?</a:t>
            </a:r>
            <a:endParaRPr lang="en-US" sz="1050" dirty="0"/>
          </a:p>
        </p:txBody>
      </p:sp>
      <p:sp>
        <p:nvSpPr>
          <p:cNvPr id="15" name="anim-1-19"/>
          <p:cNvSpPr/>
          <p:nvPr/>
        </p:nvSpPr>
        <p:spPr>
          <a:xfrm>
            <a:off x="457200" y="3749040"/>
            <a:ext cx="2624328" cy="822960"/>
          </a:xfrm>
          <a:prstGeom prst="roundRect">
            <a:avLst>
              <a:gd name="adj" fmla="val 8889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nim-1-19"/>
          <p:cNvSpPr txBox="1"/>
          <p:nvPr/>
        </p:nvSpPr>
        <p:spPr>
          <a:xfrm>
            <a:off x="566928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 + 40 + 10 + 20</a:t>
            </a:r>
            <a:endParaRPr lang="en-US" sz="1100" dirty="0"/>
          </a:p>
        </p:txBody>
      </p:sp>
      <p:sp>
        <p:nvSpPr>
          <p:cNvPr id="17" name="anim-1-19"/>
          <p:cNvSpPr txBox="1"/>
          <p:nvPr/>
        </p:nvSpPr>
        <p:spPr>
          <a:xfrm>
            <a:off x="566928" y="4114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370px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3264408" y="1737360"/>
            <a:ext cx="2624328" cy="1645920"/>
          </a:xfrm>
          <a:prstGeom prst="roundRect">
            <a:avLst>
              <a:gd name="adj" fmla="val 444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401568" y="18379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547872" y="18379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694176" y="18379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3401568" y="2066544"/>
            <a:ext cx="23500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div.b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250px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 30px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2px solid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3264408" y="3474720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answer?</a:t>
            </a:r>
            <a:endParaRPr lang="en-US" sz="1050" dirty="0"/>
          </a:p>
        </p:txBody>
      </p:sp>
      <p:sp>
        <p:nvSpPr>
          <p:cNvPr id="24" name="anim-2-20"/>
          <p:cNvSpPr/>
          <p:nvPr/>
        </p:nvSpPr>
        <p:spPr>
          <a:xfrm>
            <a:off x="3264408" y="3749040"/>
            <a:ext cx="2624328" cy="822960"/>
          </a:xfrm>
          <a:prstGeom prst="roundRect">
            <a:avLst>
              <a:gd name="adj" fmla="val 8889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nim-2-20"/>
          <p:cNvSpPr txBox="1"/>
          <p:nvPr/>
        </p:nvSpPr>
        <p:spPr>
          <a:xfrm>
            <a:off x="3374136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 + 60 + 4 + 0</a:t>
            </a:r>
            <a:endParaRPr lang="en-US" sz="1100" dirty="0"/>
          </a:p>
        </p:txBody>
      </p:sp>
      <p:sp>
        <p:nvSpPr>
          <p:cNvPr id="26" name="anim-2-20"/>
          <p:cNvSpPr txBox="1"/>
          <p:nvPr/>
        </p:nvSpPr>
        <p:spPr>
          <a:xfrm>
            <a:off x="3374136" y="4114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314px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6071616" y="1737360"/>
            <a:ext cx="2624328" cy="1645920"/>
          </a:xfrm>
          <a:prstGeom prst="roundRect">
            <a:avLst>
              <a:gd name="adj" fmla="val 444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208776" y="18379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355080" y="18379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501384" y="18379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6208776" y="2066544"/>
            <a:ext cx="23500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div.c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50%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page: 800px */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15px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1px solid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5px 25px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6071616" y="3474720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answer?</a:t>
            </a:r>
            <a:endParaRPr lang="en-US" sz="1050" dirty="0"/>
          </a:p>
        </p:txBody>
      </p:sp>
      <p:sp>
        <p:nvSpPr>
          <p:cNvPr id="33" name="anim-3-21"/>
          <p:cNvSpPr/>
          <p:nvPr/>
        </p:nvSpPr>
        <p:spPr>
          <a:xfrm>
            <a:off x="6071616" y="3749040"/>
            <a:ext cx="2624328" cy="822960"/>
          </a:xfrm>
          <a:prstGeom prst="roundRect">
            <a:avLst>
              <a:gd name="adj" fmla="val 8889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anim-3-21"/>
          <p:cNvSpPr txBox="1"/>
          <p:nvPr/>
        </p:nvSpPr>
        <p:spPr>
          <a:xfrm>
            <a:off x="6181344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+ 30 + 2 + 50</a:t>
            </a:r>
            <a:endParaRPr lang="en-US" sz="1100" dirty="0"/>
          </a:p>
        </p:txBody>
      </p:sp>
      <p:sp>
        <p:nvSpPr>
          <p:cNvPr id="35" name="anim-3-21"/>
          <p:cNvSpPr txBox="1"/>
          <p:nvPr/>
        </p:nvSpPr>
        <p:spPr>
          <a:xfrm>
            <a:off x="6181344" y="4114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482px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24" grpId="0" animBg="1"/>
      <p:bldP spid="25" grpId="0" animBg="1"/>
      <p:bldP spid="26" grpId="0" animBg="1"/>
      <p:bldP spid="33" grpId="0" animBg="1"/>
      <p:bldP spid="34" grpId="0" animBg="1"/>
      <p:bldP spid="3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remember from this lab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1ECFA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21792" y="1435608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21792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1243584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shorthand: width, style (required), and color, e.g. 5px solid red.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28032" y="1435608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828032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40680" y="1243584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outside the border and transparent.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2304288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1792" y="2551176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21792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2359152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inside the border and shows the background color.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663440" y="2304288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1ECFA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828032" y="2551176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828032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40680" y="2359152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Shorthand values go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clockwise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top, right, bottom, left.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57200" y="3419856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21792" y="366674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621792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234440" y="3474720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width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size the content area only.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663440" y="3419856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828032" y="366674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4828032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440680" y="3474720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styles in an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.css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file linked from the head.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READING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 and references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7548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" y="1325880"/>
            <a:ext cx="438912" cy="438912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97" y="1439997"/>
            <a:ext cx="210678" cy="21067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13258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books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1874520"/>
            <a:ext cx="43891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Sams Teach Yourself Ajax, JavaScript and PHP All in One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Ballard and Moncur; Sams, 2010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Phrasebook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Christian Wenz; Sams, 2007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and MySQL Web Development, 4/E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Welling and Thomson; Addison-Wesley, 2009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for Programmers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P. J. Deitel and H. M. Deitel; Prentice Hall, 2009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Beginning PHP5, Apache, and MySQL Web Development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Naramore et al.; Wiley, 2005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in a Nutshell, 3/E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Harold and Means; O'Reilly, 2004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1188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ONLINE: CLICK TO OPEN</a:t>
            </a:r>
            <a:endParaRPr lang="en-US" sz="850" dirty="0"/>
          </a:p>
        </p:txBody>
      </p:sp>
      <p:sp>
        <p:nvSpPr>
          <p:cNvPr id="14" name="btn">
            <a:hlinkClick r:id="rId6"/>
          </p:cNvPr>
          <p:cNvSpPr/>
          <p:nvPr/>
        </p:nvSpPr>
        <p:spPr>
          <a:xfrm>
            <a:off x="5486400" y="1463040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Borders (W3Schools)  →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www.w3schools.com/css/css_border.asp</a:t>
            </a:r>
            <a:endParaRPr lang="en-US" sz="1200" dirty="0"/>
          </a:p>
        </p:txBody>
      </p:sp>
      <p:sp>
        <p:nvSpPr>
          <p:cNvPr id="15" name="btn">
            <a:hlinkClick r:id="rId7"/>
          </p:cNvPr>
          <p:cNvSpPr/>
          <p:nvPr/>
        </p:nvSpPr>
        <p:spPr>
          <a:xfrm>
            <a:off x="5486400" y="2249424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Margins (W3Schools)  →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www.w3schools.com/css/css_margin.asp</a:t>
            </a:r>
            <a:endParaRPr lang="en-US" sz="1200" dirty="0"/>
          </a:p>
        </p:txBody>
      </p:sp>
      <p:sp>
        <p:nvSpPr>
          <p:cNvPr id="16" name="btn">
            <a:hlinkClick r:id="rId8"/>
          </p:cNvPr>
          <p:cNvSpPr/>
          <p:nvPr/>
        </p:nvSpPr>
        <p:spPr>
          <a:xfrm>
            <a:off x="5486400" y="3035808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Padding (W3Schools)  →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www.w3schools.com/css/css_padding.asp</a:t>
            </a:r>
            <a:endParaRPr lang="en-US" sz="1200" dirty="0"/>
          </a:p>
        </p:txBody>
      </p:sp>
      <p:sp>
        <p:nvSpPr>
          <p:cNvPr id="17" name="btn">
            <a:hlinkClick r:id="rId9"/>
          </p:cNvPr>
          <p:cNvSpPr/>
          <p:nvPr/>
        </p:nvSpPr>
        <p:spPr>
          <a:xfrm>
            <a:off x="5486400" y="3822192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Height and Width (W3Schools)  →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www.w3schools.com/css/css_dimension.asp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1851</Words>
  <Application>Microsoft Office PowerPoint</Application>
  <PresentationFormat>On-screen Show (16:9)</PresentationFormat>
  <Paragraphs>419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02 — Introduction to CSS (Box Properties)</dc:title>
  <dc:subject>PptxGenJS Presentation</dc:subject>
  <dc:creator>Rifat Al Mamun Rudro</dc:creator>
  <cp:lastModifiedBy>RIFAT AL MAMUN RUDRO</cp:lastModifiedBy>
  <cp:revision>1</cp:revision>
  <dcterms:created xsi:type="dcterms:W3CDTF">2026-10-05T10:04:30Z</dcterms:created>
  <dcterms:modified xsi:type="dcterms:W3CDTF">2026-10-05T10:11:57Z</dcterms:modified>
</cp:coreProperties>
</file>