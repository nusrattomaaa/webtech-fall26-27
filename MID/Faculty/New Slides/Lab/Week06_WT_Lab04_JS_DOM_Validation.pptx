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AT AL MAMUN RUDRO" userId="24b27b9a-aab3-4351-8aca-a88306e0f932" providerId="ADAL" clId="{DB9BBBDC-F455-4572-BF35-B25E0968203C}"/>
    <pc:docChg chg="delSld">
      <pc:chgData name="RIFAT AL MAMUN RUDRO" userId="24b27b9a-aab3-4351-8aca-a88306e0f932" providerId="ADAL" clId="{DB9BBBDC-F455-4572-BF35-B25E0968203C}" dt="2026-10-05T11:08:33.966" v="5" actId="47"/>
      <pc:docMkLst>
        <pc:docMk/>
      </pc:docMkLst>
      <pc:sldChg chg="del">
        <pc:chgData name="RIFAT AL MAMUN RUDRO" userId="24b27b9a-aab3-4351-8aca-a88306e0f932" providerId="ADAL" clId="{DB9BBBDC-F455-4572-BF35-B25E0968203C}" dt="2026-10-05T11:08:31.288" v="0" actId="47"/>
        <pc:sldMkLst>
          <pc:docMk/>
          <pc:sldMk cId="0" sldId="291"/>
        </pc:sldMkLst>
      </pc:sldChg>
      <pc:sldChg chg="del">
        <pc:chgData name="RIFAT AL MAMUN RUDRO" userId="24b27b9a-aab3-4351-8aca-a88306e0f932" providerId="ADAL" clId="{DB9BBBDC-F455-4572-BF35-B25E0968203C}" dt="2026-10-05T11:08:31.969" v="1" actId="47"/>
        <pc:sldMkLst>
          <pc:docMk/>
          <pc:sldMk cId="0" sldId="292"/>
        </pc:sldMkLst>
      </pc:sldChg>
      <pc:sldChg chg="del">
        <pc:chgData name="RIFAT AL MAMUN RUDRO" userId="24b27b9a-aab3-4351-8aca-a88306e0f932" providerId="ADAL" clId="{DB9BBBDC-F455-4572-BF35-B25E0968203C}" dt="2026-10-05T11:08:32.484" v="2" actId="47"/>
        <pc:sldMkLst>
          <pc:docMk/>
          <pc:sldMk cId="0" sldId="293"/>
        </pc:sldMkLst>
      </pc:sldChg>
      <pc:sldChg chg="del">
        <pc:chgData name="RIFAT AL MAMUN RUDRO" userId="24b27b9a-aab3-4351-8aca-a88306e0f932" providerId="ADAL" clId="{DB9BBBDC-F455-4572-BF35-B25E0968203C}" dt="2026-10-05T11:08:32.979" v="3" actId="47"/>
        <pc:sldMkLst>
          <pc:docMk/>
          <pc:sldMk cId="0" sldId="294"/>
        </pc:sldMkLst>
      </pc:sldChg>
      <pc:sldChg chg="del">
        <pc:chgData name="RIFAT AL MAMUN RUDRO" userId="24b27b9a-aab3-4351-8aca-a88306e0f932" providerId="ADAL" clId="{DB9BBBDC-F455-4572-BF35-B25E0968203C}" dt="2026-10-05T11:08:33.443" v="4" actId="47"/>
        <pc:sldMkLst>
          <pc:docMk/>
          <pc:sldMk cId="0" sldId="295"/>
        </pc:sldMkLst>
      </pc:sldChg>
      <pc:sldChg chg="del">
        <pc:chgData name="RIFAT AL MAMUN RUDRO" userId="24b27b9a-aab3-4351-8aca-a88306e0f932" providerId="ADAL" clId="{DB9BBBDC-F455-4572-BF35-B25E0968203C}" dt="2026-10-05T11:08:33.966" v="5" actId="47"/>
        <pc:sldMkLst>
          <pc:docMk/>
          <pc:sldMk cId="0" sldId="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329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slide" Target="slide20.xml"/><Relationship Id="rId3" Type="http://schemas.openxmlformats.org/officeDocument/2006/relationships/image" Target="../media/image1.png"/><Relationship Id="rId7" Type="http://schemas.openxmlformats.org/officeDocument/2006/relationships/slide" Target="slide8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slide" Target="slide17.xml"/><Relationship Id="rId5" Type="http://schemas.openxmlformats.org/officeDocument/2006/relationships/slide" Target="slide3.xml"/><Relationship Id="rId15" Type="http://schemas.openxmlformats.org/officeDocument/2006/relationships/slide" Target="slide23.xml"/><Relationship Id="rId10" Type="http://schemas.openxmlformats.org/officeDocument/2006/relationships/image" Target="../media/image4.png"/><Relationship Id="rId4" Type="http://schemas.openxmlformats.org/officeDocument/2006/relationships/slide" Target="slide2.xml"/><Relationship Id="rId9" Type="http://schemas.openxmlformats.org/officeDocument/2006/relationships/slide" Target="slide12.xml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js/js_loop_while.asp" TargetMode="External"/><Relationship Id="rId5" Type="http://schemas.openxmlformats.org/officeDocument/2006/relationships/hyperlink" Target="https://www.w3schools.com/js/js_loop_for.asp" TargetMode="Externa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3schools.com/jsref/dom_obj_style.asp" TargetMode="External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" Target="slid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5.xml"/><Relationship Id="rId5" Type="http://schemas.openxmlformats.org/officeDocument/2006/relationships/slide" Target="slide34.xml"/><Relationship Id="rId4" Type="http://schemas.openxmlformats.org/officeDocument/2006/relationships/slide" Target="slide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slide" Target="slide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slide" Target="slide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js/js_validation.asp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w3schools.com/js/js_htmldom.asp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js/" TargetMode="External"/><Relationship Id="rId5" Type="http://schemas.openxmlformats.org/officeDocument/2006/relationships/image" Target="../media/image13.png"/><Relationship Id="rId4" Type="http://schemas.openxmlformats.org/officeDocument/2006/relationships/slide" Target="slide2.xml"/><Relationship Id="rId9" Type="http://schemas.openxmlformats.org/officeDocument/2006/relationships/hyperlink" Target="https://www.springboard.com/blog/history-of-javascript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7.xml"/><Relationship Id="rId4" Type="http://schemas.openxmlformats.org/officeDocument/2006/relationships/slide" Target="slide2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7.xml"/><Relationship Id="rId5" Type="http://schemas.openxmlformats.org/officeDocument/2006/relationships/slide" Target="slide26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 INTERNATIONAL UNIVERSITY-BANGLADESH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217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Computer Science  ·  Faculty of Science and Technology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57200" y="1417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SESSION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7373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HTML DOM and Form Validation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04: control flow, arrays, objects, the DOM, validation, and debugging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852160" y="146304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89320" y="15636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35624" y="15636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81928" y="15636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92240" y="15179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dom.js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1792224"/>
            <a:ext cx="25603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"demo"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6" name="btn">
            <a:hlinkClick r:id="rId4" action="ppaction://hlinksldjump"/>
          </p:cNvPr>
          <p:cNvSpPr/>
          <p:nvPr/>
        </p:nvSpPr>
        <p:spPr>
          <a:xfrm>
            <a:off x="457200" y="324612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  Start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3319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deck: run it in Slide Show mode and click the buttons.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21792" y="3931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" y="4133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· Web Technologies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834640" y="384048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2999232" y="39319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2999232" y="413308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 04 · Week 06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0" y="384048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4736592" y="39319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4736592" y="413308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2026-27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35040" y="38404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6199632" y="39319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LECTURER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6199632" y="41330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Rifat Al Mamun Rudro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mamun.rudro@aiub.edu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04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outline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241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 section to jump to it. The ⌂ Outline button on every slide brings you back here.</a:t>
            </a:r>
            <a:endParaRPr lang="en-US" sz="10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57200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else, switch, and loops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23160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6787" y="1705539"/>
            <a:ext cx="228234" cy="228234"/>
          </a:xfrm>
          <a:prstGeom prst="rect">
            <a:avLst/>
          </a:prstGeom>
        </p:spPr>
      </p:pic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64408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Creating, accessing, and looping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230368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995" y="1705539"/>
            <a:ext cx="228234" cy="228234"/>
          </a:xfrm>
          <a:prstGeom prst="rect">
            <a:avLst/>
          </a:prstGeom>
        </p:spPr>
      </p:pic>
      <p:sp>
        <p:nvSpPr>
          <p:cNvPr id="15" name="btn">
            <a:hlinkClick r:id="rId9" action="ppaction://hlinksldjump"/>
          </p:cNvPr>
          <p:cNvSpPr/>
          <p:nvPr/>
        </p:nvSpPr>
        <p:spPr>
          <a:xfrm>
            <a:off x="6071616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Methods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join, pop, push, and friends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037576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1203" y="1705539"/>
            <a:ext cx="228234" cy="228234"/>
          </a:xfrm>
          <a:prstGeom prst="rect">
            <a:avLst/>
          </a:prstGeom>
        </p:spPr>
      </p:pic>
      <p:sp>
        <p:nvSpPr>
          <p:cNvPr id="18" name="btn">
            <a:hlinkClick r:id="rId11" action="ppaction://hlinksldjump"/>
          </p:cNvPr>
          <p:cNvSpPr/>
          <p:nvPr/>
        </p:nvSpPr>
        <p:spPr>
          <a:xfrm>
            <a:off x="457200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Properties, methods, arrays of objects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2423160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6787" y="3351459"/>
            <a:ext cx="228234" cy="228234"/>
          </a:xfrm>
          <a:prstGeom prst="rect">
            <a:avLst/>
          </a:prstGeom>
        </p:spPr>
      </p:pic>
      <p:sp>
        <p:nvSpPr>
          <p:cNvPr id="21" name="btn">
            <a:hlinkClick r:id="rId13" action="ppaction://hlinksldjump"/>
          </p:cNvPr>
          <p:cNvSpPr/>
          <p:nvPr/>
        </p:nvSpPr>
        <p:spPr>
          <a:xfrm>
            <a:off x="3264408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HTML DOM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elements and changing CSS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5230368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53995" y="3351459"/>
            <a:ext cx="228234" cy="228234"/>
          </a:xfrm>
          <a:prstGeom prst="rect">
            <a:avLst/>
          </a:prstGeom>
        </p:spPr>
      </p:pic>
      <p:sp>
        <p:nvSpPr>
          <p:cNvPr id="24" name="btn">
            <a:hlinkClick r:id="rId15" action="ppaction://hlinksldjump"/>
          </p:cNvPr>
          <p:cNvSpPr/>
          <p:nvPr/>
        </p:nvSpPr>
        <p:spPr>
          <a:xfrm>
            <a:off x="6071616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and Debugging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Validation, debugging, lab tasks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8037576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61203" y="3351459"/>
            <a:ext cx="228234" cy="22823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which code runs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else in a real page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else statements change the flow of a program. The syntax is the same as in other languages.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4480560" cy="3063240"/>
          </a:xfrm>
          <a:prstGeom prst="roundRect">
            <a:avLst>
              <a:gd name="adj" fmla="val 238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6550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16550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16550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1609344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1883664"/>
            <a:ext cx="42062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"myFunction()"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"demo"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&gt;&lt;/p&gt;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myFunction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 day"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 night"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 evening"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"demo"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5212080" y="15544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IT WITH  hour = 19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212080" y="182880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212080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 &lt; 18</a:t>
            </a:r>
            <a:endParaRPr lang="en-US" sz="1050" dirty="0"/>
          </a:p>
        </p:txBody>
      </p:sp>
      <p:sp>
        <p:nvSpPr>
          <p:cNvPr id="18" name="anim-1-0"/>
          <p:cNvSpPr/>
          <p:nvPr/>
        </p:nvSpPr>
        <p:spPr>
          <a:xfrm>
            <a:off x="6492240" y="1828800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nim-1-0"/>
          <p:cNvSpPr txBox="1"/>
          <p:nvPr/>
        </p:nvSpPr>
        <p:spPr>
          <a:xfrm>
            <a:off x="6583680" y="1828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&lt; 18 is false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212080" y="2487168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212080" y="24871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 &gt; 20</a:t>
            </a:r>
            <a:endParaRPr lang="en-US" sz="1050" dirty="0"/>
          </a:p>
        </p:txBody>
      </p:sp>
      <p:sp>
        <p:nvSpPr>
          <p:cNvPr id="22" name="anim-2-1"/>
          <p:cNvSpPr/>
          <p:nvPr/>
        </p:nvSpPr>
        <p:spPr>
          <a:xfrm>
            <a:off x="6492240" y="2487168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im-2-1"/>
          <p:cNvSpPr txBox="1"/>
          <p:nvPr/>
        </p:nvSpPr>
        <p:spPr>
          <a:xfrm>
            <a:off x="6583680" y="24871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&gt; 20 is false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212080" y="3145536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5212080" y="314553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050" dirty="0"/>
          </a:p>
        </p:txBody>
      </p:sp>
      <p:sp>
        <p:nvSpPr>
          <p:cNvPr id="26" name="anim-3-2"/>
          <p:cNvSpPr/>
          <p:nvPr/>
        </p:nvSpPr>
        <p:spPr>
          <a:xfrm>
            <a:off x="6492240" y="3145536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nim-3-2"/>
          <p:cNvSpPr txBox="1"/>
          <p:nvPr/>
        </p:nvSpPr>
        <p:spPr>
          <a:xfrm>
            <a:off x="6583680" y="314553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runs: greeting = "Good evening"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212080" y="3840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321808" y="3931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440680" y="3931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559552" y="3931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760720" y="389534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5852160" y="38999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5248656" y="4114800"/>
            <a:ext cx="3401568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5358384" y="4224528"/>
            <a:ext cx="640080" cy="237744"/>
          </a:xfrm>
          <a:prstGeom prst="roundRect">
            <a:avLst>
              <a:gd name="adj" fmla="val 11538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5358384" y="4224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900" dirty="0"/>
          </a:p>
        </p:txBody>
      </p:sp>
      <p:sp>
        <p:nvSpPr>
          <p:cNvPr id="37" name="anim-4-3"/>
          <p:cNvSpPr txBox="1"/>
          <p:nvPr/>
        </p:nvSpPr>
        <p:spPr>
          <a:xfrm>
            <a:off x="6163056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Good evening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2" grpId="0" animBg="1"/>
      <p:bldP spid="23" grpId="0" animBg="1"/>
      <p:bldP spid="26" grpId="0" animBg="1"/>
      <p:bldP spid="27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switch, and why the type matters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a tidy replacement for a long else-if chain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Cases use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comparison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(===), so the value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type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must match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57200" y="1874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is a STRING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212848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4360" y="23134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40664" y="23134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86968" y="23134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94360" y="2542032"/>
            <a:ext cx="20574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"Off"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value found"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850" dirty="0"/>
          </a:p>
        </p:txBody>
      </p:sp>
      <p:sp>
        <p:nvSpPr>
          <p:cNvPr id="17" name="anim-1-4"/>
          <p:cNvSpPr/>
          <p:nvPr/>
        </p:nvSpPr>
        <p:spPr>
          <a:xfrm>
            <a:off x="2926080" y="24688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BEAEA"/>
          </a:solidFill>
          <a:ln w="9525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im-1-4"/>
          <p:cNvSpPr txBox="1"/>
          <p:nvPr/>
        </p:nvSpPr>
        <p:spPr>
          <a:xfrm>
            <a:off x="2971800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value found"</a:t>
            </a:r>
            <a:endParaRPr lang="en-US" sz="1100" dirty="0"/>
          </a:p>
        </p:txBody>
      </p:sp>
      <p:sp>
        <p:nvSpPr>
          <p:cNvPr id="19" name="anim-1-4"/>
          <p:cNvSpPr txBox="1"/>
          <p:nvPr/>
        </p:nvSpPr>
        <p:spPr>
          <a:xfrm>
            <a:off x="2926080" y="35661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"0" === 0 is false, so no case matches.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09160" y="18745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709160" y="1874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is a NUMBER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09160" y="2212848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846320" y="23134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992624" y="23134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138928" y="23134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4846320" y="2542032"/>
            <a:ext cx="20574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"Off"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value found"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7178040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850" dirty="0"/>
          </a:p>
        </p:txBody>
      </p:sp>
      <p:sp>
        <p:nvSpPr>
          <p:cNvPr id="28" name="anim-2-5"/>
          <p:cNvSpPr/>
          <p:nvPr/>
        </p:nvSpPr>
        <p:spPr>
          <a:xfrm>
            <a:off x="7178040" y="24688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E6F5EE"/>
          </a:solidFill>
          <a:ln w="9525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nim-2-5"/>
          <p:cNvSpPr txBox="1"/>
          <p:nvPr/>
        </p:nvSpPr>
        <p:spPr>
          <a:xfrm>
            <a:off x="7223760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"Off"</a:t>
            </a:r>
            <a:endParaRPr lang="en-US" sz="1600" dirty="0"/>
          </a:p>
        </p:txBody>
      </p:sp>
      <p:sp>
        <p:nvSpPr>
          <p:cNvPr id="30" name="anim-2-5"/>
          <p:cNvSpPr txBox="1"/>
          <p:nvPr/>
        </p:nvSpPr>
        <p:spPr>
          <a:xfrm>
            <a:off x="7178040" y="35661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=== 0 is true, so case 0 runs.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8" grpId="0" animBg="1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1508760"/>
            <a:ext cx="2624328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6093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16093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16093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1837944"/>
            <a:ext cx="235000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number is "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"&lt;br&gt;"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264408" y="1143000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264408" y="1508760"/>
            <a:ext cx="2624328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401568" y="16093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547872" y="16093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694176" y="16093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3401568" y="1837944"/>
            <a:ext cx="235000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number is "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071616" y="1143000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... while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071616" y="1508760"/>
            <a:ext cx="2624328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208776" y="16093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355080" y="16093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501384" y="16093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208776" y="1837944"/>
            <a:ext cx="235000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number is "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37033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 ... while loop always runs its body </a:t>
            </a: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least once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because the condition is checked at the end.</a:t>
            </a:r>
            <a:endParaRPr lang="en-US" sz="1200" dirty="0"/>
          </a:p>
        </p:txBody>
      </p:sp>
      <p:sp>
        <p:nvSpPr>
          <p:cNvPr id="28" name="btn">
            <a:hlinkClick r:id="rId5"/>
          </p:cNvPr>
          <p:cNvSpPr/>
          <p:nvPr/>
        </p:nvSpPr>
        <p:spPr>
          <a:xfrm>
            <a:off x="457200" y="4370832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read: for loop  →</a:t>
            </a:r>
            <a:endParaRPr lang="en-US" sz="950" dirty="0"/>
          </a:p>
        </p:txBody>
      </p:sp>
      <p:sp>
        <p:nvSpPr>
          <p:cNvPr id="29" name="btn">
            <a:hlinkClick r:id="rId6"/>
          </p:cNvPr>
          <p:cNvSpPr/>
          <p:nvPr/>
        </p:nvSpPr>
        <p:spPr>
          <a:xfrm>
            <a:off x="2606040" y="437083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read: while loop  →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· QUIZ 1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switch example, x = "0" (a string). What does text become?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 answer to check it.</a:t>
            </a:r>
            <a:endParaRPr lang="en-US" sz="1000" dirty="0"/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"Off"</a:t>
            </a:r>
            <a:endParaRPr lang="en-US" sz="1400" dirty="0"/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"On"</a:t>
            </a:r>
            <a:endParaRPr lang="en-US" sz="14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 value found"</a:t>
            </a:r>
            <a:endParaRPr lang="en-US" sz="1400" dirty="0"/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error</a:t>
            </a:r>
            <a:endParaRPr lang="en-US" sz="14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values in one variable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and accessing an array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array stores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values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a single variable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literal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the easiest way to create one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also use the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keyword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an element by its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indexes start at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31638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31638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31638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3392424"/>
            <a:ext cx="3749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cars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"Saab"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"Volvo"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cars2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"Saab"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"Volvo"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cars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"Saab"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cars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"Opel"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change an element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188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cars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4173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46320" y="1636776"/>
            <a:ext cx="123444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846320" y="16367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"Saab"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14173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080760" y="1636776"/>
            <a:ext cx="123444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080760" y="16367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"Volvo"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0" y="14173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315200" y="1636776"/>
            <a:ext cx="123444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15200" y="16367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21214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cars[0]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846320" y="2514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 cars[0] = "Opel"</a:t>
            </a:r>
            <a:endParaRPr lang="en-US" sz="850" dirty="0"/>
          </a:p>
        </p:txBody>
      </p:sp>
      <p:sp>
        <p:nvSpPr>
          <p:cNvPr id="26" name="anim-1-6"/>
          <p:cNvSpPr txBox="1"/>
          <p:nvPr/>
        </p:nvSpPr>
        <p:spPr>
          <a:xfrm>
            <a:off x="4846320" y="27432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27" name="anim-1-6"/>
          <p:cNvSpPr/>
          <p:nvPr/>
        </p:nvSpPr>
        <p:spPr>
          <a:xfrm>
            <a:off x="4846320" y="2962656"/>
            <a:ext cx="1234440" cy="457200"/>
          </a:xfrm>
          <a:prstGeom prst="rect">
            <a:avLst/>
          </a:prstGeom>
          <a:solidFill>
            <a:srgbClr val="66339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nim-1-6"/>
          <p:cNvSpPr txBox="1"/>
          <p:nvPr/>
        </p:nvSpPr>
        <p:spPr>
          <a:xfrm>
            <a:off x="4846320" y="29626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"Opel"</a:t>
            </a:r>
            <a:endParaRPr lang="en-US" sz="1200" dirty="0"/>
          </a:p>
        </p:txBody>
      </p:sp>
      <p:sp>
        <p:nvSpPr>
          <p:cNvPr id="29" name="anim-1-6"/>
          <p:cNvSpPr txBox="1"/>
          <p:nvPr/>
        </p:nvSpPr>
        <p:spPr>
          <a:xfrm>
            <a:off x="6080760" y="27432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anim-1-6"/>
          <p:cNvSpPr/>
          <p:nvPr/>
        </p:nvSpPr>
        <p:spPr>
          <a:xfrm>
            <a:off x="6080760" y="2962656"/>
            <a:ext cx="123444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anim-1-6"/>
          <p:cNvSpPr txBox="1"/>
          <p:nvPr/>
        </p:nvSpPr>
        <p:spPr>
          <a:xfrm>
            <a:off x="6080760" y="29626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"Volvo"</a:t>
            </a:r>
            <a:endParaRPr lang="en-US" sz="1200" dirty="0"/>
          </a:p>
        </p:txBody>
      </p:sp>
      <p:sp>
        <p:nvSpPr>
          <p:cNvPr id="32" name="anim-1-6"/>
          <p:cNvSpPr txBox="1"/>
          <p:nvPr/>
        </p:nvSpPr>
        <p:spPr>
          <a:xfrm>
            <a:off x="7315200" y="27432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anim-1-6"/>
          <p:cNvSpPr/>
          <p:nvPr/>
        </p:nvSpPr>
        <p:spPr>
          <a:xfrm>
            <a:off x="7315200" y="2962656"/>
            <a:ext cx="123444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anim-1-6"/>
          <p:cNvSpPr txBox="1"/>
          <p:nvPr/>
        </p:nvSpPr>
        <p:spPr>
          <a:xfrm>
            <a:off x="7315200" y="29626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846320" y="37033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4983480" y="3703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are special objects: </a:t>
            </a:r>
            <a:r>
              <a:rPr lang="en-US" sz="105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cars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gives "object". Use </a:t>
            </a:r>
            <a:r>
              <a:rPr lang="en-US" sz="105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Array.isArray(cars)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check for an array.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array can hold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array element can be anything: a number, a string, an object, a function, or even another array.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6002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7007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17007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17007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1929384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myCars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"Saab"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myArray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myArray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function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myArray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myFunction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function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myArray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myCars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 array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1600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myArray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1828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6" name="anim-1-7"/>
          <p:cNvSpPr/>
          <p:nvPr/>
        </p:nvSpPr>
        <p:spPr>
          <a:xfrm>
            <a:off x="4663440" y="2048256"/>
            <a:ext cx="1280160" cy="566928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1-7"/>
          <p:cNvSpPr txBox="1"/>
          <p:nvPr/>
        </p:nvSpPr>
        <p:spPr>
          <a:xfrm>
            <a:off x="4663440" y="20482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Date.now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07608" y="1828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anim-2-8"/>
          <p:cNvSpPr/>
          <p:nvPr/>
        </p:nvSpPr>
        <p:spPr>
          <a:xfrm>
            <a:off x="6007608" y="2048256"/>
            <a:ext cx="1280160" cy="566928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im-2-8"/>
          <p:cNvSpPr txBox="1"/>
          <p:nvPr/>
        </p:nvSpPr>
        <p:spPr>
          <a:xfrm>
            <a:off x="6007608" y="20482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myFunction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351776" y="1828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anim-3-9"/>
          <p:cNvSpPr/>
          <p:nvPr/>
        </p:nvSpPr>
        <p:spPr>
          <a:xfrm>
            <a:off x="7351776" y="2048256"/>
            <a:ext cx="1280160" cy="566928"/>
          </a:xfrm>
          <a:prstGeom prst="rect">
            <a:avLst/>
          </a:prstGeom>
          <a:solidFill>
            <a:srgbClr val="66339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im-3-9"/>
          <p:cNvSpPr txBox="1"/>
          <p:nvPr/>
        </p:nvSpPr>
        <p:spPr>
          <a:xfrm>
            <a:off x="7351776" y="20482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myCars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D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</a:t>
            </a:r>
            <a:endParaRPr lang="en-US" sz="1000" dirty="0"/>
          </a:p>
        </p:txBody>
      </p:sp>
      <p:sp>
        <p:nvSpPr>
          <p:cNvPr id="24" name="anim-3-10"/>
          <p:cNvSpPr/>
          <p:nvPr/>
        </p:nvSpPr>
        <p:spPr>
          <a:xfrm>
            <a:off x="7991856" y="2651760"/>
            <a:ext cx="914" cy="320040"/>
          </a:xfrm>
          <a:prstGeom prst="line">
            <a:avLst/>
          </a:prstGeom>
          <a:noFill/>
          <a:ln w="19050">
            <a:solidFill>
              <a:srgbClr val="6633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3-10"/>
          <p:cNvSpPr txBox="1"/>
          <p:nvPr/>
        </p:nvSpPr>
        <p:spPr>
          <a:xfrm>
            <a:off x="7214616" y="28803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26" name="anim-3-10"/>
          <p:cNvSpPr/>
          <p:nvPr/>
        </p:nvSpPr>
        <p:spPr>
          <a:xfrm>
            <a:off x="7214616" y="3099816"/>
            <a:ext cx="77724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nim-3-10"/>
          <p:cNvSpPr txBox="1"/>
          <p:nvPr/>
        </p:nvSpPr>
        <p:spPr>
          <a:xfrm>
            <a:off x="7214616" y="30998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"Saab"</a:t>
            </a:r>
            <a:endParaRPr lang="en-US" sz="900" dirty="0"/>
          </a:p>
        </p:txBody>
      </p:sp>
      <p:sp>
        <p:nvSpPr>
          <p:cNvPr id="28" name="anim-3-10"/>
          <p:cNvSpPr txBox="1"/>
          <p:nvPr/>
        </p:nvSpPr>
        <p:spPr>
          <a:xfrm>
            <a:off x="7991856" y="28803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anim-3-10"/>
          <p:cNvSpPr/>
          <p:nvPr/>
        </p:nvSpPr>
        <p:spPr>
          <a:xfrm>
            <a:off x="7991856" y="3099816"/>
            <a:ext cx="77724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nim-3-10"/>
          <p:cNvSpPr txBox="1"/>
          <p:nvPr/>
        </p:nvSpPr>
        <p:spPr>
          <a:xfrm>
            <a:off x="7991856" y="30998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endParaRPr lang="en-US" sz="900" dirty="0"/>
          </a:p>
        </p:txBody>
      </p:sp>
      <p:sp>
        <p:nvSpPr>
          <p:cNvPr id="31" name="anim-3-10"/>
          <p:cNvSpPr txBox="1"/>
          <p:nvPr/>
        </p:nvSpPr>
        <p:spPr>
          <a:xfrm>
            <a:off x="548640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array inside an array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33375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621792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whole array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21792" y="37033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 to the array by name: document.getElementById("demo").innerHTML = cars; prints Saab,Volvo,BMW.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Looping through an array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 loop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50876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6093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16093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16093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1837944"/>
            <a:ext cx="37033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"Banana"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"Orange"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"Mango"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"&lt;ul&gt;"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"&lt;li&gt;"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"&lt;/li&gt;"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"&lt;/ul&gt;"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1143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Array.forEach()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09160" y="150876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46320" y="16093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992624" y="16093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138928" y="16093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846320" y="1837944"/>
            <a:ext cx="37033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"Banana"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"Orange"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"Mango"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"&lt;ul&gt;"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myFunction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"&lt;/ul&gt;"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myFunction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"&lt;li&gt;"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"&lt;/li&gt;"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639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PRODUCE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66928" y="3931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85800" y="3931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04672" y="3931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05840" y="389534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1097280" y="38999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93776" y="4114800"/>
            <a:ext cx="8156448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nim-1-11"/>
          <p:cNvSpPr txBox="1"/>
          <p:nvPr/>
        </p:nvSpPr>
        <p:spPr>
          <a:xfrm>
            <a:off x="768096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Banana</a:t>
            </a:r>
            <a:endParaRPr lang="en-US" sz="1200" dirty="0"/>
          </a:p>
        </p:txBody>
      </p:sp>
      <p:sp>
        <p:nvSpPr>
          <p:cNvPr id="29" name="anim-2-12"/>
          <p:cNvSpPr txBox="1"/>
          <p:nvPr/>
        </p:nvSpPr>
        <p:spPr>
          <a:xfrm>
            <a:off x="2231136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Orange</a:t>
            </a:r>
            <a:endParaRPr lang="en-US" sz="1200" dirty="0"/>
          </a:p>
        </p:txBody>
      </p:sp>
      <p:sp>
        <p:nvSpPr>
          <p:cNvPr id="30" name="anim-3-13"/>
          <p:cNvSpPr txBox="1"/>
          <p:nvPr/>
        </p:nvSpPr>
        <p:spPr>
          <a:xfrm>
            <a:off x="3694176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Apple</a:t>
            </a:r>
            <a:endParaRPr lang="en-US" sz="1200" dirty="0"/>
          </a:p>
        </p:txBody>
      </p:sp>
      <p:sp>
        <p:nvSpPr>
          <p:cNvPr id="31" name="anim-4-14"/>
          <p:cNvSpPr txBox="1"/>
          <p:nvPr/>
        </p:nvSpPr>
        <p:spPr>
          <a:xfrm>
            <a:off x="5157216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Mango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0" y="36393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fruits.length is 4; each pass adds one &lt;li&gt;. Click to build the list.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Methods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tools for working with arrays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METHODS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toString() and join()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fruits = ["Banana", "Orange", "Apple", "Mango"];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371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591056"/>
            <a:ext cx="128016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1591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737360" y="1371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737360" y="1591056"/>
            <a:ext cx="128016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737360" y="1591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1371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017520" y="1591056"/>
            <a:ext cx="128016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3017520" y="1591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1371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297680" y="1591056"/>
            <a:ext cx="128016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297680" y="1591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33172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5720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fruits.toString()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Converts the array to a string of comma-separated values</a:t>
            </a:r>
            <a:endParaRPr lang="en-US" sz="1050" dirty="0"/>
          </a:p>
        </p:txBody>
      </p:sp>
      <p:sp>
        <p:nvSpPr>
          <p:cNvPr id="24" name="anim-1-15"/>
          <p:cNvSpPr txBox="1"/>
          <p:nvPr/>
        </p:nvSpPr>
        <p:spPr>
          <a:xfrm>
            <a:off x="2880360" y="2331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anim-1-15"/>
          <p:cNvSpPr/>
          <p:nvPr/>
        </p:nvSpPr>
        <p:spPr>
          <a:xfrm>
            <a:off x="3291840" y="2331720"/>
            <a:ext cx="5394960" cy="548640"/>
          </a:xfrm>
          <a:prstGeom prst="roundRect">
            <a:avLst>
              <a:gd name="adj" fmla="val 8333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nim-1-15"/>
          <p:cNvSpPr txBox="1"/>
          <p:nvPr/>
        </p:nvSpPr>
        <p:spPr>
          <a:xfrm>
            <a:off x="3383280" y="2331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"Banana,Orange,Apple,Mango"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47472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5720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fruits.join(" * ")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 all elements into a string, with the separator you choose</a:t>
            </a:r>
            <a:endParaRPr lang="en-US" sz="1050" dirty="0"/>
          </a:p>
        </p:txBody>
      </p:sp>
      <p:sp>
        <p:nvSpPr>
          <p:cNvPr id="30" name="anim-2-16"/>
          <p:cNvSpPr txBox="1"/>
          <p:nvPr/>
        </p:nvSpPr>
        <p:spPr>
          <a:xfrm>
            <a:off x="2880360" y="3474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anim-2-16"/>
          <p:cNvSpPr/>
          <p:nvPr/>
        </p:nvSpPr>
        <p:spPr>
          <a:xfrm>
            <a:off x="3291840" y="3474720"/>
            <a:ext cx="5394960" cy="548640"/>
          </a:xfrm>
          <a:prstGeom prst="roundRect">
            <a:avLst>
              <a:gd name="adj" fmla="val 8333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anim-2-16"/>
          <p:cNvSpPr txBox="1"/>
          <p:nvPr/>
        </p:nvSpPr>
        <p:spPr>
          <a:xfrm>
            <a:off x="3383280" y="3474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"Banana * Orange * Apple * Mango"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Usage: document.getElementById("demo").innerHTML = fruits.join(" * ");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METHODS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pop() and push()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572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fruits.pop()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Removes the </a:t>
            </a: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element and returns it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1188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017520" y="14173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01752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31920" y="14173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393192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46320" y="14173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84632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60720" y="14173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76072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3017520" y="1965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850" dirty="0"/>
          </a:p>
        </p:txBody>
      </p:sp>
      <p:sp>
        <p:nvSpPr>
          <p:cNvPr id="21" name="anim-1-17"/>
          <p:cNvSpPr/>
          <p:nvPr/>
        </p:nvSpPr>
        <p:spPr>
          <a:xfrm>
            <a:off x="3017520" y="219456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nim-1-17"/>
          <p:cNvSpPr txBox="1"/>
          <p:nvPr/>
        </p:nvSpPr>
        <p:spPr>
          <a:xfrm>
            <a:off x="301752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950" dirty="0"/>
          </a:p>
        </p:txBody>
      </p:sp>
      <p:sp>
        <p:nvSpPr>
          <p:cNvPr id="23" name="anim-1-17"/>
          <p:cNvSpPr/>
          <p:nvPr/>
        </p:nvSpPr>
        <p:spPr>
          <a:xfrm>
            <a:off x="3931920" y="219456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nim-1-17"/>
          <p:cNvSpPr txBox="1"/>
          <p:nvPr/>
        </p:nvSpPr>
        <p:spPr>
          <a:xfrm>
            <a:off x="393192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950" dirty="0"/>
          </a:p>
        </p:txBody>
      </p:sp>
      <p:sp>
        <p:nvSpPr>
          <p:cNvPr id="25" name="anim-1-17"/>
          <p:cNvSpPr/>
          <p:nvPr/>
        </p:nvSpPr>
        <p:spPr>
          <a:xfrm>
            <a:off x="4846320" y="219456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nim-1-17"/>
          <p:cNvSpPr txBox="1"/>
          <p:nvPr/>
        </p:nvSpPr>
        <p:spPr>
          <a:xfrm>
            <a:off x="484632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950" dirty="0"/>
          </a:p>
        </p:txBody>
      </p:sp>
      <p:sp>
        <p:nvSpPr>
          <p:cNvPr id="27" name="anim-1-17"/>
          <p:cNvSpPr/>
          <p:nvPr/>
        </p:nvSpPr>
        <p:spPr>
          <a:xfrm>
            <a:off x="5760720" y="2194560"/>
            <a:ext cx="914400" cy="457200"/>
          </a:xfrm>
          <a:prstGeom prst="rect">
            <a:avLst/>
          </a:prstGeom>
          <a:solidFill>
            <a:srgbClr val="FBEAEA"/>
          </a:solidFill>
          <a:ln w="12700">
            <a:solidFill>
              <a:srgbClr val="D6454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anim-1-17"/>
          <p:cNvSpPr txBox="1"/>
          <p:nvPr/>
        </p:nvSpPr>
        <p:spPr>
          <a:xfrm>
            <a:off x="576072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950" dirty="0"/>
          </a:p>
        </p:txBody>
      </p:sp>
      <p:sp>
        <p:nvSpPr>
          <p:cNvPr id="29" name="anim-2-18"/>
          <p:cNvSpPr/>
          <p:nvPr/>
        </p:nvSpPr>
        <p:spPr>
          <a:xfrm>
            <a:off x="7726680" y="219456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nim-2-18"/>
          <p:cNvSpPr txBox="1"/>
          <p:nvPr/>
        </p:nvSpPr>
        <p:spPr>
          <a:xfrm>
            <a:off x="7726680" y="21945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"Mango"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" y="297180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45720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fruits.push("Kiwi")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3520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Adds an element </a:t>
            </a: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the end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returns the </a:t>
            </a: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length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3017520" y="2926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017520" y="315468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30175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931920" y="315468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39319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846320" y="315468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48463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760720" y="315468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57607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3017520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850" dirty="0"/>
          </a:p>
        </p:txBody>
      </p:sp>
      <p:sp>
        <p:nvSpPr>
          <p:cNvPr id="44" name="anim-3-19"/>
          <p:cNvSpPr/>
          <p:nvPr/>
        </p:nvSpPr>
        <p:spPr>
          <a:xfrm>
            <a:off x="3017520" y="39319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anim-3-19"/>
          <p:cNvSpPr txBox="1"/>
          <p:nvPr/>
        </p:nvSpPr>
        <p:spPr>
          <a:xfrm>
            <a:off x="301752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950" dirty="0"/>
          </a:p>
        </p:txBody>
      </p:sp>
      <p:sp>
        <p:nvSpPr>
          <p:cNvPr id="46" name="anim-3-19"/>
          <p:cNvSpPr/>
          <p:nvPr/>
        </p:nvSpPr>
        <p:spPr>
          <a:xfrm>
            <a:off x="3931920" y="39319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anim-3-19"/>
          <p:cNvSpPr txBox="1"/>
          <p:nvPr/>
        </p:nvSpPr>
        <p:spPr>
          <a:xfrm>
            <a:off x="393192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950" dirty="0"/>
          </a:p>
        </p:txBody>
      </p:sp>
      <p:sp>
        <p:nvSpPr>
          <p:cNvPr id="48" name="anim-3-19"/>
          <p:cNvSpPr/>
          <p:nvPr/>
        </p:nvSpPr>
        <p:spPr>
          <a:xfrm>
            <a:off x="4846320" y="39319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anim-3-19"/>
          <p:cNvSpPr txBox="1"/>
          <p:nvPr/>
        </p:nvSpPr>
        <p:spPr>
          <a:xfrm>
            <a:off x="484632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950" dirty="0"/>
          </a:p>
        </p:txBody>
      </p:sp>
      <p:sp>
        <p:nvSpPr>
          <p:cNvPr id="50" name="anim-3-19"/>
          <p:cNvSpPr/>
          <p:nvPr/>
        </p:nvSpPr>
        <p:spPr>
          <a:xfrm>
            <a:off x="5760720" y="39319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anim-3-19"/>
          <p:cNvSpPr txBox="1"/>
          <p:nvPr/>
        </p:nvSpPr>
        <p:spPr>
          <a:xfrm>
            <a:off x="576072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950" dirty="0"/>
          </a:p>
        </p:txBody>
      </p:sp>
      <p:sp>
        <p:nvSpPr>
          <p:cNvPr id="52" name="anim-3-19"/>
          <p:cNvSpPr/>
          <p:nvPr/>
        </p:nvSpPr>
        <p:spPr>
          <a:xfrm>
            <a:off x="6675120" y="3931920"/>
            <a:ext cx="914400" cy="457200"/>
          </a:xfrm>
          <a:prstGeom prst="rect">
            <a:avLst/>
          </a:prstGeom>
          <a:solidFill>
            <a:srgbClr val="66339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anim-3-19"/>
          <p:cNvSpPr txBox="1"/>
          <p:nvPr/>
        </p:nvSpPr>
        <p:spPr>
          <a:xfrm>
            <a:off x="667512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Kiwi</a:t>
            </a:r>
            <a:endParaRPr lang="en-US" sz="950" dirty="0"/>
          </a:p>
        </p:txBody>
      </p:sp>
      <p:sp>
        <p:nvSpPr>
          <p:cNvPr id="54" name="anim-4-20"/>
          <p:cNvSpPr/>
          <p:nvPr/>
        </p:nvSpPr>
        <p:spPr>
          <a:xfrm>
            <a:off x="7726680" y="393192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anim-4-20"/>
          <p:cNvSpPr txBox="1"/>
          <p:nvPr/>
        </p:nvSpPr>
        <p:spPr>
          <a:xfrm>
            <a:off x="7726680" y="39319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5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457200" y="4572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Correction: push() returns the new length of the array, not the added value.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METHODS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useful array methods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97936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100" dirty="0"/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 on ["Banana", "Orange", "Apple", "Mango"]</a:t>
                      </a:r>
                      <a:endParaRPr lang="en-US" sz="1100" dirty="0"/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length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Number of elements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fruits.length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shift()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Removes the first element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fruits.shift()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"Banana"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unshift()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Adds to the front, returns new length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fruits.unshift("Lemon")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indexOf()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Position of a value (-1 if missing)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fruits.indexOf("Apple")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includes()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Is the value in the array?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fruits.includes("Kiwi")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slice()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Copies part of the array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fruits.slice(1, 3)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["Orange", "Apple"]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sort()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Sorts alphabetically, in place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fruits.sort()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["Apple", "Banana", ...]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concat()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Joins two arrays into a new one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fruits.concat(["Kiwi"])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[..., "Mango", "Kiwi"]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4572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example starts from the original four fruits.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· QUIZ 2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fruits has 4 elements. What does fruits.push("Kiwi") return?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 answer to check it.</a:t>
            </a:r>
            <a:endParaRPr lang="en-US" sz="1000" dirty="0"/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"Kiwi"</a:t>
            </a:r>
            <a:endParaRPr lang="en-US" sz="1400" dirty="0"/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14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 related data and behaviour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objects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object groups related values as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name: value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pairs, called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property that holds a function is a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 property with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or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bracket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notation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4114800" cy="2103120"/>
          </a:xfrm>
          <a:prstGeom prst="roundRect">
            <a:avLst>
              <a:gd name="adj" fmla="val 347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26151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26151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26151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256946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person.js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843784"/>
            <a:ext cx="3840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"John"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"Doe"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fullName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1188720"/>
            <a:ext cx="2011680" cy="2240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983480" y="1261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983480" y="1600200"/>
            <a:ext cx="868680" cy="365760"/>
          </a:xfrm>
          <a:prstGeom prst="rect">
            <a:avLst/>
          </a:prstGeom>
          <a:solidFill>
            <a:srgbClr val="F1E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983480" y="16002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852160" y="1600200"/>
            <a:ext cx="868680" cy="365760"/>
          </a:xfrm>
          <a:prstGeom prst="rect">
            <a:avLst/>
          </a:prstGeom>
          <a:solidFill>
            <a:srgbClr val="F7F8F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852160" y="16002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"John"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983480" y="2039112"/>
            <a:ext cx="868680" cy="365760"/>
          </a:xfrm>
          <a:prstGeom prst="rect">
            <a:avLst/>
          </a:prstGeom>
          <a:solidFill>
            <a:srgbClr val="F1E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983480" y="20391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852160" y="2039112"/>
            <a:ext cx="868680" cy="365760"/>
          </a:xfrm>
          <a:prstGeom prst="rect">
            <a:avLst/>
          </a:prstGeom>
          <a:solidFill>
            <a:srgbClr val="F7F8F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852160" y="20391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"Doe"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983480" y="2478024"/>
            <a:ext cx="868680" cy="365760"/>
          </a:xfrm>
          <a:prstGeom prst="rect">
            <a:avLst/>
          </a:prstGeom>
          <a:solidFill>
            <a:srgbClr val="F1E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4983480" y="24780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852160" y="2478024"/>
            <a:ext cx="868680" cy="365760"/>
          </a:xfrm>
          <a:prstGeom prst="rect">
            <a:avLst/>
          </a:prstGeom>
          <a:solidFill>
            <a:srgbClr val="F7F8F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852160" y="24780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983480" y="2916936"/>
            <a:ext cx="868680" cy="365760"/>
          </a:xfrm>
          <a:prstGeom prst="rect">
            <a:avLst/>
          </a:prstGeom>
          <a:solidFill>
            <a:srgbClr val="F1E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983480" y="291693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fullName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852160" y="2916936"/>
            <a:ext cx="868680" cy="365760"/>
          </a:xfrm>
          <a:prstGeom prst="rect">
            <a:avLst/>
          </a:prstGeom>
          <a:solidFill>
            <a:srgbClr val="66339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5852160" y="291693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ƒ ()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086600" y="1188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086600" y="1444752"/>
            <a:ext cx="1600200" cy="329184"/>
          </a:xfrm>
          <a:prstGeom prst="roundRect">
            <a:avLst>
              <a:gd name="adj" fmla="val 13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7086600" y="14447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person.firstName</a:t>
            </a:r>
            <a:endParaRPr lang="en-US" sz="850" dirty="0"/>
          </a:p>
        </p:txBody>
      </p:sp>
      <p:sp>
        <p:nvSpPr>
          <p:cNvPr id="36" name="anim-1-21"/>
          <p:cNvSpPr txBox="1"/>
          <p:nvPr/>
        </p:nvSpPr>
        <p:spPr>
          <a:xfrm>
            <a:off x="7086600" y="179222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"John"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086600" y="2130552"/>
            <a:ext cx="1600200" cy="329184"/>
          </a:xfrm>
          <a:prstGeom prst="roundRect">
            <a:avLst>
              <a:gd name="adj" fmla="val 13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7086600" y="21305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person["lastName"]</a:t>
            </a:r>
            <a:endParaRPr lang="en-US" sz="850" dirty="0"/>
          </a:p>
        </p:txBody>
      </p:sp>
      <p:sp>
        <p:nvSpPr>
          <p:cNvPr id="39" name="anim-2-22"/>
          <p:cNvSpPr txBox="1"/>
          <p:nvPr/>
        </p:nvSpPr>
        <p:spPr>
          <a:xfrm>
            <a:off x="7086600" y="247802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"Doe"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086600" y="2816352"/>
            <a:ext cx="1600200" cy="329184"/>
          </a:xfrm>
          <a:prstGeom prst="roundRect">
            <a:avLst>
              <a:gd name="adj" fmla="val 13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7086600" y="28163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person.fullName()</a:t>
            </a:r>
            <a:endParaRPr lang="en-US" sz="850" dirty="0"/>
          </a:p>
        </p:txBody>
      </p:sp>
      <p:sp>
        <p:nvSpPr>
          <p:cNvPr id="42" name="anim-3-23"/>
          <p:cNvSpPr txBox="1"/>
          <p:nvPr/>
        </p:nvSpPr>
        <p:spPr>
          <a:xfrm>
            <a:off x="7086600" y="316382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"John Doe"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846320" y="361188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 txBox="1"/>
          <p:nvPr/>
        </p:nvSpPr>
        <p:spPr>
          <a:xfrm>
            <a:off x="5001768" y="3611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method, </a:t>
            </a:r>
            <a:r>
              <a:rPr lang="en-US" sz="11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means "the object that owns the method", so this.firstName is "John".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9" grpId="0" animBg="1"/>
      <p:bldP spid="4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of objects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usually combines both: an array where every element is an object.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4572000" cy="2194560"/>
          </a:xfrm>
          <a:prstGeom prst="roundRect">
            <a:avLst>
              <a:gd name="adj" fmla="val 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6550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16550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16550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160934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students.js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1883664"/>
            <a:ext cx="42976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"Rahim"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3.80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"Karim"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3.45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"Nadia"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3.92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886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4096512"/>
            <a:ext cx="4572000" cy="521208"/>
          </a:xfrm>
          <a:prstGeom prst="roundRect">
            <a:avLst>
              <a:gd name="adj" fmla="val 8772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94360" y="4096512"/>
            <a:ext cx="4389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Rahim: 3.8    Karim: 3.45    Nadia: 3.92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1554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850" dirty="0"/>
          </a:p>
        </p:txBody>
      </p:sp>
      <p:sp>
        <p:nvSpPr>
          <p:cNvPr id="19" name="anim-1-24"/>
          <p:cNvSpPr txBox="1"/>
          <p:nvPr/>
        </p:nvSpPr>
        <p:spPr>
          <a:xfrm>
            <a:off x="5303520" y="1810512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100" dirty="0"/>
          </a:p>
        </p:txBody>
      </p:sp>
      <p:sp>
        <p:nvSpPr>
          <p:cNvPr id="20" name="anim-1-24"/>
          <p:cNvSpPr/>
          <p:nvPr/>
        </p:nvSpPr>
        <p:spPr>
          <a:xfrm>
            <a:off x="5760720" y="1810512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anim-1-24"/>
          <p:cNvSpPr txBox="1"/>
          <p:nvPr/>
        </p:nvSpPr>
        <p:spPr>
          <a:xfrm>
            <a:off x="5897880" y="18105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"Rahim"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cgpa: </a:t>
            </a:r>
            <a:r>
              <a:rPr lang="en-US" sz="105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3.80</a:t>
            </a:r>
            <a:endParaRPr lang="en-US" sz="1050" dirty="0"/>
          </a:p>
        </p:txBody>
      </p:sp>
      <p:sp>
        <p:nvSpPr>
          <p:cNvPr id="22" name="anim-2-25"/>
          <p:cNvSpPr txBox="1"/>
          <p:nvPr/>
        </p:nvSpPr>
        <p:spPr>
          <a:xfrm>
            <a:off x="5303520" y="265176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00" dirty="0"/>
          </a:p>
        </p:txBody>
      </p:sp>
      <p:sp>
        <p:nvSpPr>
          <p:cNvPr id="23" name="anim-2-25"/>
          <p:cNvSpPr/>
          <p:nvPr/>
        </p:nvSpPr>
        <p:spPr>
          <a:xfrm>
            <a:off x="5760720" y="26517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nim-2-25"/>
          <p:cNvSpPr txBox="1"/>
          <p:nvPr/>
        </p:nvSpPr>
        <p:spPr>
          <a:xfrm>
            <a:off x="5897880" y="2651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"Karim"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cgpa: </a:t>
            </a:r>
            <a:r>
              <a:rPr lang="en-US" sz="105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3.45</a:t>
            </a:r>
            <a:endParaRPr lang="en-US" sz="1050" dirty="0"/>
          </a:p>
        </p:txBody>
      </p:sp>
      <p:sp>
        <p:nvSpPr>
          <p:cNvPr id="25" name="anim-3-26"/>
          <p:cNvSpPr txBox="1"/>
          <p:nvPr/>
        </p:nvSpPr>
        <p:spPr>
          <a:xfrm>
            <a:off x="5303520" y="3493008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100" dirty="0"/>
          </a:p>
        </p:txBody>
      </p:sp>
      <p:sp>
        <p:nvSpPr>
          <p:cNvPr id="26" name="anim-3-26"/>
          <p:cNvSpPr/>
          <p:nvPr/>
        </p:nvSpPr>
        <p:spPr>
          <a:xfrm>
            <a:off x="5760720" y="3493008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anim-3-26"/>
          <p:cNvSpPr txBox="1"/>
          <p:nvPr/>
        </p:nvSpPr>
        <p:spPr>
          <a:xfrm>
            <a:off x="5897880" y="349300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"Nadia"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cgpa: </a:t>
            </a:r>
            <a:r>
              <a:rPr lang="en-US" sz="105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3.92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HTML DOM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elements and changing them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DOM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DOM operations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builds the page as a tree of objects, the DOM. JavaScript uses the document object to find elements and change them.</a:t>
            </a:r>
            <a:endParaRPr lang="en-US" sz="1250" dirty="0"/>
          </a:p>
        </p:txBody>
      </p:sp>
      <p:sp>
        <p:nvSpPr>
          <p:cNvPr id="9" name="anim-1-27"/>
          <p:cNvSpPr/>
          <p:nvPr/>
        </p:nvSpPr>
        <p:spPr>
          <a:xfrm>
            <a:off x="457200" y="1737360"/>
            <a:ext cx="2624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anim-1-27"/>
          <p:cNvSpPr/>
          <p:nvPr/>
        </p:nvSpPr>
        <p:spPr>
          <a:xfrm>
            <a:off x="594360" y="1856232"/>
            <a:ext cx="329184" cy="32918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nim-1-27"/>
          <p:cNvSpPr txBox="1"/>
          <p:nvPr/>
        </p:nvSpPr>
        <p:spPr>
          <a:xfrm>
            <a:off x="594360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anim-1-27"/>
          <p:cNvSpPr txBox="1"/>
          <p:nvPr/>
        </p:nvSpPr>
        <p:spPr>
          <a:xfrm>
            <a:off x="1005840" y="185623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by id</a:t>
            </a:r>
            <a:endParaRPr lang="en-US" sz="1250" dirty="0"/>
          </a:p>
        </p:txBody>
      </p:sp>
      <p:sp>
        <p:nvSpPr>
          <p:cNvPr id="13" name="anim-1-27"/>
          <p:cNvSpPr/>
          <p:nvPr/>
        </p:nvSpPr>
        <p:spPr>
          <a:xfrm>
            <a:off x="566928" y="2304288"/>
            <a:ext cx="2404872" cy="603504"/>
          </a:xfrm>
          <a:prstGeom prst="roundRect">
            <a:avLst>
              <a:gd name="adj" fmla="val 757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nim-1-27"/>
          <p:cNvSpPr txBox="1"/>
          <p:nvPr/>
        </p:nvSpPr>
        <p:spPr>
          <a:xfrm>
            <a:off x="640080" y="230428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document.getElementById("demo")</a:t>
            </a:r>
            <a:endParaRPr lang="en-US" sz="850" dirty="0"/>
          </a:p>
        </p:txBody>
      </p:sp>
      <p:sp>
        <p:nvSpPr>
          <p:cNvPr id="15" name="anim-2-28"/>
          <p:cNvSpPr/>
          <p:nvPr/>
        </p:nvSpPr>
        <p:spPr>
          <a:xfrm>
            <a:off x="3264408" y="1737360"/>
            <a:ext cx="2624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nim-2-28"/>
          <p:cNvSpPr/>
          <p:nvPr/>
        </p:nvSpPr>
        <p:spPr>
          <a:xfrm>
            <a:off x="3401568" y="1856232"/>
            <a:ext cx="329184" cy="32918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2-28"/>
          <p:cNvSpPr txBox="1"/>
          <p:nvPr/>
        </p:nvSpPr>
        <p:spPr>
          <a:xfrm>
            <a:off x="3401568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anim-2-28"/>
          <p:cNvSpPr txBox="1"/>
          <p:nvPr/>
        </p:nvSpPr>
        <p:spPr>
          <a:xfrm>
            <a:off x="3813048" y="185623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by CSS selector</a:t>
            </a:r>
            <a:endParaRPr lang="en-US" sz="1250" dirty="0"/>
          </a:p>
        </p:txBody>
      </p:sp>
      <p:sp>
        <p:nvSpPr>
          <p:cNvPr id="19" name="anim-2-28"/>
          <p:cNvSpPr/>
          <p:nvPr/>
        </p:nvSpPr>
        <p:spPr>
          <a:xfrm>
            <a:off x="3374136" y="2304288"/>
            <a:ext cx="2404872" cy="603504"/>
          </a:xfrm>
          <a:prstGeom prst="roundRect">
            <a:avLst>
              <a:gd name="adj" fmla="val 757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im-2-28"/>
          <p:cNvSpPr txBox="1"/>
          <p:nvPr/>
        </p:nvSpPr>
        <p:spPr>
          <a:xfrm>
            <a:off x="3447288" y="230428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document.querySelector(".card p")</a:t>
            </a:r>
            <a:endParaRPr lang="en-US" sz="850" dirty="0"/>
          </a:p>
        </p:txBody>
      </p:sp>
      <p:sp>
        <p:nvSpPr>
          <p:cNvPr id="21" name="anim-3-29"/>
          <p:cNvSpPr/>
          <p:nvPr/>
        </p:nvSpPr>
        <p:spPr>
          <a:xfrm>
            <a:off x="6071616" y="1737360"/>
            <a:ext cx="2624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anim-3-29"/>
          <p:cNvSpPr/>
          <p:nvPr/>
        </p:nvSpPr>
        <p:spPr>
          <a:xfrm>
            <a:off x="6208776" y="1856232"/>
            <a:ext cx="329184" cy="32918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im-3-29"/>
          <p:cNvSpPr txBox="1"/>
          <p:nvPr/>
        </p:nvSpPr>
        <p:spPr>
          <a:xfrm>
            <a:off x="6208776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anim-3-29"/>
          <p:cNvSpPr txBox="1"/>
          <p:nvPr/>
        </p:nvSpPr>
        <p:spPr>
          <a:xfrm>
            <a:off x="6620256" y="185623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content</a:t>
            </a:r>
            <a:endParaRPr lang="en-US" sz="1250" dirty="0"/>
          </a:p>
        </p:txBody>
      </p:sp>
      <p:sp>
        <p:nvSpPr>
          <p:cNvPr id="25" name="anim-3-29"/>
          <p:cNvSpPr/>
          <p:nvPr/>
        </p:nvSpPr>
        <p:spPr>
          <a:xfrm>
            <a:off x="6181344" y="2304288"/>
            <a:ext cx="2404872" cy="603504"/>
          </a:xfrm>
          <a:prstGeom prst="roundRect">
            <a:avLst>
              <a:gd name="adj" fmla="val 757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nim-3-29"/>
          <p:cNvSpPr txBox="1"/>
          <p:nvPr/>
        </p:nvSpPr>
        <p:spPr>
          <a:xfrm>
            <a:off x="6254496" y="230428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el.innerHTML = "Hello";</a:t>
            </a:r>
            <a:endParaRPr lang="en-US" sz="850" dirty="0"/>
          </a:p>
        </p:txBody>
      </p:sp>
      <p:sp>
        <p:nvSpPr>
          <p:cNvPr id="27" name="anim-4-30"/>
          <p:cNvSpPr/>
          <p:nvPr/>
        </p:nvSpPr>
        <p:spPr>
          <a:xfrm>
            <a:off x="457200" y="3200400"/>
            <a:ext cx="2624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anim-4-30"/>
          <p:cNvSpPr/>
          <p:nvPr/>
        </p:nvSpPr>
        <p:spPr>
          <a:xfrm>
            <a:off x="594360" y="3319272"/>
            <a:ext cx="329184" cy="32918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nim-4-30"/>
          <p:cNvSpPr txBox="1"/>
          <p:nvPr/>
        </p:nvSpPr>
        <p:spPr>
          <a:xfrm>
            <a:off x="59436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anim-4-30"/>
          <p:cNvSpPr txBox="1"/>
          <p:nvPr/>
        </p:nvSpPr>
        <p:spPr>
          <a:xfrm>
            <a:off x="1005840" y="33192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an input</a:t>
            </a:r>
            <a:endParaRPr lang="en-US" sz="1250" dirty="0"/>
          </a:p>
        </p:txBody>
      </p:sp>
      <p:sp>
        <p:nvSpPr>
          <p:cNvPr id="31" name="anim-4-30"/>
          <p:cNvSpPr/>
          <p:nvPr/>
        </p:nvSpPr>
        <p:spPr>
          <a:xfrm>
            <a:off x="566928" y="3767328"/>
            <a:ext cx="2404872" cy="603504"/>
          </a:xfrm>
          <a:prstGeom prst="roundRect">
            <a:avLst>
              <a:gd name="adj" fmla="val 757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anim-4-30"/>
          <p:cNvSpPr txBox="1"/>
          <p:nvPr/>
        </p:nvSpPr>
        <p:spPr>
          <a:xfrm>
            <a:off x="640080" y="376732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el.value;</a:t>
            </a:r>
            <a:endParaRPr lang="en-US" sz="850" dirty="0"/>
          </a:p>
        </p:txBody>
      </p:sp>
      <p:sp>
        <p:nvSpPr>
          <p:cNvPr id="33" name="anim-5-31"/>
          <p:cNvSpPr/>
          <p:nvPr/>
        </p:nvSpPr>
        <p:spPr>
          <a:xfrm>
            <a:off x="3264408" y="3200400"/>
            <a:ext cx="2624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anim-5-31"/>
          <p:cNvSpPr/>
          <p:nvPr/>
        </p:nvSpPr>
        <p:spPr>
          <a:xfrm>
            <a:off x="3401568" y="3319272"/>
            <a:ext cx="329184" cy="32918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nim-5-31"/>
          <p:cNvSpPr txBox="1"/>
          <p:nvPr/>
        </p:nvSpPr>
        <p:spPr>
          <a:xfrm>
            <a:off x="3401568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anim-5-31"/>
          <p:cNvSpPr txBox="1"/>
          <p:nvPr/>
        </p:nvSpPr>
        <p:spPr>
          <a:xfrm>
            <a:off x="3813048" y="33192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style</a:t>
            </a:r>
            <a:endParaRPr lang="en-US" sz="1250" dirty="0"/>
          </a:p>
        </p:txBody>
      </p:sp>
      <p:sp>
        <p:nvSpPr>
          <p:cNvPr id="37" name="anim-5-31"/>
          <p:cNvSpPr/>
          <p:nvPr/>
        </p:nvSpPr>
        <p:spPr>
          <a:xfrm>
            <a:off x="3374136" y="3767328"/>
            <a:ext cx="2404872" cy="603504"/>
          </a:xfrm>
          <a:prstGeom prst="roundRect">
            <a:avLst>
              <a:gd name="adj" fmla="val 757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anim-5-31"/>
          <p:cNvSpPr txBox="1"/>
          <p:nvPr/>
        </p:nvSpPr>
        <p:spPr>
          <a:xfrm>
            <a:off x="3447288" y="376732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el.style.color = "red";</a:t>
            </a:r>
            <a:endParaRPr lang="en-US" sz="850" dirty="0"/>
          </a:p>
        </p:txBody>
      </p:sp>
      <p:sp>
        <p:nvSpPr>
          <p:cNvPr id="39" name="anim-6-32"/>
          <p:cNvSpPr/>
          <p:nvPr/>
        </p:nvSpPr>
        <p:spPr>
          <a:xfrm>
            <a:off x="6071616" y="3200400"/>
            <a:ext cx="2624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anim-6-32"/>
          <p:cNvSpPr/>
          <p:nvPr/>
        </p:nvSpPr>
        <p:spPr>
          <a:xfrm>
            <a:off x="6208776" y="3319272"/>
            <a:ext cx="329184" cy="32918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anim-6-32"/>
          <p:cNvSpPr txBox="1"/>
          <p:nvPr/>
        </p:nvSpPr>
        <p:spPr>
          <a:xfrm>
            <a:off x="6208776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anim-6-32"/>
          <p:cNvSpPr txBox="1"/>
          <p:nvPr/>
        </p:nvSpPr>
        <p:spPr>
          <a:xfrm>
            <a:off x="6620256" y="33192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new element</a:t>
            </a:r>
            <a:endParaRPr lang="en-US" sz="1250" dirty="0"/>
          </a:p>
        </p:txBody>
      </p:sp>
      <p:sp>
        <p:nvSpPr>
          <p:cNvPr id="43" name="anim-6-32"/>
          <p:cNvSpPr/>
          <p:nvPr/>
        </p:nvSpPr>
        <p:spPr>
          <a:xfrm>
            <a:off x="6181344" y="3767328"/>
            <a:ext cx="2404872" cy="603504"/>
          </a:xfrm>
          <a:prstGeom prst="roundRect">
            <a:avLst>
              <a:gd name="adj" fmla="val 757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anim-6-32"/>
          <p:cNvSpPr txBox="1"/>
          <p:nvPr/>
        </p:nvSpPr>
        <p:spPr>
          <a:xfrm>
            <a:off x="6254496" y="376732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 = document.createElement("li");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list.appendChild(li);</a:t>
            </a:r>
            <a:endParaRPr lang="en-US" sz="7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DOM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Changing CSS with the DOM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HTML DOM lets JavaScript change the style of any HTML element: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</a:t>
            </a:r>
            <a:r>
              <a:rPr lang="en-US" sz="15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5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).style.</a:t>
            </a:r>
            <a:r>
              <a:rPr lang="en-US" sz="150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</a:t>
            </a:r>
            <a:r>
              <a:rPr lang="en-US" sz="15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5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style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4884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4360" y="22494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40664" y="22494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86968" y="22494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94360" y="2478024"/>
            <a:ext cx="42976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</a:t>
            </a: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"id1"</a:t>
            </a: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Heading 1</a:t>
            </a: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"button"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onclick="document.getElementById('id1').style.color = 'red'"&gt;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 Me!</a:t>
            </a: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257800" y="214884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367528" y="224028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486400" y="224028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605272" y="224028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806440" y="220370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897880" y="220827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294376" y="2423160"/>
            <a:ext cx="3355848" cy="11064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431536" y="2496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Heading 1</a:t>
            </a:r>
            <a:endParaRPr lang="en-US" sz="1800" dirty="0"/>
          </a:p>
        </p:txBody>
      </p:sp>
      <p:sp>
        <p:nvSpPr>
          <p:cNvPr id="24" name="anim-1-33"/>
          <p:cNvSpPr/>
          <p:nvPr/>
        </p:nvSpPr>
        <p:spPr>
          <a:xfrm>
            <a:off x="5385816" y="2496312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1-33"/>
          <p:cNvSpPr txBox="1"/>
          <p:nvPr/>
        </p:nvSpPr>
        <p:spPr>
          <a:xfrm>
            <a:off x="5431536" y="2496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Heading 1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31536" y="3063240"/>
            <a:ext cx="777240" cy="246888"/>
          </a:xfrm>
          <a:prstGeom prst="roundRect">
            <a:avLst>
              <a:gd name="adj" fmla="val 11111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5431536" y="306324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Me!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300216" y="3081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"press" the button.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3749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NAME → DOM PROPERTY (camelCase)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95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1828800" y="3977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r>
              <a:rPr lang="en-US" sz="95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backgroundColor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70916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r>
              <a:rPr lang="en-US" sz="95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62940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95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endParaRPr lang="en-US" sz="950" dirty="0"/>
          </a:p>
        </p:txBody>
      </p:sp>
      <p:sp>
        <p:nvSpPr>
          <p:cNvPr id="34" name="btn">
            <a:hlinkClick r:id="rId5"/>
          </p:cNvPr>
          <p:cNvSpPr/>
          <p:nvPr/>
        </p:nvSpPr>
        <p:spPr>
          <a:xfrm>
            <a:off x="457200" y="434340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style properties  →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Validation and Debugging</a:t>
            </a:r>
            <a:endParaRPr lang="en-US" sz="2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input before it is sent, and finding bugs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VALIDATION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JavaScript validation works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form has an event called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onsubmit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which runs when the form is submitted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function returns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if the values are valid, otherwise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 returns true, the form is sent; if false, sending is cancelled</a:t>
            </a:r>
            <a:endParaRPr lang="en-US" sz="1250" dirty="0"/>
          </a:p>
        </p:txBody>
      </p:sp>
      <p:sp>
        <p:nvSpPr>
          <p:cNvPr id="9" name="anim-1-34"/>
          <p:cNvSpPr/>
          <p:nvPr/>
        </p:nvSpPr>
        <p:spPr>
          <a:xfrm>
            <a:off x="457200" y="23774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anim-1-34"/>
          <p:cNvSpPr/>
          <p:nvPr/>
        </p:nvSpPr>
        <p:spPr>
          <a:xfrm>
            <a:off x="594360" y="257860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anim-1-3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" y="2721254"/>
            <a:ext cx="263347" cy="263347"/>
          </a:xfrm>
          <a:prstGeom prst="rect">
            <a:avLst/>
          </a:prstGeom>
        </p:spPr>
      </p:pic>
      <p:sp>
        <p:nvSpPr>
          <p:cNvPr id="12" name="anim-1-34"/>
          <p:cNvSpPr txBox="1"/>
          <p:nvPr/>
        </p:nvSpPr>
        <p:spPr>
          <a:xfrm>
            <a:off x="1234440" y="237744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clicks Submit</a:t>
            </a:r>
            <a:endParaRPr lang="en-US" sz="1150" dirty="0"/>
          </a:p>
        </p:txBody>
      </p:sp>
      <p:sp>
        <p:nvSpPr>
          <p:cNvPr id="13" name="anim-2-35"/>
          <p:cNvSpPr txBox="1"/>
          <p:nvPr/>
        </p:nvSpPr>
        <p:spPr>
          <a:xfrm>
            <a:off x="2331720" y="2377440"/>
            <a:ext cx="274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anim-2-36"/>
          <p:cNvSpPr/>
          <p:nvPr/>
        </p:nvSpPr>
        <p:spPr>
          <a:xfrm>
            <a:off x="2606040" y="23774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anim-2-36"/>
          <p:cNvSpPr/>
          <p:nvPr/>
        </p:nvSpPr>
        <p:spPr>
          <a:xfrm>
            <a:off x="2743200" y="257860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anim-2-3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5846" y="2721254"/>
            <a:ext cx="263347" cy="263347"/>
          </a:xfrm>
          <a:prstGeom prst="rect">
            <a:avLst/>
          </a:prstGeom>
        </p:spPr>
      </p:pic>
      <p:sp>
        <p:nvSpPr>
          <p:cNvPr id="17" name="anim-2-36"/>
          <p:cNvSpPr txBox="1"/>
          <p:nvPr/>
        </p:nvSpPr>
        <p:spPr>
          <a:xfrm>
            <a:off x="3383280" y="237744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onsubmit runs validateForm()</a:t>
            </a:r>
            <a:endParaRPr lang="en-US" sz="1150" dirty="0"/>
          </a:p>
        </p:txBody>
      </p:sp>
      <p:sp>
        <p:nvSpPr>
          <p:cNvPr id="18" name="anim-3-37"/>
          <p:cNvSpPr txBox="1"/>
          <p:nvPr/>
        </p:nvSpPr>
        <p:spPr>
          <a:xfrm>
            <a:off x="4480560" y="2377440"/>
            <a:ext cx="274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anim-3-38"/>
          <p:cNvSpPr/>
          <p:nvPr/>
        </p:nvSpPr>
        <p:spPr>
          <a:xfrm>
            <a:off x="4754880" y="23774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anim-3-38"/>
          <p:cNvSpPr/>
          <p:nvPr/>
        </p:nvSpPr>
        <p:spPr>
          <a:xfrm>
            <a:off x="4892040" y="2578608"/>
            <a:ext cx="548640" cy="54864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anim-3-3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4686" y="2721254"/>
            <a:ext cx="263347" cy="263347"/>
          </a:xfrm>
          <a:prstGeom prst="rect">
            <a:avLst/>
          </a:prstGeom>
        </p:spPr>
      </p:pic>
      <p:sp>
        <p:nvSpPr>
          <p:cNvPr id="22" name="anim-3-38"/>
          <p:cNvSpPr txBox="1"/>
          <p:nvPr/>
        </p:nvSpPr>
        <p:spPr>
          <a:xfrm>
            <a:off x="5532120" y="237744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 valid?</a:t>
            </a:r>
            <a:endParaRPr lang="en-US" sz="1150" dirty="0"/>
          </a:p>
        </p:txBody>
      </p:sp>
      <p:sp>
        <p:nvSpPr>
          <p:cNvPr id="23" name="anim-4-39"/>
          <p:cNvSpPr/>
          <p:nvPr/>
        </p:nvSpPr>
        <p:spPr>
          <a:xfrm>
            <a:off x="6537960" y="2651760"/>
            <a:ext cx="365760" cy="914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anim-4-39"/>
          <p:cNvSpPr/>
          <p:nvPr/>
        </p:nvSpPr>
        <p:spPr>
          <a:xfrm>
            <a:off x="6949440" y="23317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6F5EE"/>
          </a:solidFill>
          <a:ln w="9525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4-39"/>
          <p:cNvSpPr txBox="1"/>
          <p:nvPr/>
        </p:nvSpPr>
        <p:spPr>
          <a:xfrm>
            <a:off x="7040880" y="23317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is sent</a:t>
            </a:r>
            <a:endParaRPr lang="en-US" sz="1200" dirty="0"/>
          </a:p>
        </p:txBody>
      </p:sp>
      <p:sp>
        <p:nvSpPr>
          <p:cNvPr id="26" name="anim-5-40"/>
          <p:cNvSpPr/>
          <p:nvPr/>
        </p:nvSpPr>
        <p:spPr>
          <a:xfrm>
            <a:off x="6537960" y="3108960"/>
            <a:ext cx="365760" cy="320040"/>
          </a:xfrm>
          <a:prstGeom prst="line">
            <a:avLst/>
          </a:prstGeom>
          <a:noFill/>
          <a:ln w="25400">
            <a:solidFill>
              <a:srgbClr val="D6454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anim-5-40"/>
          <p:cNvSpPr/>
          <p:nvPr/>
        </p:nvSpPr>
        <p:spPr>
          <a:xfrm>
            <a:off x="6949440" y="31546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 w="9525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nim-5-40"/>
          <p:cNvSpPr txBox="1"/>
          <p:nvPr/>
        </p:nvSpPr>
        <p:spPr>
          <a:xfrm>
            <a:off x="7040880" y="31546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error, stay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CF3DE"/>
          </a:solidFill>
          <a:ln w="9525">
            <a:solidFill>
              <a:srgbClr val="FCF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Remember: 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checks improve the experience, but users can switch JavaScript off. Always validate again on the server.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VALIDATION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validation example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484632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validateForm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fname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lname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"lname"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fname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lname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 must be filled out"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"myForm"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"/action_page.php"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onsubmit="return validateForm()" method="post"&gt;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 Name: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&gt;&lt;br&gt;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 Name: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"lname"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"lname"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&gt;&lt;br&gt;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950" dirty="0"/>
          </a:p>
        </p:txBody>
      </p:sp>
      <p:sp>
        <p:nvSpPr>
          <p:cNvPr id="14" name="anim-1-41"/>
          <p:cNvSpPr/>
          <p:nvPr/>
        </p:nvSpPr>
        <p:spPr>
          <a:xfrm>
            <a:off x="5806440" y="1188720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anim-1-41"/>
          <p:cNvSpPr txBox="1"/>
          <p:nvPr/>
        </p:nvSpPr>
        <p:spPr>
          <a:xfrm>
            <a:off x="5943600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.value</a:t>
            </a:r>
            <a:endParaRPr lang="en-US" sz="1000" dirty="0"/>
          </a:p>
        </p:txBody>
      </p:sp>
      <p:sp>
        <p:nvSpPr>
          <p:cNvPr id="16" name="anim-1-41"/>
          <p:cNvSpPr txBox="1"/>
          <p:nvPr/>
        </p:nvSpPr>
        <p:spPr>
          <a:xfrm>
            <a:off x="5943600" y="1536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what the user typed into each box</a:t>
            </a:r>
            <a:endParaRPr lang="en-US" sz="1050" dirty="0"/>
          </a:p>
        </p:txBody>
      </p:sp>
      <p:sp>
        <p:nvSpPr>
          <p:cNvPr id="17" name="anim-2-42"/>
          <p:cNvSpPr/>
          <p:nvPr/>
        </p:nvSpPr>
        <p:spPr>
          <a:xfrm>
            <a:off x="5806440" y="2057400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anim-2-42"/>
          <p:cNvSpPr txBox="1"/>
          <p:nvPr/>
        </p:nvSpPr>
        <p:spPr>
          <a:xfrm>
            <a:off x="5943600" y="2121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fname == "" || ...</a:t>
            </a:r>
            <a:endParaRPr lang="en-US" sz="1000" dirty="0"/>
          </a:p>
        </p:txBody>
      </p:sp>
      <p:sp>
        <p:nvSpPr>
          <p:cNvPr id="19" name="anim-2-42"/>
          <p:cNvSpPr txBox="1"/>
          <p:nvPr/>
        </p:nvSpPr>
        <p:spPr>
          <a:xfrm>
            <a:off x="5943600" y="24048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if either name is empty</a:t>
            </a:r>
            <a:endParaRPr lang="en-US" sz="1050" dirty="0"/>
          </a:p>
        </p:txBody>
      </p:sp>
      <p:sp>
        <p:nvSpPr>
          <p:cNvPr id="20" name="anim-3-43"/>
          <p:cNvSpPr/>
          <p:nvPr/>
        </p:nvSpPr>
        <p:spPr>
          <a:xfrm>
            <a:off x="5806440" y="2926080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anim-3-43"/>
          <p:cNvSpPr txBox="1"/>
          <p:nvPr/>
        </p:nvSpPr>
        <p:spPr>
          <a:xfrm>
            <a:off x="5943600" y="2990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false</a:t>
            </a:r>
            <a:endParaRPr lang="en-US" sz="1000" dirty="0"/>
          </a:p>
        </p:txBody>
      </p:sp>
      <p:sp>
        <p:nvSpPr>
          <p:cNvPr id="22" name="anim-3-43"/>
          <p:cNvSpPr txBox="1"/>
          <p:nvPr/>
        </p:nvSpPr>
        <p:spPr>
          <a:xfrm>
            <a:off x="5943600" y="3273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cancels sending the form</a:t>
            </a:r>
            <a:endParaRPr lang="en-US" sz="1050" dirty="0"/>
          </a:p>
        </p:txBody>
      </p:sp>
      <p:sp>
        <p:nvSpPr>
          <p:cNvPr id="23" name="anim-4-44"/>
          <p:cNvSpPr/>
          <p:nvPr/>
        </p:nvSpPr>
        <p:spPr>
          <a:xfrm>
            <a:off x="5806440" y="3794760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nim-4-44"/>
          <p:cNvSpPr txBox="1"/>
          <p:nvPr/>
        </p:nvSpPr>
        <p:spPr>
          <a:xfrm>
            <a:off x="5943600" y="3858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onsubmit="return ..."</a:t>
            </a:r>
            <a:endParaRPr lang="en-US" sz="1000" dirty="0"/>
          </a:p>
        </p:txBody>
      </p:sp>
      <p:sp>
        <p:nvSpPr>
          <p:cNvPr id="25" name="anim-4-44"/>
          <p:cNvSpPr txBox="1"/>
          <p:nvPr/>
        </p:nvSpPr>
        <p:spPr>
          <a:xfrm>
            <a:off x="5943600" y="4142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return is needed, or false is ignored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VALIDATION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try submitting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one of the buttons to see what validateForm() does with each form.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508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last name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3977640" cy="1600200"/>
          </a:xfrm>
          <a:prstGeom prst="roundRect">
            <a:avLst>
              <a:gd name="adj" fmla="val 3429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66928" y="1920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85800" y="1920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04672" y="1920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05840" y="188366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1097280" y="18882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493776" y="2103120"/>
            <a:ext cx="3904488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76656" y="22860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Name: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545336" y="2304288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591056" y="23042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Rahim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" y="26060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Last Name: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545336" y="2624328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76656" y="2971800"/>
            <a:ext cx="640080" cy="237744"/>
          </a:xfrm>
          <a:prstGeom prst="roundRect">
            <a:avLst>
              <a:gd name="adj" fmla="val 11538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76656" y="2971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900" dirty="0"/>
          </a:p>
        </p:txBody>
      </p:sp>
      <p:sp>
        <p:nvSpPr>
          <p:cNvPr id="24" name="btn">
            <a:hlinkClick r:id="rId5" action="ppaction://hlinksldjump"/>
          </p:cNvPr>
          <p:cNvSpPr/>
          <p:nvPr/>
        </p:nvSpPr>
        <p:spPr>
          <a:xfrm>
            <a:off x="457200" y="361188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  Submit this form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709160" y="1508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names filled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709160" y="1828800"/>
            <a:ext cx="3977640" cy="1600200"/>
          </a:xfrm>
          <a:prstGeom prst="roundRect">
            <a:avLst>
              <a:gd name="adj" fmla="val 3429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818888" y="1920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937760" y="1920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056632" y="1920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257800" y="188366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5349240" y="18882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4745736" y="2103120"/>
            <a:ext cx="3904488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4928616" y="22860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Name: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797296" y="2304288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5843016" y="23042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Rahim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4928616" y="26060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Last Name: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797296" y="2624328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5843016" y="26243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Uddin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928616" y="2971800"/>
            <a:ext cx="640080" cy="237744"/>
          </a:xfrm>
          <a:prstGeom prst="roundRect">
            <a:avLst>
              <a:gd name="adj" fmla="val 11538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4928616" y="2971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900" dirty="0"/>
          </a:p>
        </p:txBody>
      </p:sp>
      <p:sp>
        <p:nvSpPr>
          <p:cNvPr id="41" name="btn">
            <a:hlinkClick r:id="rId6" action="ppaction://hlinksldjump"/>
          </p:cNvPr>
          <p:cNvSpPr/>
          <p:nvPr/>
        </p:nvSpPr>
        <p:spPr>
          <a:xfrm>
            <a:off x="4709160" y="361188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  Submit this form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457200" y="4297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button shows the result on its own slide, with a way back.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VALIDATION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HTML5 validation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browsers can check many rules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any JavaScript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using attributes on the inputs: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4937760" cy="2103120"/>
          </a:xfrm>
          <a:prstGeom prst="roundRect">
            <a:avLst>
              <a:gd name="adj" fmla="val 347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6550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16550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16550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1883664"/>
            <a:ext cx="46634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"/action_page.php"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method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required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required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minlength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"8"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"120"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"phone"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pattern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"[0-9]{11}"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14" name="anim-1-45"/>
          <p:cNvSpPr/>
          <p:nvPr/>
        </p:nvSpPr>
        <p:spPr>
          <a:xfrm>
            <a:off x="5623560" y="155448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nim-1-45"/>
          <p:cNvSpPr txBox="1"/>
          <p:nvPr/>
        </p:nvSpPr>
        <p:spPr>
          <a:xfrm>
            <a:off x="5623560" y="15544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950" dirty="0"/>
          </a:p>
        </p:txBody>
      </p:sp>
      <p:sp>
        <p:nvSpPr>
          <p:cNvPr id="16" name="anim-1-45"/>
          <p:cNvSpPr txBox="1"/>
          <p:nvPr/>
        </p:nvSpPr>
        <p:spPr>
          <a:xfrm>
            <a:off x="7040880" y="1554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field cannot be empty</a:t>
            </a:r>
            <a:endParaRPr lang="en-US" sz="1050" dirty="0"/>
          </a:p>
        </p:txBody>
      </p:sp>
      <p:sp>
        <p:nvSpPr>
          <p:cNvPr id="17" name="anim-2-46"/>
          <p:cNvSpPr/>
          <p:nvPr/>
        </p:nvSpPr>
        <p:spPr>
          <a:xfrm>
            <a:off x="5623560" y="19842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im-2-46"/>
          <p:cNvSpPr txBox="1"/>
          <p:nvPr/>
        </p:nvSpPr>
        <p:spPr>
          <a:xfrm>
            <a:off x="5623560" y="19842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type="email"</a:t>
            </a:r>
            <a:endParaRPr lang="en-US" sz="950" dirty="0"/>
          </a:p>
        </p:txBody>
      </p:sp>
      <p:sp>
        <p:nvSpPr>
          <p:cNvPr id="19" name="anim-2-46"/>
          <p:cNvSpPr txBox="1"/>
          <p:nvPr/>
        </p:nvSpPr>
        <p:spPr>
          <a:xfrm>
            <a:off x="7040880" y="19842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look like an email address</a:t>
            </a:r>
            <a:endParaRPr lang="en-US" sz="1050" dirty="0"/>
          </a:p>
        </p:txBody>
      </p:sp>
      <p:sp>
        <p:nvSpPr>
          <p:cNvPr id="20" name="anim-3-47"/>
          <p:cNvSpPr/>
          <p:nvPr/>
        </p:nvSpPr>
        <p:spPr>
          <a:xfrm>
            <a:off x="5623560" y="241401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nim-3-47"/>
          <p:cNvSpPr txBox="1"/>
          <p:nvPr/>
        </p:nvSpPr>
        <p:spPr>
          <a:xfrm>
            <a:off x="5623560" y="241401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minlength</a:t>
            </a:r>
            <a:endParaRPr lang="en-US" sz="950" dirty="0"/>
          </a:p>
        </p:txBody>
      </p:sp>
      <p:sp>
        <p:nvSpPr>
          <p:cNvPr id="22" name="anim-3-47"/>
          <p:cNvSpPr txBox="1"/>
          <p:nvPr/>
        </p:nvSpPr>
        <p:spPr>
          <a:xfrm>
            <a:off x="7040880" y="24140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least this many characters</a:t>
            </a:r>
            <a:endParaRPr lang="en-US" sz="1050" dirty="0"/>
          </a:p>
        </p:txBody>
      </p:sp>
      <p:sp>
        <p:nvSpPr>
          <p:cNvPr id="23" name="anim-4-48"/>
          <p:cNvSpPr/>
          <p:nvPr/>
        </p:nvSpPr>
        <p:spPr>
          <a:xfrm>
            <a:off x="5623560" y="2843784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nim-4-48"/>
          <p:cNvSpPr txBox="1"/>
          <p:nvPr/>
        </p:nvSpPr>
        <p:spPr>
          <a:xfrm>
            <a:off x="5623560" y="28437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/ max</a:t>
            </a:r>
            <a:endParaRPr lang="en-US" sz="950" dirty="0"/>
          </a:p>
        </p:txBody>
      </p:sp>
      <p:sp>
        <p:nvSpPr>
          <p:cNvPr id="25" name="anim-4-48"/>
          <p:cNvSpPr txBox="1"/>
          <p:nvPr/>
        </p:nvSpPr>
        <p:spPr>
          <a:xfrm>
            <a:off x="7040880" y="28437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allowed number range</a:t>
            </a:r>
            <a:endParaRPr lang="en-US" sz="1050" dirty="0"/>
          </a:p>
        </p:txBody>
      </p:sp>
      <p:sp>
        <p:nvSpPr>
          <p:cNvPr id="26" name="anim-5-49"/>
          <p:cNvSpPr/>
          <p:nvPr/>
        </p:nvSpPr>
        <p:spPr>
          <a:xfrm>
            <a:off x="5623560" y="3273552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nim-5-49"/>
          <p:cNvSpPr txBox="1"/>
          <p:nvPr/>
        </p:nvSpPr>
        <p:spPr>
          <a:xfrm>
            <a:off x="5623560" y="32735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950" dirty="0"/>
          </a:p>
        </p:txBody>
      </p:sp>
      <p:sp>
        <p:nvSpPr>
          <p:cNvPr id="28" name="anim-5-49"/>
          <p:cNvSpPr txBox="1"/>
          <p:nvPr/>
        </p:nvSpPr>
        <p:spPr>
          <a:xfrm>
            <a:off x="7040880" y="32735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match a regular expression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HTML5 attributes for simple rules, and JavaScript for rules that compare fields, such as "Password and Confirm Password must match".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debugging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console.log()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displays JavaScript values in the debugger window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debugger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keyword stops execution and opens the debugger, if the developer tools are open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DevTools you can also click a line number to set a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breakpoint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31181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31181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31181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307238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3346704"/>
            <a:ext cx="37490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75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debugger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0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pauses here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"demo"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54880" y="1188720"/>
            <a:ext cx="3931920" cy="3429000"/>
          </a:xfrm>
          <a:prstGeom prst="roundRect">
            <a:avLst>
              <a:gd name="adj" fmla="val 16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6460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98348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10235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30352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39496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DevTools · Sources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4791456" y="1463040"/>
            <a:ext cx="3858768" cy="31181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91456" y="1463040"/>
            <a:ext cx="3858768" cy="3118104"/>
          </a:xfrm>
          <a:prstGeom prst="rect">
            <a:avLst/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791456" y="1463040"/>
            <a:ext cx="3858768" cy="320040"/>
          </a:xfrm>
          <a:prstGeom prst="rect">
            <a:avLst/>
          </a:prstGeom>
          <a:solidFill>
            <a:srgbClr val="FFF8C5"/>
          </a:solidFill>
          <a:ln w="12700">
            <a:solidFill>
              <a:srgbClr val="FFF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901184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Paused on debugger statement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4882896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5175504" y="1920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15 * 5;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4882896" y="21945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5175504" y="2194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console.log(x);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91456" y="2468880"/>
            <a:ext cx="385876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882896" y="24688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5175504" y="2468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debugger;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882896" y="274320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5175504" y="2743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document.getElementById(...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791456" y="3154680"/>
            <a:ext cx="3858768" cy="0"/>
          </a:xfrm>
          <a:prstGeom prst="line">
            <a:avLst/>
          </a:prstGeom>
          <a:noFill/>
          <a:ln w="9525">
            <a:solidFill>
              <a:srgbClr val="3C4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4901184" y="32186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DC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5020056" y="34564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x: 75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901184" y="37947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DC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5020056" y="40233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· QUIZ 3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800" dirty="0"/>
          </a:p>
        </p:txBody>
      </p:sp>
      <p:sp>
        <p:nvSpPr>
          <p:cNvPr id="6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validateForm() returns false. What happens to the form?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 answer to check it.</a:t>
            </a:r>
            <a:endParaRPr lang="en-US" sz="1000" dirty="0"/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sent anyway</a:t>
            </a:r>
            <a:endParaRPr lang="en-US" sz="1400" dirty="0"/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not sent, and the page stays</a:t>
            </a:r>
            <a:endParaRPr lang="en-US" sz="14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 reloads empty</a:t>
            </a:r>
            <a:endParaRPr lang="en-US" sz="1400" dirty="0"/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shows an error page</a:t>
            </a:r>
            <a:endParaRPr lang="en-US" sz="14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TASK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the registration page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291840" cy="3429000"/>
          </a:xfrm>
          <a:prstGeom prst="roundRect">
            <a:avLst>
              <a:gd name="adj" fmla="val 2222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15837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validateForm()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5603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registration page you built in Lab 01 and stop it from being sent with bad data.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Time: 35 minutes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023360" y="12618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448056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Name must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be empty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023360" y="18379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4480560" y="1764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must contain an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023360" y="24140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4480560" y="23408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must be at least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characters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023360" y="2990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4480560" y="29169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gender must be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023360" y="35661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4480560" y="3493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terms checkbox must be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ticked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023360" y="41422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4480560" y="4069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each error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red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next to its field, using element.style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TASK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to-do list with arrays and the DOM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4023360" cy="3474720"/>
          </a:xfrm>
          <a:prstGeom prst="roundRect">
            <a:avLst>
              <a:gd name="adj" fmla="val 1579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6928" y="1234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5800" y="1234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4672" y="1234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05840" y="119786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12024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todo.html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493776" y="1417320"/>
            <a:ext cx="3950208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813816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To-Do List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3816" y="2103120"/>
            <a:ext cx="1920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59536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milk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825496" y="2103120"/>
            <a:ext cx="457200" cy="256032"/>
          </a:xfrm>
          <a:prstGeom prst="roundRect">
            <a:avLst>
              <a:gd name="adj" fmla="val 10714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2825496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374136" y="210312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3374136" y="21031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last</a:t>
            </a:r>
            <a:endParaRPr lang="en-US" sz="850" dirty="0"/>
          </a:p>
        </p:txBody>
      </p:sp>
      <p:sp>
        <p:nvSpPr>
          <p:cNvPr id="22" name="anim-1-50"/>
          <p:cNvSpPr txBox="1"/>
          <p:nvPr/>
        </p:nvSpPr>
        <p:spPr>
          <a:xfrm>
            <a:off x="905256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Finish Lab 04</a:t>
            </a:r>
            <a:endParaRPr lang="en-US" sz="1100" dirty="0"/>
          </a:p>
        </p:txBody>
      </p:sp>
      <p:sp>
        <p:nvSpPr>
          <p:cNvPr id="23" name="anim-2-51"/>
          <p:cNvSpPr txBox="1"/>
          <p:nvPr/>
        </p:nvSpPr>
        <p:spPr>
          <a:xfrm>
            <a:off x="905256" y="2871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Push to GitHub</a:t>
            </a:r>
            <a:endParaRPr lang="en-US" sz="1100" dirty="0"/>
          </a:p>
        </p:txBody>
      </p:sp>
      <p:sp>
        <p:nvSpPr>
          <p:cNvPr id="24" name="anim-3-52"/>
          <p:cNvSpPr txBox="1"/>
          <p:nvPr/>
        </p:nvSpPr>
        <p:spPr>
          <a:xfrm>
            <a:off x="905256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Read about the DOM</a:t>
            </a:r>
            <a:endParaRPr lang="en-US" sz="1100" dirty="0"/>
          </a:p>
        </p:txBody>
      </p:sp>
      <p:sp>
        <p:nvSpPr>
          <p:cNvPr id="25" name="anim-3-53"/>
          <p:cNvSpPr txBox="1"/>
          <p:nvPr/>
        </p:nvSpPr>
        <p:spPr>
          <a:xfrm>
            <a:off x="813816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tasks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1143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754880" y="14447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212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tasks in an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754880" y="19751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5212080" y="19019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uses push();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last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uses pop()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754880" y="25054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5212080" y="24323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Ignore empty input, then clear the box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754880" y="3035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5212080" y="29626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Redraw the list with a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loop and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innerHTML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754880" y="35661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5212080" y="34930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count with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array.length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4754880" y="4096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521208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console.log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check the array while testing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 from this lab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1ECFA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21792" y="143560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2179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243584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compares with ===, so "0" and 0 do not match.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28032" y="143560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82803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40680" y="1243584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start at index 0; loop with for or forEach.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230428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1792" y="2551176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21792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2359152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pop()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returns the removed element;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push()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returns the new length.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663440" y="230428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1ECFA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28032" y="2551176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828032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40680" y="2359152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hold name: value pairs; methods use this.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" y="3419856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21792" y="366674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621792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3474720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any element with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document.getElementById(id).style.property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663440" y="3419856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828032" y="366674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828032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440680" y="3474720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onsubmit="return validateForm()"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return false stops the form. Validate on the server too.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READING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 and references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04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7548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1325880"/>
            <a:ext cx="438912" cy="43891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97" y="1439997"/>
            <a:ext cx="210678" cy="21067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13258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books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1874520"/>
            <a:ext cx="4389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Sams Teach Yourself Ajax, JavaScript and PHP All in One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Ballard and Moncur; Sams, 2010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Phrasebook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Christian Wenz; Sams, 2007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and MySQL Web Development, 4/E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Welling and Thomson; Addison-Wesley, 2009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for Programmers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P. J. Deitel and H. M. Deitel; Prentice Hall, 2009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Beginning PHP5, Apache, and MySQL Web Development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Naramore et al.; Wiley, 2005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in a Nutshell, 3/E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Harold and Means; O'Reilly, 2004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ONLINE: CLICK TO OPEN</a:t>
            </a:r>
            <a:endParaRPr lang="en-US" sz="850" dirty="0"/>
          </a:p>
        </p:txBody>
      </p:sp>
      <p:sp>
        <p:nvSpPr>
          <p:cNvPr id="14" name="btn">
            <a:hlinkClick r:id="rId6"/>
          </p:cNvPr>
          <p:cNvSpPr/>
          <p:nvPr/>
        </p:nvSpPr>
        <p:spPr>
          <a:xfrm>
            <a:off x="5486400" y="1463040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W3Schools JavaScript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www.w3schools.com/js/</a:t>
            </a:r>
            <a:endParaRPr lang="en-US" sz="1200" dirty="0"/>
          </a:p>
        </p:txBody>
      </p:sp>
      <p:sp>
        <p:nvSpPr>
          <p:cNvPr id="15" name="btn">
            <a:hlinkClick r:id="rId7"/>
          </p:cNvPr>
          <p:cNvSpPr/>
          <p:nvPr/>
        </p:nvSpPr>
        <p:spPr>
          <a:xfrm>
            <a:off x="5486400" y="2249424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W3Schools HTML DOM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www.w3schools.com/js/js_htmldom.asp</a:t>
            </a:r>
            <a:endParaRPr lang="en-US" sz="1200" dirty="0"/>
          </a:p>
        </p:txBody>
      </p:sp>
      <p:sp>
        <p:nvSpPr>
          <p:cNvPr id="16" name="btn">
            <a:hlinkClick r:id="rId8"/>
          </p:cNvPr>
          <p:cNvSpPr/>
          <p:nvPr/>
        </p:nvSpPr>
        <p:spPr>
          <a:xfrm>
            <a:off x="5486400" y="3035808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W3Schools Form Validation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www.w3schools.com/js/js_validation.asp</a:t>
            </a:r>
            <a:endParaRPr lang="en-US" sz="1200" dirty="0"/>
          </a:p>
        </p:txBody>
      </p:sp>
      <p:sp>
        <p:nvSpPr>
          <p:cNvPr id="17" name="btn">
            <a:hlinkClick r:id="rId9"/>
          </p:cNvPr>
          <p:cNvSpPr/>
          <p:nvPr/>
        </p:nvSpPr>
        <p:spPr>
          <a:xfrm>
            <a:off x="5486400" y="3822192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JavaScript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www.springboard.com/blog/history-of-javascript/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RESULT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validateForm() returned false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754880" cy="2743200"/>
          </a:xfrm>
          <a:prstGeom prst="roundRect">
            <a:avLst>
              <a:gd name="adj" fmla="val 20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692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8580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0584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09728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493776" y="1463040"/>
            <a:ext cx="4681728" cy="24323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76656" y="16459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Name: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545336" y="1664208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591056" y="16642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Rahim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" y="19659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Last Name: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545336" y="1984248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76656" y="2331720"/>
            <a:ext cx="640080" cy="237744"/>
          </a:xfrm>
          <a:prstGeom prst="roundRect">
            <a:avLst>
              <a:gd name="adj" fmla="val 11538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76656" y="23317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408176" y="201168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1545336" y="20848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page says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545336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must be filled out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739896" y="2624328"/>
            <a:ext cx="502920" cy="228600"/>
          </a:xfrm>
          <a:prstGeom prst="roundRect">
            <a:avLst>
              <a:gd name="adj" fmla="val 40000"/>
            </a:avLst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3739896" y="26243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486400" y="118872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FBEAEA"/>
          </a:solidFill>
          <a:ln w="9525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566928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0" y="164592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lname was "", so the if condition was true. The alert appeared, the function returned false, and the form was not sent.</a:t>
            </a:r>
            <a:endParaRPr lang="en-US" sz="1200" dirty="0"/>
          </a:p>
        </p:txBody>
      </p:sp>
      <p:sp>
        <p:nvSpPr>
          <p:cNvPr id="27" name="btn">
            <a:hlinkClick r:id="rId4" action="ppaction://hlinksldjump"/>
          </p:cNvPr>
          <p:cNvSpPr/>
          <p:nvPr/>
        </p:nvSpPr>
        <p:spPr>
          <a:xfrm>
            <a:off x="457200" y="41605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↺  Back to the demo</a:t>
            </a:r>
            <a:endParaRPr lang="en-US" sz="1100" dirty="0"/>
          </a:p>
        </p:txBody>
      </p:sp>
      <p:sp>
        <p:nvSpPr>
          <p:cNvPr id="28" name="btn">
            <a:hlinkClick r:id="rId5" action="ppaction://hlinksldjump"/>
          </p:cNvPr>
          <p:cNvSpPr/>
          <p:nvPr/>
        </p:nvSpPr>
        <p:spPr>
          <a:xfrm>
            <a:off x="2606040" y="416052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  ▸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RESULT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validateForm() let it through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754880" cy="2743200"/>
          </a:xfrm>
          <a:prstGeom prst="roundRect">
            <a:avLst>
              <a:gd name="adj" fmla="val 20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692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8580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0584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09728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localhost/action_page.php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493776" y="1463040"/>
            <a:ext cx="4681728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456" y="19202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93776" y="2697480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submitted to /action_page.php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" y="310896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fname=Rahim&amp;lname=Uddin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0" y="118872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E6F5EE"/>
          </a:solidFill>
          <a:ln w="9525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66928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669280" y="164592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values were filled in, so the if block was skipped. The function returned nothing (not false), so the browser sent the form to the action URL with method post.</a:t>
            </a:r>
            <a:endParaRPr lang="en-US" sz="1200" dirty="0"/>
          </a:p>
        </p:txBody>
      </p:sp>
      <p:sp>
        <p:nvSpPr>
          <p:cNvPr id="18" name="btn">
            <a:hlinkClick r:id="rId5" action="ppaction://hlinksldjump"/>
          </p:cNvPr>
          <p:cNvSpPr/>
          <p:nvPr/>
        </p:nvSpPr>
        <p:spPr>
          <a:xfrm>
            <a:off x="457200" y="41605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↺  Back to the demo</a:t>
            </a:r>
            <a:endParaRPr lang="en-US" sz="1100" dirty="0"/>
          </a:p>
        </p:txBody>
      </p:sp>
      <p:sp>
        <p:nvSpPr>
          <p:cNvPr id="19" name="btn">
            <a:hlinkClick r:id="rId6" action="ppaction://hlinksldjump"/>
          </p:cNvPr>
          <p:cNvSpPr/>
          <p:nvPr/>
        </p:nvSpPr>
        <p:spPr>
          <a:xfrm>
            <a:off x="2606040" y="416052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  ▸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3759</Words>
  <Application>Microsoft Office PowerPoint</Application>
  <PresentationFormat>On-screen Show (16:9)</PresentationFormat>
  <Paragraphs>775</Paragraphs>
  <Slides>35</Slides>
  <Notes>35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04 — JS HTML DOM and Form Validation</dc:title>
  <dc:subject>PptxGenJS Presentation</dc:subject>
  <dc:creator>Rifat Al Mamun Rudro</dc:creator>
  <cp:lastModifiedBy>RIFAT AL MAMUN RUDRO</cp:lastModifiedBy>
  <cp:revision>1</cp:revision>
  <dcterms:created xsi:type="dcterms:W3CDTF">2026-10-05T10:04:45Z</dcterms:created>
  <dcterms:modified xsi:type="dcterms:W3CDTF">2026-10-05T11:08:40Z</dcterms:modified>
</cp:coreProperties>
</file>