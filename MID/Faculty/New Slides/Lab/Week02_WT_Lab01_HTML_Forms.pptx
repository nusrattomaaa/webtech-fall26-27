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7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FAT AL MAMUN RUDRO" userId="24b27b9a-aab3-4351-8aca-a88306e0f932" providerId="ADAL" clId="{DB9BBBDC-F455-4572-BF35-B25E0968203C}"/>
    <pc:docChg chg="delSld">
      <pc:chgData name="RIFAT AL MAMUN RUDRO" userId="24b27b9a-aab3-4351-8aca-a88306e0f932" providerId="ADAL" clId="{DB9BBBDC-F455-4572-BF35-B25E0968203C}" dt="2026-10-05T11:07:48.402" v="3" actId="47"/>
      <pc:docMkLst>
        <pc:docMk/>
      </pc:docMkLst>
      <pc:sldChg chg="del">
        <pc:chgData name="RIFAT AL MAMUN RUDRO" userId="24b27b9a-aab3-4351-8aca-a88306e0f932" providerId="ADAL" clId="{DB9BBBDC-F455-4572-BF35-B25E0968203C}" dt="2026-10-05T11:07:46.917" v="0" actId="47"/>
        <pc:sldMkLst>
          <pc:docMk/>
          <pc:sldMk cId="0" sldId="278"/>
        </pc:sldMkLst>
      </pc:sldChg>
      <pc:sldChg chg="del">
        <pc:chgData name="RIFAT AL MAMUN RUDRO" userId="24b27b9a-aab3-4351-8aca-a88306e0f932" providerId="ADAL" clId="{DB9BBBDC-F455-4572-BF35-B25E0968203C}" dt="2026-10-05T11:07:47.381" v="1" actId="47"/>
        <pc:sldMkLst>
          <pc:docMk/>
          <pc:sldMk cId="0" sldId="279"/>
        </pc:sldMkLst>
      </pc:sldChg>
      <pc:sldChg chg="del">
        <pc:chgData name="RIFAT AL MAMUN RUDRO" userId="24b27b9a-aab3-4351-8aca-a88306e0f932" providerId="ADAL" clId="{DB9BBBDC-F455-4572-BF35-B25E0968203C}" dt="2026-10-05T11:07:47.825" v="2" actId="47"/>
        <pc:sldMkLst>
          <pc:docMk/>
          <pc:sldMk cId="0" sldId="280"/>
        </pc:sldMkLst>
      </pc:sldChg>
      <pc:sldChg chg="del">
        <pc:chgData name="RIFAT AL MAMUN RUDRO" userId="24b27b9a-aab3-4351-8aca-a88306e0f932" providerId="ADAL" clId="{DB9BBBDC-F455-4572-BF35-B25E0968203C}" dt="2026-10-05T11:07:48.402" v="3" actId="47"/>
        <pc:sldMkLst>
          <pc:docMk/>
          <pc:sldMk cId="0" sldId="2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4520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slide" Target="slide6.xml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slide" Target="slide16.xml"/><Relationship Id="rId5" Type="http://schemas.openxmlformats.org/officeDocument/2006/relationships/slide" Target="slide3.xml"/><Relationship Id="rId10" Type="http://schemas.openxmlformats.org/officeDocument/2006/relationships/image" Target="../media/image4.png"/><Relationship Id="rId4" Type="http://schemas.openxmlformats.org/officeDocument/2006/relationships/slide" Target="slide2.xml"/><Relationship Id="rId9" Type="http://schemas.openxmlformats.org/officeDocument/2006/relationships/slide" Target="slide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hyperlink" Target="https://www.google.com/chrome/" TargetMode="External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slide" Target="slide2.xml"/><Relationship Id="rId9" Type="http://schemas.openxmlformats.org/officeDocument/2006/relationships/hyperlink" Target="https://code.visualstudio.co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w3schools.com/tags/" TargetMode="External"/><Relationship Id="rId5" Type="http://schemas.openxmlformats.org/officeDocument/2006/relationships/hyperlink" Target="https://www.aiub.edu" TargetMode="Externa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w3schools.com/html/html_form_input_types.asp" TargetMode="External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w3schools.com/html/html_form_input_types.asp" TargetMode="External"/><Relationship Id="rId4" Type="http://schemas.openxmlformats.org/officeDocument/2006/relationships/slide" Target="slid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slide" Target="slide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w3schools.com/html/html_forms.asp" TargetMode="External"/><Relationship Id="rId5" Type="http://schemas.openxmlformats.org/officeDocument/2006/relationships/hyperlink" Target="https://www.w3schools.com/html/tryit.asp?filename=tryhtml_form_submit" TargetMode="External"/><Relationship Id="rId4" Type="http://schemas.openxmlformats.org/officeDocument/2006/relationships/slide" Target="slid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slide" Target="slide2.xml"/><Relationship Id="rId9" Type="http://schemas.openxmlformats.org/officeDocument/2006/relationships/hyperlink" Target="https://github.com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html/html_xhtml.asp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w3schools.com/html/html_forms.asp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w3schools.com/html/html_intro.asp" TargetMode="External"/><Relationship Id="rId5" Type="http://schemas.openxmlformats.org/officeDocument/2006/relationships/image" Target="../media/image6.png"/><Relationship Id="rId4" Type="http://schemas.openxmlformats.org/officeDocument/2006/relationships/slide" Target="slide2.xml"/><Relationship Id="rId9" Type="http://schemas.openxmlformats.org/officeDocument/2006/relationships/hyperlink" Target="https://developer.mozilla.org/en-US/docs/Web/HTTP/Statu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657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AMERICAN INTERNATIONAL UNIVERSITY-BANGLADESH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6217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of Computer Science  ·  Faculty of Science and Technology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457200" y="1417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SESSION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7373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Web Technology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606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01: HTML documents, tags, elements, attributes, and forms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852160" y="1463040"/>
            <a:ext cx="2834640" cy="1600200"/>
          </a:xfrm>
          <a:prstGeom prst="roundRect">
            <a:avLst>
              <a:gd name="adj" fmla="val 457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989320" y="156362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135624" y="156362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81928" y="156362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492240" y="15179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5989320" y="1792224"/>
            <a:ext cx="25603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Lab!</a:t>
            </a: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100" dirty="0"/>
          </a:p>
        </p:txBody>
      </p:sp>
      <p:sp>
        <p:nvSpPr>
          <p:cNvPr id="16" name="btn">
            <a:hlinkClick r:id="rId4" action="ppaction://hlinksldjump"/>
          </p:cNvPr>
          <p:cNvSpPr/>
          <p:nvPr/>
        </p:nvSpPr>
        <p:spPr>
          <a:xfrm>
            <a:off x="457200" y="3246120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▶  Start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920240" y="33192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deck: run it in Slide Show mode and click the buttons.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384048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621792" y="3931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621792" y="41330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· Web Technologies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834640" y="384048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2999232" y="39319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2999232" y="413308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No. 01 · Week 02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0" y="384048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4736592" y="39319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SEMESTER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4736592" y="413308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 2026-27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035040" y="384048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6199632" y="39319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LECTURER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6199632" y="413308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Rifat Al Mamun Rudro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mamun.rudro@aiub.edu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01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outline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241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a section to jump to it. The ⌂ Outline button on every slide brings you back here.</a:t>
            </a:r>
            <a:endParaRPr lang="en-US" sz="1000" dirty="0"/>
          </a:p>
        </p:txBody>
      </p:sp>
      <p:sp>
        <p:nvSpPr>
          <p:cNvPr id="9" name="btn">
            <a:hlinkClick r:id="rId5" action="ppaction://hlinksldjump"/>
          </p:cNvPr>
          <p:cNvSpPr/>
          <p:nvPr/>
        </p:nvSpPr>
        <p:spPr>
          <a:xfrm>
            <a:off x="457200" y="14173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Ready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Objectives, tools, your first file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822192" y="158191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5819" y="1705539"/>
            <a:ext cx="228234" cy="228234"/>
          </a:xfrm>
          <a:prstGeom prst="rect">
            <a:avLst/>
          </a:prstGeom>
        </p:spPr>
      </p:pic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63440" y="14173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Tags, Elements, Attributes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building blocks of HTML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028432" y="158191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2059" y="1705539"/>
            <a:ext cx="228234" cy="228234"/>
          </a:xfrm>
          <a:prstGeom prst="rect">
            <a:avLst/>
          </a:prstGeom>
        </p:spPr>
      </p:pic>
      <p:sp>
        <p:nvSpPr>
          <p:cNvPr id="15" name="btn">
            <a:hlinkClick r:id="rId9" action="ppaction://hlinksldjump"/>
          </p:cNvPr>
          <p:cNvSpPr/>
          <p:nvPr/>
        </p:nvSpPr>
        <p:spPr>
          <a:xfrm>
            <a:off x="457200" y="306324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Forms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elements and input types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822192" y="322783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45819" y="3351459"/>
            <a:ext cx="228234" cy="228234"/>
          </a:xfrm>
          <a:prstGeom prst="rect">
            <a:avLst/>
          </a:prstGeom>
        </p:spPr>
      </p:pic>
      <p:sp>
        <p:nvSpPr>
          <p:cNvPr id="18" name="btn">
            <a:hlinkClick r:id="rId11" action="ppaction://hlinksldjump"/>
          </p:cNvPr>
          <p:cNvSpPr/>
          <p:nvPr/>
        </p:nvSpPr>
        <p:spPr>
          <a:xfrm>
            <a:off x="4663440" y="306324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1ECFA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0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Lab Tasks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 page and personal site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8028432" y="3227832"/>
            <a:ext cx="475488" cy="475488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52059" y="3351459"/>
            <a:ext cx="228234" cy="22823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0" y="14630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Ready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Objectives, tools, and your first HTML file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01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800" dirty="0"/>
          </a:p>
        </p:txBody>
      </p:sp>
      <p:sp>
        <p:nvSpPr>
          <p:cNvPr id="10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READY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58368" y="1417320"/>
            <a:ext cx="530352" cy="530352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60" y="1555212"/>
            <a:ext cx="254569" cy="25456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12344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an </a:t>
            </a: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document</a:t>
            </a: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tags, elements, and attributes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233172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658368" y="2514600"/>
            <a:ext cx="530352" cy="530352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60" y="2652492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23317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 the tools: a </a:t>
            </a: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editor</a:t>
            </a: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a </a:t>
            </a: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browser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7200" y="342900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658368" y="3611880"/>
            <a:ext cx="530352" cy="530352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260" y="3749772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371600" y="342900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develop HTML documents, such as a </a:t>
            </a: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page</a:t>
            </a: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a </a:t>
            </a: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029200" y="1234440"/>
            <a:ext cx="3657600" cy="3291840"/>
          </a:xfrm>
          <a:prstGeom prst="roundRect">
            <a:avLst>
              <a:gd name="adj" fmla="val 2222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 txBox="1"/>
          <p:nvPr/>
        </p:nvSpPr>
        <p:spPr>
          <a:xfrm>
            <a:off x="5257800" y="13716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NEED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5257800" y="1691640"/>
            <a:ext cx="502920" cy="50292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88559" y="1822399"/>
            <a:ext cx="241402" cy="24140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897880" y="16733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editor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5897880" y="19476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 or Sublime Text</a:t>
            </a:r>
            <a:endParaRPr lang="en-US" sz="1150" dirty="0"/>
          </a:p>
        </p:txBody>
      </p:sp>
      <p:sp>
        <p:nvSpPr>
          <p:cNvPr id="26" name="btn">
            <a:hlinkClick r:id="rId9"/>
          </p:cNvPr>
          <p:cNvSpPr/>
          <p:nvPr/>
        </p:nvSpPr>
        <p:spPr>
          <a:xfrm>
            <a:off x="5897880" y="228600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 →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5257800" y="3017520"/>
            <a:ext cx="502920" cy="50292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88559" y="3148279"/>
            <a:ext cx="241402" cy="24140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897880" y="2999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browser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5897880" y="32735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Chrome or Firefox</a:t>
            </a:r>
            <a:endParaRPr lang="en-US" sz="1150" dirty="0"/>
          </a:p>
        </p:txBody>
      </p:sp>
      <p:sp>
        <p:nvSpPr>
          <p:cNvPr id="31" name="btn">
            <a:hlinkClick r:id="rId11"/>
          </p:cNvPr>
          <p:cNvSpPr/>
          <p:nvPr/>
        </p:nvSpPr>
        <p:spPr>
          <a:xfrm>
            <a:off x="5897880" y="361188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 →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READY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HTML file in four steps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anim-1-0"/>
          <p:cNvSpPr/>
          <p:nvPr/>
        </p:nvSpPr>
        <p:spPr>
          <a:xfrm>
            <a:off x="457200" y="118872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anim-1-0"/>
          <p:cNvSpPr/>
          <p:nvPr/>
        </p:nvSpPr>
        <p:spPr>
          <a:xfrm>
            <a:off x="594360" y="1353312"/>
            <a:ext cx="402336" cy="402336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anim-1-0"/>
          <p:cNvSpPr txBox="1"/>
          <p:nvPr/>
        </p:nvSpPr>
        <p:spPr>
          <a:xfrm>
            <a:off x="594360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anim-1-0"/>
          <p:cNvSpPr txBox="1"/>
          <p:nvPr/>
        </p:nvSpPr>
        <p:spPr>
          <a:xfrm>
            <a:off x="1143000" y="12618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a folder</a:t>
            </a:r>
            <a:endParaRPr lang="en-US" sz="1300" dirty="0"/>
          </a:p>
        </p:txBody>
      </p:sp>
      <p:sp>
        <p:nvSpPr>
          <p:cNvPr id="12" name="anim-1-0"/>
          <p:cNvSpPr txBox="1"/>
          <p:nvPr/>
        </p:nvSpPr>
        <p:spPr>
          <a:xfrm>
            <a:off x="1143000" y="15544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e.g. webtech-lab01 on your desktop</a:t>
            </a:r>
            <a:endParaRPr lang="en-US" sz="1050" dirty="0"/>
          </a:p>
        </p:txBody>
      </p:sp>
      <p:sp>
        <p:nvSpPr>
          <p:cNvPr id="13" name="anim-2-1"/>
          <p:cNvSpPr/>
          <p:nvPr/>
        </p:nvSpPr>
        <p:spPr>
          <a:xfrm>
            <a:off x="457200" y="205740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anim-2-1"/>
          <p:cNvSpPr/>
          <p:nvPr/>
        </p:nvSpPr>
        <p:spPr>
          <a:xfrm>
            <a:off x="594360" y="2221992"/>
            <a:ext cx="402336" cy="402336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anim-2-1"/>
          <p:cNvSpPr txBox="1"/>
          <p:nvPr/>
        </p:nvSpPr>
        <p:spPr>
          <a:xfrm>
            <a:off x="594360" y="2221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anim-2-1"/>
          <p:cNvSpPr txBox="1"/>
          <p:nvPr/>
        </p:nvSpPr>
        <p:spPr>
          <a:xfrm>
            <a:off x="1143000" y="21305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index.html</a:t>
            </a:r>
            <a:endParaRPr lang="en-US" sz="1300" dirty="0"/>
          </a:p>
        </p:txBody>
      </p:sp>
      <p:sp>
        <p:nvSpPr>
          <p:cNvPr id="17" name="anim-2-1"/>
          <p:cNvSpPr txBox="1"/>
          <p:nvPr/>
        </p:nvSpPr>
        <p:spPr>
          <a:xfrm>
            <a:off x="1143000" y="24231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folder in your editor and add a new file</a:t>
            </a:r>
            <a:endParaRPr lang="en-US" sz="1050" dirty="0"/>
          </a:p>
        </p:txBody>
      </p:sp>
      <p:sp>
        <p:nvSpPr>
          <p:cNvPr id="18" name="anim-3-2"/>
          <p:cNvSpPr/>
          <p:nvPr/>
        </p:nvSpPr>
        <p:spPr>
          <a:xfrm>
            <a:off x="457200" y="292608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anim-3-2"/>
          <p:cNvSpPr/>
          <p:nvPr/>
        </p:nvSpPr>
        <p:spPr>
          <a:xfrm>
            <a:off x="594360" y="3090672"/>
            <a:ext cx="402336" cy="402336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anim-3-2"/>
          <p:cNvSpPr txBox="1"/>
          <p:nvPr/>
        </p:nvSpPr>
        <p:spPr>
          <a:xfrm>
            <a:off x="594360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anim-3-2"/>
          <p:cNvSpPr txBox="1"/>
          <p:nvPr/>
        </p:nvSpPr>
        <p:spPr>
          <a:xfrm>
            <a:off x="114300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the skeleton</a:t>
            </a:r>
            <a:endParaRPr lang="en-US" sz="1300" dirty="0"/>
          </a:p>
        </p:txBody>
      </p:sp>
      <p:sp>
        <p:nvSpPr>
          <p:cNvPr id="22" name="anim-3-2"/>
          <p:cNvSpPr txBox="1"/>
          <p:nvPr/>
        </p:nvSpPr>
        <p:spPr>
          <a:xfrm>
            <a:off x="1143000" y="32918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 the code on the right and save (Ctrl + S)</a:t>
            </a:r>
            <a:endParaRPr lang="en-US" sz="1050" dirty="0"/>
          </a:p>
        </p:txBody>
      </p:sp>
      <p:sp>
        <p:nvSpPr>
          <p:cNvPr id="23" name="anim-4-3"/>
          <p:cNvSpPr/>
          <p:nvPr/>
        </p:nvSpPr>
        <p:spPr>
          <a:xfrm>
            <a:off x="457200" y="379476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anim-4-3"/>
          <p:cNvSpPr/>
          <p:nvPr/>
        </p:nvSpPr>
        <p:spPr>
          <a:xfrm>
            <a:off x="594360" y="3959352"/>
            <a:ext cx="402336" cy="402336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anim-4-3"/>
          <p:cNvSpPr txBox="1"/>
          <p:nvPr/>
        </p:nvSpPr>
        <p:spPr>
          <a:xfrm>
            <a:off x="594360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anim-4-3"/>
          <p:cNvSpPr txBox="1"/>
          <p:nvPr/>
        </p:nvSpPr>
        <p:spPr>
          <a:xfrm>
            <a:off x="1143000" y="3867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in a browser</a:t>
            </a:r>
            <a:endParaRPr lang="en-US" sz="1300" dirty="0"/>
          </a:p>
        </p:txBody>
      </p:sp>
      <p:sp>
        <p:nvSpPr>
          <p:cNvPr id="27" name="anim-4-3"/>
          <p:cNvSpPr txBox="1"/>
          <p:nvPr/>
        </p:nvSpPr>
        <p:spPr>
          <a:xfrm>
            <a:off x="1143000" y="41605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Double-click the file. Refresh after each change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663440" y="118872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80060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94690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509320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5303520" y="124358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4800600" y="1517904"/>
            <a:ext cx="37490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First Page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&lt;/title&gt;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First Heading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first paragraph.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663440" y="3429000"/>
            <a:ext cx="4023360" cy="1188720"/>
          </a:xfrm>
          <a:prstGeom prst="roundRect">
            <a:avLst>
              <a:gd name="adj" fmla="val 4615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4773168" y="35204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4892040" y="35204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5010912" y="35204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5212080" y="348386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 txBox="1"/>
          <p:nvPr/>
        </p:nvSpPr>
        <p:spPr>
          <a:xfrm>
            <a:off x="5303520" y="348843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First Page</a:t>
            </a:r>
            <a:endParaRPr lang="en-US" sz="650" dirty="0"/>
          </a:p>
        </p:txBody>
      </p:sp>
      <p:sp>
        <p:nvSpPr>
          <p:cNvPr id="40" name="Shape 37"/>
          <p:cNvSpPr/>
          <p:nvPr/>
        </p:nvSpPr>
        <p:spPr>
          <a:xfrm>
            <a:off x="4700016" y="3703320"/>
            <a:ext cx="3950208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 txBox="1"/>
          <p:nvPr/>
        </p:nvSpPr>
        <p:spPr>
          <a:xfrm>
            <a:off x="4837176" y="3749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My First Heading</a:t>
            </a:r>
            <a:endParaRPr lang="en-US" sz="1800" dirty="0"/>
          </a:p>
        </p:txBody>
      </p:sp>
      <p:sp>
        <p:nvSpPr>
          <p:cNvPr id="42" name="Text 39"/>
          <p:cNvSpPr txBox="1"/>
          <p:nvPr/>
        </p:nvSpPr>
        <p:spPr>
          <a:xfrm>
            <a:off x="4837176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My first paragraph.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0" y="14630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Tags, Elements, and Attributes</a:t>
            </a:r>
            <a:endParaRPr lang="en-US" sz="2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building blocks of every page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01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800" dirty="0"/>
          </a:p>
        </p:txBody>
      </p:sp>
      <p:sp>
        <p:nvSpPr>
          <p:cNvPr id="10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ELEMENTS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Tags and elements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HTML element usually has a </a:t>
            </a: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tag</a:t>
            </a: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an </a:t>
            </a: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tag</a:t>
            </a: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with the content in between.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392680" y="15544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2200" dirty="0"/>
          </a:p>
        </p:txBody>
      </p:sp>
      <p:sp>
        <p:nvSpPr>
          <p:cNvPr id="10" name="anim-1-4"/>
          <p:cNvSpPr/>
          <p:nvPr/>
        </p:nvSpPr>
        <p:spPr>
          <a:xfrm>
            <a:off x="2420112" y="2103120"/>
            <a:ext cx="448056" cy="914"/>
          </a:xfrm>
          <a:prstGeom prst="line">
            <a:avLst/>
          </a:prstGeom>
          <a:noFill/>
          <a:ln w="3175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anim-1-4"/>
          <p:cNvSpPr txBox="1"/>
          <p:nvPr/>
        </p:nvSpPr>
        <p:spPr>
          <a:xfrm>
            <a:off x="1821180" y="21579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tag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2895600" y="1554480"/>
            <a:ext cx="323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first paragraph.</a:t>
            </a:r>
            <a:endParaRPr lang="en-US" sz="2200" dirty="0"/>
          </a:p>
        </p:txBody>
      </p:sp>
      <p:sp>
        <p:nvSpPr>
          <p:cNvPr id="13" name="anim-2-5"/>
          <p:cNvSpPr/>
          <p:nvPr/>
        </p:nvSpPr>
        <p:spPr>
          <a:xfrm>
            <a:off x="2923032" y="2103120"/>
            <a:ext cx="3130296" cy="914"/>
          </a:xfrm>
          <a:prstGeom prst="line">
            <a:avLst/>
          </a:prstGeom>
          <a:noFill/>
          <a:ln w="31750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anim-2-5"/>
          <p:cNvSpPr txBox="1"/>
          <p:nvPr/>
        </p:nvSpPr>
        <p:spPr>
          <a:xfrm>
            <a:off x="3665220" y="21579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 content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080760" y="1554480"/>
            <a:ext cx="71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2200" dirty="0"/>
          </a:p>
        </p:txBody>
      </p:sp>
      <p:sp>
        <p:nvSpPr>
          <p:cNvPr id="16" name="anim-3-6"/>
          <p:cNvSpPr/>
          <p:nvPr/>
        </p:nvSpPr>
        <p:spPr>
          <a:xfrm>
            <a:off x="6108192" y="2103120"/>
            <a:ext cx="615696" cy="914"/>
          </a:xfrm>
          <a:prstGeom prst="line">
            <a:avLst/>
          </a:prstGeom>
          <a:noFill/>
          <a:ln w="3175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nim-3-6"/>
          <p:cNvSpPr txBox="1"/>
          <p:nvPr/>
        </p:nvSpPr>
        <p:spPr>
          <a:xfrm>
            <a:off x="5593080" y="21579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tag</a:t>
            </a:r>
            <a:endParaRPr lang="en-US" sz="11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5120640" cy="16459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Start tag</a:t>
                      </a:r>
                      <a:endParaRPr lang="en-US" sz="1150" dirty="0"/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Element content</a:t>
                      </a:r>
                      <a:endParaRPr lang="en-US" sz="1150" dirty="0"/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End tag</a:t>
                      </a:r>
                      <a:endParaRPr lang="en-US" sz="1150" dirty="0"/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&lt;h1&gt;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My First Heading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&lt;/h1&gt;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&lt;p&gt;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My first paragraph.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&lt;/p&gt;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&lt;br&gt;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1B1F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none (an empty element)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i="1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none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5852160" y="2651760"/>
            <a:ext cx="2834640" cy="1645920"/>
          </a:xfrm>
          <a:prstGeom prst="roundRect">
            <a:avLst>
              <a:gd name="adj" fmla="val 4444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6016752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Empty elements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6016752" y="306324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elements have no content and no end tag: &lt;br&gt; (line break), &lt;hr&gt;, &lt;img&gt;, and &lt;input&gt;.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ATTRIBUTES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HTML elements can have attributes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Attributes give </a:t>
            </a: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information</a:t>
            </a: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about an element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are always written in the </a:t>
            </a: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tag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usually come in </a:t>
            </a: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name="value"</a:t>
            </a:r>
            <a:r>
              <a:rPr lang="en-US" sz="130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pairs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18872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0060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94690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09320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800600" y="1517904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"https://www.aiub.edu"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AIUB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2011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link address goes in the href attribute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663440" y="23774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800600" y="247802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946904" y="247802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093208" y="247802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4800600" y="2706624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"img_girl.jpg"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alt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"Girl with a jacket"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4663440" y="3200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image file goes in src; alt describes it for screen readers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31546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 ANATOMY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3383280"/>
            <a:ext cx="472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48640" y="3767328"/>
            <a:ext cx="426720" cy="914"/>
          </a:xfrm>
          <a:prstGeom prst="line">
            <a:avLst/>
          </a:prstGeom>
          <a:noFill/>
          <a:ln w="25400">
            <a:solidFill>
              <a:srgbClr val="C98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548640" y="3794760"/>
            <a:ext cx="42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98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975360" y="3383280"/>
            <a:ext cx="15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C81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082040" y="3383280"/>
            <a:ext cx="2392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9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"https://www.aiub.edu"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1082040" y="3767328"/>
            <a:ext cx="2346960" cy="914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1082040" y="3794760"/>
            <a:ext cx="234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</a:t>
            </a:r>
            <a:endParaRPr lang="en-US" sz="1050" dirty="0"/>
          </a:p>
        </p:txBody>
      </p:sp>
      <p:sp>
        <p:nvSpPr>
          <p:cNvPr id="29" name="btn">
            <a:hlinkClick r:id="rId5"/>
          </p:cNvPr>
          <p:cNvSpPr/>
          <p:nvPr/>
        </p:nvSpPr>
        <p:spPr>
          <a:xfrm>
            <a:off x="4663440" y="361188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Click: open aiub.edu  →</a:t>
            </a:r>
            <a:endParaRPr lang="en-US" sz="1000" dirty="0"/>
          </a:p>
        </p:txBody>
      </p:sp>
      <p:sp>
        <p:nvSpPr>
          <p:cNvPr id="30" name="btn">
            <a:hlinkClick r:id="rId6"/>
          </p:cNvPr>
          <p:cNvSpPr/>
          <p:nvPr/>
        </p:nvSpPr>
        <p:spPr>
          <a:xfrm>
            <a:off x="4663440" y="4114800"/>
            <a:ext cx="26517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all tags (W3Schools)  →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 · QUIZ 1</a:t>
            </a:r>
            <a:endParaRPr lang="en-US" sz="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01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46" y="709574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5029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must an HTML attribute be written?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1389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an answer to check it.</a:t>
            </a:r>
            <a:endParaRPr lang="en-US" sz="1000" dirty="0"/>
          </a:p>
        </p:txBody>
      </p:sp>
      <p:sp>
        <p:nvSpPr>
          <p:cNvPr id="11" name="btn">
            <a:hlinkClick r:id="" action="ppaction://noaction"/>
          </p:cNvPr>
          <p:cNvSpPr/>
          <p:nvPr/>
        </p:nvSpPr>
        <p:spPr>
          <a:xfrm>
            <a:off x="45720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end tag</a:t>
            </a:r>
            <a:endParaRPr lang="en-US" sz="1400" dirty="0"/>
          </a:p>
        </p:txBody>
      </p:sp>
      <p:sp>
        <p:nvSpPr>
          <p:cNvPr id="12" name="btn">
            <a:hlinkClick r:id="" action="ppaction://noaction"/>
          </p:cNvPr>
          <p:cNvSpPr/>
          <p:nvPr/>
        </p:nvSpPr>
        <p:spPr>
          <a:xfrm>
            <a:off x="65836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btn">
            <a:hlinkClick r:id="" action="ppaction://noaction"/>
          </p:cNvPr>
          <p:cNvSpPr/>
          <p:nvPr/>
        </p:nvSpPr>
        <p:spPr>
          <a:xfrm>
            <a:off x="466344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start tag</a:t>
            </a:r>
            <a:endParaRPr lang="en-US" sz="1400" dirty="0"/>
          </a:p>
        </p:txBody>
      </p:sp>
      <p:sp>
        <p:nvSpPr>
          <p:cNvPr id="14" name="btn">
            <a:hlinkClick r:id="" action="ppaction://noaction"/>
          </p:cNvPr>
          <p:cNvSpPr/>
          <p:nvPr/>
        </p:nvSpPr>
        <p:spPr>
          <a:xfrm>
            <a:off x="486460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btn">
            <a:hlinkClick r:id="" action="ppaction://noaction"/>
          </p:cNvPr>
          <p:cNvSpPr/>
          <p:nvPr/>
        </p:nvSpPr>
        <p:spPr>
          <a:xfrm>
            <a:off x="45720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Between the tags, as content</a:t>
            </a:r>
            <a:endParaRPr lang="en-US" sz="1400" dirty="0"/>
          </a:p>
        </p:txBody>
      </p:sp>
      <p:sp>
        <p:nvSpPr>
          <p:cNvPr id="16" name="btn">
            <a:hlinkClick r:id="" action="ppaction://noaction"/>
          </p:cNvPr>
          <p:cNvSpPr/>
          <p:nvPr/>
        </p:nvSpPr>
        <p:spPr>
          <a:xfrm>
            <a:off x="65836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btn">
            <a:hlinkClick r:id="" action="ppaction://noaction"/>
          </p:cNvPr>
          <p:cNvSpPr/>
          <p:nvPr/>
        </p:nvSpPr>
        <p:spPr>
          <a:xfrm>
            <a:off x="466344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 separate .attr file</a:t>
            </a:r>
            <a:endParaRPr lang="en-US" sz="1400" dirty="0"/>
          </a:p>
        </p:txBody>
      </p:sp>
      <p:sp>
        <p:nvSpPr>
          <p:cNvPr id="18" name="btn">
            <a:hlinkClick r:id="" action="ppaction://noaction"/>
          </p:cNvPr>
          <p:cNvSpPr/>
          <p:nvPr/>
        </p:nvSpPr>
        <p:spPr>
          <a:xfrm>
            <a:off x="486460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0" y="14630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Forms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Collecting input from users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01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800" dirty="0"/>
          </a:p>
        </p:txBody>
      </p:sp>
      <p:sp>
        <p:nvSpPr>
          <p:cNvPr id="10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FORMS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&lt;form&gt; element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</a:t>
            </a:r>
            <a:r>
              <a:rPr lang="en-US" sz="125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element defines a form that collects user input. Inside it go </a:t>
            </a: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elements</a:t>
            </a: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text fields, checkboxes, radio buttons, submit buttons, and more.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" y="18836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0664" y="18836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86968" y="18836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94360" y="211226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2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 elements</a:t>
            </a:r>
            <a:endParaRPr lang="en-US" sz="1200" dirty="0"/>
          </a:p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0" y="1783080"/>
          <a:ext cx="5212080" cy="20116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Looks like</a:t>
                      </a:r>
                      <a:endParaRPr lang="en-US" sz="1100" dirty="0"/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&lt;input type="text"&gt;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single-line text input field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&lt;input type="radio"&gt;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radio button, for choosing one of many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6339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&lt;input type="submit"&gt;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A3F5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submit button, for sending the form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7589520" y="2377440"/>
            <a:ext cx="9601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7626096" y="2377440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7589520" y="2935224"/>
            <a:ext cx="118872" cy="118872"/>
          </a:xfrm>
          <a:prstGeom prst="ellipse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7744968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Male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8138160" y="2935224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67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589520" y="3383280"/>
            <a:ext cx="548640" cy="237744"/>
          </a:xfrm>
          <a:prstGeom prst="roundRect">
            <a:avLst>
              <a:gd name="adj" fmla="val 11538"/>
            </a:avLst>
          </a:prstGeom>
          <a:solidFill>
            <a:srgbClr val="EFEFE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7589520" y="33832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800" dirty="0"/>
          </a:p>
        </p:txBody>
      </p:sp>
      <p:sp>
        <p:nvSpPr>
          <p:cNvPr id="22" name="btn">
            <a:hlinkClick r:id="rId5"/>
          </p:cNvPr>
          <p:cNvSpPr/>
          <p:nvPr/>
        </p:nvSpPr>
        <p:spPr>
          <a:xfrm>
            <a:off x="457200" y="301752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input types  →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FORMS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form example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572000" cy="2011680"/>
          </a:xfrm>
          <a:prstGeom prst="roundRect">
            <a:avLst>
              <a:gd name="adj" fmla="val 363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066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8696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97280" y="1243584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form.html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1517904"/>
            <a:ext cx="42976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"fname"</a:t>
            </a: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name:</a:t>
            </a: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&lt;/label&gt;&lt;br&gt;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"fname"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"fname"</a:t>
            </a: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&gt;&lt;br&gt;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"lname"</a:t>
            </a: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name:</a:t>
            </a: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&lt;/label&gt;&lt;br&gt;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11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"lname"</a:t>
            </a:r>
            <a:r>
              <a:rPr lang="en-US" sz="11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r>
              <a:rPr lang="en-US" sz="11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"lname"</a:t>
            </a: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303520" y="1188720"/>
            <a:ext cx="3383280" cy="2011680"/>
          </a:xfrm>
          <a:prstGeom prst="roundRect">
            <a:avLst>
              <a:gd name="adj" fmla="val 2727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413248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532120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650992" y="12801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852160" y="124358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5943600" y="124815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5340096" y="1463040"/>
            <a:ext cx="3310128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5522976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First name: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522976" y="1874520"/>
            <a:ext cx="16459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5522976" y="2194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Last name: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522976" y="2468880"/>
            <a:ext cx="16459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anim-1-7"/>
          <p:cNvSpPr/>
          <p:nvPr/>
        </p:nvSpPr>
        <p:spPr>
          <a:xfrm>
            <a:off x="457200" y="338328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anim-1-7"/>
          <p:cNvSpPr txBox="1"/>
          <p:nvPr/>
        </p:nvSpPr>
        <p:spPr>
          <a:xfrm>
            <a:off x="457200" y="33832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 for&gt;</a:t>
            </a:r>
            <a:endParaRPr lang="en-US" sz="1000" dirty="0"/>
          </a:p>
        </p:txBody>
      </p:sp>
      <p:sp>
        <p:nvSpPr>
          <p:cNvPr id="27" name="anim-1-7"/>
          <p:cNvSpPr txBox="1"/>
          <p:nvPr/>
        </p:nvSpPr>
        <p:spPr>
          <a:xfrm>
            <a:off x="1783080" y="33832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Caption for a field; for must match the input id</a:t>
            </a:r>
            <a:endParaRPr lang="en-US" sz="1050" dirty="0"/>
          </a:p>
        </p:txBody>
      </p:sp>
      <p:sp>
        <p:nvSpPr>
          <p:cNvPr id="28" name="anim-2-8"/>
          <p:cNvSpPr/>
          <p:nvPr/>
        </p:nvSpPr>
        <p:spPr>
          <a:xfrm>
            <a:off x="4663440" y="338328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anim-2-8"/>
          <p:cNvSpPr txBox="1"/>
          <p:nvPr/>
        </p:nvSpPr>
        <p:spPr>
          <a:xfrm>
            <a:off x="4663440" y="33832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000" dirty="0"/>
          </a:p>
        </p:txBody>
      </p:sp>
      <p:sp>
        <p:nvSpPr>
          <p:cNvPr id="30" name="anim-2-8"/>
          <p:cNvSpPr txBox="1"/>
          <p:nvPr/>
        </p:nvSpPr>
        <p:spPr>
          <a:xfrm>
            <a:off x="5989320" y="33832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Links the label; also used by CSS and JS</a:t>
            </a:r>
            <a:endParaRPr lang="en-US" sz="1050" dirty="0"/>
          </a:p>
        </p:txBody>
      </p:sp>
      <p:sp>
        <p:nvSpPr>
          <p:cNvPr id="31" name="anim-3-9"/>
          <p:cNvSpPr/>
          <p:nvPr/>
        </p:nvSpPr>
        <p:spPr>
          <a:xfrm>
            <a:off x="457200" y="4005072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anim-3-9"/>
          <p:cNvSpPr txBox="1"/>
          <p:nvPr/>
        </p:nvSpPr>
        <p:spPr>
          <a:xfrm>
            <a:off x="457200" y="400507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000" dirty="0"/>
          </a:p>
        </p:txBody>
      </p:sp>
      <p:sp>
        <p:nvSpPr>
          <p:cNvPr id="33" name="anim-3-9"/>
          <p:cNvSpPr txBox="1"/>
          <p:nvPr/>
        </p:nvSpPr>
        <p:spPr>
          <a:xfrm>
            <a:off x="1783080" y="40050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 sent to the server with the value</a:t>
            </a:r>
            <a:endParaRPr lang="en-US" sz="1050" dirty="0"/>
          </a:p>
        </p:txBody>
      </p:sp>
      <p:sp>
        <p:nvSpPr>
          <p:cNvPr id="34" name="anim-4-10"/>
          <p:cNvSpPr/>
          <p:nvPr/>
        </p:nvSpPr>
        <p:spPr>
          <a:xfrm>
            <a:off x="4663440" y="4005072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anim-4-10"/>
          <p:cNvSpPr txBox="1"/>
          <p:nvPr/>
        </p:nvSpPr>
        <p:spPr>
          <a:xfrm>
            <a:off x="4663440" y="400507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</a:t>
            </a:r>
            <a:endParaRPr lang="en-US" sz="1000" dirty="0"/>
          </a:p>
        </p:txBody>
      </p:sp>
      <p:sp>
        <p:nvSpPr>
          <p:cNvPr id="36" name="anim-4-10"/>
          <p:cNvSpPr txBox="1"/>
          <p:nvPr/>
        </p:nvSpPr>
        <p:spPr>
          <a:xfrm>
            <a:off x="5989320" y="40050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Puts the next item on a new line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FORMS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elements: &lt;input&gt; and &lt;textarea&gt;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1430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&lt;input&gt; element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4630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most used form element. Its type attribute decides what it shows.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94360" y="21122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40664" y="21122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86968" y="21122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94360" y="234086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r>
              <a:rPr lang="en-US" sz="9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"firstname"</a:t>
            </a:r>
            <a:r>
              <a:rPr lang="en-US" sz="90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r>
              <a:rPr lang="en-US" sz="90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"firstname"</a:t>
            </a: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3337560"/>
            <a:ext cx="3977640" cy="1280160"/>
          </a:xfrm>
          <a:prstGeom prst="roundRect">
            <a:avLst>
              <a:gd name="adj" fmla="val 4286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66928" y="342900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85800" y="342900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04672" y="342900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005840" y="339242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1097280" y="33969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493776" y="3611880"/>
            <a:ext cx="3904488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722376" y="3931920"/>
            <a:ext cx="20116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4709160" y="11430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&lt;textarea&gt; element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709160" y="14630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multi-line text box. rows and cols set its visible size.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709160" y="201168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846320" y="211226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992624" y="211226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138928" y="211226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4846320" y="234086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&lt;textarea</a:t>
            </a: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"message"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rows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"10"</a:t>
            </a:r>
            <a:r>
              <a:rPr lang="en-US" sz="10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cols</a:t>
            </a:r>
            <a:r>
              <a:rPr lang="en-US" sz="10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"30"</a:t>
            </a: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cat was playing in the garden.</a:t>
            </a:r>
            <a:endParaRPr lang="en-US" sz="1050" dirty="0"/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&lt;/textarea&gt;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709160" y="3337560"/>
            <a:ext cx="3977640" cy="1280160"/>
          </a:xfrm>
          <a:prstGeom prst="roundRect">
            <a:avLst>
              <a:gd name="adj" fmla="val 4286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818888" y="342900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937760" y="342900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5056632" y="342900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5257800" y="339242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5349240" y="33969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localhost/index.html</a:t>
            </a:r>
            <a:endParaRPr lang="en-US" sz="650" dirty="0"/>
          </a:p>
        </p:txBody>
      </p:sp>
      <p:sp>
        <p:nvSpPr>
          <p:cNvPr id="36" name="Shape 33"/>
          <p:cNvSpPr/>
          <p:nvPr/>
        </p:nvSpPr>
        <p:spPr>
          <a:xfrm>
            <a:off x="4745736" y="3611880"/>
            <a:ext cx="3904488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4974336" y="3703320"/>
            <a:ext cx="23774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 txBox="1"/>
          <p:nvPr/>
        </p:nvSpPr>
        <p:spPr>
          <a:xfrm>
            <a:off x="5020056" y="3721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cat was playing in the garden.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FORMS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types gallery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24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card shows the code and how a browser draws it. Try them all in your lab file.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19202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566928" y="138074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type="button"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" y="1783080"/>
            <a:ext cx="640080" cy="237744"/>
          </a:xfrm>
          <a:prstGeom prst="roundRect">
            <a:avLst>
              <a:gd name="adj" fmla="val 11538"/>
            </a:avLst>
          </a:prstGeom>
          <a:solidFill>
            <a:srgbClr val="EFEFE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594360" y="17830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560320" y="1325880"/>
            <a:ext cx="19202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2670048" y="138074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type="checkbox"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697480" y="1828800"/>
            <a:ext cx="137160" cy="137160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2697480" y="1819656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2898648" y="17830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have a bike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663440" y="1325880"/>
            <a:ext cx="19202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4773168" y="138074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type="email"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800600" y="1801368"/>
            <a:ext cx="16459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4837176" y="1801368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you@example.com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766560" y="1325880"/>
            <a:ext cx="19202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6876288" y="138074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type="file"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903720" y="1783080"/>
            <a:ext cx="685800" cy="219456"/>
          </a:xfrm>
          <a:prstGeom prst="roundRect">
            <a:avLst>
              <a:gd name="adj" fmla="val 12500"/>
            </a:avLst>
          </a:prstGeom>
          <a:solidFill>
            <a:srgbClr val="EFEFE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6903720" y="178308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File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7635240" y="17830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file chosen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457200" y="2331720"/>
            <a:ext cx="19202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566928" y="238658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type="hidden"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594360" y="2788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(nothing is shown: holds data for the server)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60320" y="2331720"/>
            <a:ext cx="19202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2670048" y="238658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type="image"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697480" y="2743200"/>
            <a:ext cx="685800" cy="347472"/>
          </a:xfrm>
          <a:prstGeom prst="roundRect">
            <a:avLst>
              <a:gd name="adj" fmla="val 7895"/>
            </a:avLst>
          </a:prstGeom>
          <a:solidFill>
            <a:srgbClr val="8E6CC8"/>
          </a:solidFill>
          <a:ln w="952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2697480" y="274320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3429000" y="274320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image as a submit button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4663440" y="2331720"/>
            <a:ext cx="19202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 txBox="1"/>
          <p:nvPr/>
        </p:nvSpPr>
        <p:spPr>
          <a:xfrm>
            <a:off x="4773168" y="238658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type="month"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800600" y="2807208"/>
            <a:ext cx="11887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 txBox="1"/>
          <p:nvPr/>
        </p:nvSpPr>
        <p:spPr>
          <a:xfrm>
            <a:off x="4837176" y="280720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2026  ▦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6766560" y="2331720"/>
            <a:ext cx="19202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 txBox="1"/>
          <p:nvPr/>
        </p:nvSpPr>
        <p:spPr>
          <a:xfrm>
            <a:off x="6876288" y="238658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type="number"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903720" y="2807208"/>
            <a:ext cx="9144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 txBox="1"/>
          <p:nvPr/>
        </p:nvSpPr>
        <p:spPr>
          <a:xfrm>
            <a:off x="6949440" y="28072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43" name="Text 40"/>
          <p:cNvSpPr txBox="1"/>
          <p:nvPr/>
        </p:nvSpPr>
        <p:spPr>
          <a:xfrm>
            <a:off x="7680960" y="2807208"/>
            <a:ext cx="137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⬍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457200" y="3337560"/>
            <a:ext cx="19202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 txBox="1"/>
          <p:nvPr/>
        </p:nvSpPr>
        <p:spPr>
          <a:xfrm>
            <a:off x="566928" y="339242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type="password"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594360" y="3813048"/>
            <a:ext cx="128016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 txBox="1"/>
          <p:nvPr/>
        </p:nvSpPr>
        <p:spPr>
          <a:xfrm>
            <a:off x="640080" y="38130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••••••••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2560320" y="3337560"/>
            <a:ext cx="19202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 txBox="1"/>
          <p:nvPr/>
        </p:nvSpPr>
        <p:spPr>
          <a:xfrm>
            <a:off x="2670048" y="339242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type="radio"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2697480" y="3849624"/>
            <a:ext cx="128016" cy="128016"/>
          </a:xfrm>
          <a:prstGeom prst="ellipse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 txBox="1"/>
          <p:nvPr/>
        </p:nvSpPr>
        <p:spPr>
          <a:xfrm>
            <a:off x="2880360" y="379476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HTML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3383280" y="384962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67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 txBox="1"/>
          <p:nvPr/>
        </p:nvSpPr>
        <p:spPr>
          <a:xfrm>
            <a:off x="3566160" y="379476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CSS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4663440" y="3337560"/>
            <a:ext cx="19202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 txBox="1"/>
          <p:nvPr/>
        </p:nvSpPr>
        <p:spPr>
          <a:xfrm>
            <a:off x="4773168" y="339242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type="range"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4800600" y="3895344"/>
            <a:ext cx="1463040" cy="36576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5623560" y="3831336"/>
            <a:ext cx="155448" cy="155448"/>
          </a:xfrm>
          <a:prstGeom prst="ellipse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6766560" y="3337560"/>
            <a:ext cx="19202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 txBox="1"/>
          <p:nvPr/>
        </p:nvSpPr>
        <p:spPr>
          <a:xfrm>
            <a:off x="6876288" y="339242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6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type="date"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6903720" y="3813048"/>
            <a:ext cx="109728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 txBox="1"/>
          <p:nvPr/>
        </p:nvSpPr>
        <p:spPr>
          <a:xfrm>
            <a:off x="6940296" y="38130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mm/dd/yyyy  ▦</a:t>
            </a:r>
            <a:endParaRPr lang="en-US" sz="750" dirty="0"/>
          </a:p>
        </p:txBody>
      </p:sp>
      <p:sp>
        <p:nvSpPr>
          <p:cNvPr id="62" name="btn">
            <a:hlinkClick r:id="rId5"/>
          </p:cNvPr>
          <p:cNvSpPr/>
          <p:nvPr/>
        </p:nvSpPr>
        <p:spPr>
          <a:xfrm>
            <a:off x="457200" y="4343400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every input type  →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 · QUIZ 2</a:t>
            </a:r>
            <a:endParaRPr lang="en-US" sz="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01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46" y="709574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5029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must choose exactly one of several options. Which input type fits?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1389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an answer to check it.</a:t>
            </a:r>
            <a:endParaRPr lang="en-US" sz="1000" dirty="0"/>
          </a:p>
        </p:txBody>
      </p:sp>
      <p:sp>
        <p:nvSpPr>
          <p:cNvPr id="11" name="btn">
            <a:hlinkClick r:id="" action="ppaction://noaction"/>
          </p:cNvPr>
          <p:cNvSpPr/>
          <p:nvPr/>
        </p:nvSpPr>
        <p:spPr>
          <a:xfrm>
            <a:off x="45720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type="checkbox"</a:t>
            </a:r>
            <a:endParaRPr lang="en-US" sz="1400" dirty="0"/>
          </a:p>
        </p:txBody>
      </p:sp>
      <p:sp>
        <p:nvSpPr>
          <p:cNvPr id="12" name="btn">
            <a:hlinkClick r:id="" action="ppaction://noaction"/>
          </p:cNvPr>
          <p:cNvSpPr/>
          <p:nvPr/>
        </p:nvSpPr>
        <p:spPr>
          <a:xfrm>
            <a:off x="65836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btn">
            <a:hlinkClick r:id="" action="ppaction://noaction"/>
          </p:cNvPr>
          <p:cNvSpPr/>
          <p:nvPr/>
        </p:nvSpPr>
        <p:spPr>
          <a:xfrm>
            <a:off x="466344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type="radio"</a:t>
            </a:r>
            <a:endParaRPr lang="en-US" sz="1400" dirty="0"/>
          </a:p>
        </p:txBody>
      </p:sp>
      <p:sp>
        <p:nvSpPr>
          <p:cNvPr id="14" name="btn">
            <a:hlinkClick r:id="" action="ppaction://noaction"/>
          </p:cNvPr>
          <p:cNvSpPr/>
          <p:nvPr/>
        </p:nvSpPr>
        <p:spPr>
          <a:xfrm>
            <a:off x="486460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btn">
            <a:hlinkClick r:id="" action="ppaction://noaction"/>
          </p:cNvPr>
          <p:cNvSpPr/>
          <p:nvPr/>
        </p:nvSpPr>
        <p:spPr>
          <a:xfrm>
            <a:off x="45720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type="text"</a:t>
            </a:r>
            <a:endParaRPr lang="en-US" sz="1400" dirty="0"/>
          </a:p>
        </p:txBody>
      </p:sp>
      <p:sp>
        <p:nvSpPr>
          <p:cNvPr id="16" name="btn">
            <a:hlinkClick r:id="" action="ppaction://noaction"/>
          </p:cNvPr>
          <p:cNvSpPr/>
          <p:nvPr/>
        </p:nvSpPr>
        <p:spPr>
          <a:xfrm>
            <a:off x="65836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btn">
            <a:hlinkClick r:id="" action="ppaction://noaction"/>
          </p:cNvPr>
          <p:cNvSpPr/>
          <p:nvPr/>
        </p:nvSpPr>
        <p:spPr>
          <a:xfrm>
            <a:off x="466344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type="range"</a:t>
            </a:r>
            <a:endParaRPr lang="en-US" sz="1400" dirty="0"/>
          </a:p>
        </p:txBody>
      </p:sp>
      <p:sp>
        <p:nvSpPr>
          <p:cNvPr id="18" name="btn">
            <a:hlinkClick r:id="" action="ppaction://noaction"/>
          </p:cNvPr>
          <p:cNvSpPr/>
          <p:nvPr/>
        </p:nvSpPr>
        <p:spPr>
          <a:xfrm>
            <a:off x="486460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0" y="14630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04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Lab Tasks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it, check it, push it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01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800" dirty="0"/>
          </a:p>
        </p:txBody>
      </p:sp>
      <p:sp>
        <p:nvSpPr>
          <p:cNvPr id="10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TASK 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this registration page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43000"/>
            <a:ext cx="4480560" cy="3474720"/>
          </a:xfrm>
          <a:prstGeom prst="roundRect">
            <a:avLst>
              <a:gd name="adj" fmla="val 1579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66928" y="12344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85800" y="12344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04672" y="12344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05840" y="119786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097280" y="120243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registration.html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493776" y="1417320"/>
            <a:ext cx="4407408" cy="316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722376" y="1490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Registration Page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76656" y="1901952"/>
            <a:ext cx="39319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13816" y="18105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Personal Information 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795528" y="2039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Name: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911096" y="2048256"/>
            <a:ext cx="173736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795528" y="23134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Email: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911096" y="2322576"/>
            <a:ext cx="173736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795528" y="25877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Password: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1911096" y="2596896"/>
            <a:ext cx="173736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1956816" y="2596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••••••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95528" y="28620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Gender: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911096" y="291693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67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2057400" y="28620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Male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2551176" y="291693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67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2697480" y="28620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Female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795528" y="31363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Date of Birth: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1911096" y="3145536"/>
            <a:ext cx="100584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1947672" y="31455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mm/dd/yyyy</a:t>
            </a:r>
            <a:endParaRPr lang="en-US" sz="750" dirty="0"/>
          </a:p>
        </p:txBody>
      </p:sp>
      <p:sp>
        <p:nvSpPr>
          <p:cNvPr id="33" name="Text 30"/>
          <p:cNvSpPr txBox="1"/>
          <p:nvPr/>
        </p:nvSpPr>
        <p:spPr>
          <a:xfrm>
            <a:off x="795528" y="34107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Department: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1911096" y="3419856"/>
            <a:ext cx="128016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1947672" y="341985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              ▾</a:t>
            </a:r>
            <a:endParaRPr lang="en-US" sz="750" dirty="0"/>
          </a:p>
        </p:txBody>
      </p:sp>
      <p:sp>
        <p:nvSpPr>
          <p:cNvPr id="36" name="Text 33"/>
          <p:cNvSpPr txBox="1"/>
          <p:nvPr/>
        </p:nvSpPr>
        <p:spPr>
          <a:xfrm>
            <a:off x="795528" y="36850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 you: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1911096" y="3694176"/>
            <a:ext cx="17373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722376" y="4279392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767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 txBox="1"/>
          <p:nvPr/>
        </p:nvSpPr>
        <p:spPr>
          <a:xfrm>
            <a:off x="886968" y="42245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agree to the terms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2916936" y="4224528"/>
            <a:ext cx="594360" cy="219456"/>
          </a:xfrm>
          <a:prstGeom prst="roundRect">
            <a:avLst>
              <a:gd name="adj" fmla="val 12500"/>
            </a:avLst>
          </a:prstGeom>
          <a:solidFill>
            <a:srgbClr val="EFEFE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 txBox="1"/>
          <p:nvPr/>
        </p:nvSpPr>
        <p:spPr>
          <a:xfrm>
            <a:off x="2916936" y="42245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3602736" y="4224528"/>
            <a:ext cx="594360" cy="219456"/>
          </a:xfrm>
          <a:prstGeom prst="roundRect">
            <a:avLst>
              <a:gd name="adj" fmla="val 12500"/>
            </a:avLst>
          </a:prstGeom>
          <a:solidFill>
            <a:srgbClr val="EFEFE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 txBox="1"/>
          <p:nvPr/>
        </p:nvSpPr>
        <p:spPr>
          <a:xfrm>
            <a:off x="3602736" y="42245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</a:t>
            </a:r>
            <a:endParaRPr lang="en-US" sz="800" dirty="0"/>
          </a:p>
        </p:txBody>
      </p:sp>
      <p:sp>
        <p:nvSpPr>
          <p:cNvPr id="44" name="Text 41"/>
          <p:cNvSpPr txBox="1"/>
          <p:nvPr/>
        </p:nvSpPr>
        <p:spPr>
          <a:xfrm>
            <a:off x="5212080" y="11430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5212080" y="144475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 txBox="1"/>
          <p:nvPr/>
        </p:nvSpPr>
        <p:spPr>
          <a:xfrm>
            <a:off x="566928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&lt;form&gt;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&lt;fieldset&gt;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and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&lt;legend&gt;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5212080" y="197510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 txBox="1"/>
          <p:nvPr/>
        </p:nvSpPr>
        <p:spPr>
          <a:xfrm>
            <a:off x="5669280" y="19019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field has a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&lt;label for&gt;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that matches its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5212080" y="25054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 txBox="1"/>
          <p:nvPr/>
        </p:nvSpPr>
        <p:spPr>
          <a:xfrm>
            <a:off x="5669280" y="24323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 right types: text, email, password, radio, date</a:t>
            </a:r>
            <a:endParaRPr lang="en-US" sz="1150" dirty="0"/>
          </a:p>
        </p:txBody>
      </p:sp>
      <p:sp>
        <p:nvSpPr>
          <p:cNvPr id="51" name="Shape 48"/>
          <p:cNvSpPr/>
          <p:nvPr/>
        </p:nvSpPr>
        <p:spPr>
          <a:xfrm>
            <a:off x="5212080" y="303580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 txBox="1"/>
          <p:nvPr/>
        </p:nvSpPr>
        <p:spPr>
          <a:xfrm>
            <a:off x="5669280" y="296265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&lt;select&gt;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for department and a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&lt;textarea&gt;</a:t>
            </a:r>
            <a:endParaRPr lang="en-US" sz="1150" dirty="0"/>
          </a:p>
        </p:txBody>
      </p:sp>
      <p:sp>
        <p:nvSpPr>
          <p:cNvPr id="53" name="Shape 50"/>
          <p:cNvSpPr/>
          <p:nvPr/>
        </p:nvSpPr>
        <p:spPr>
          <a:xfrm>
            <a:off x="5212080" y="35661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 txBox="1"/>
          <p:nvPr/>
        </p:nvSpPr>
        <p:spPr>
          <a:xfrm>
            <a:off x="5669280" y="34930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checkbox, a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and a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button</a:t>
            </a:r>
            <a:endParaRPr lang="en-US" sz="1150" dirty="0"/>
          </a:p>
        </p:txBody>
      </p:sp>
      <p:sp>
        <p:nvSpPr>
          <p:cNvPr id="55" name="Shape 52"/>
          <p:cNvSpPr/>
          <p:nvPr/>
        </p:nvSpPr>
        <p:spPr>
          <a:xfrm>
            <a:off x="5212080" y="40965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 txBox="1"/>
          <p:nvPr/>
        </p:nvSpPr>
        <p:spPr>
          <a:xfrm>
            <a:off x="5669280" y="4023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the labels up with a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&lt;table&gt;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TASK 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 code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5120640" cy="3429000"/>
          </a:xfrm>
          <a:prstGeom prst="roundRect">
            <a:avLst>
              <a:gd name="adj" fmla="val 21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066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8696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97280" y="1243584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registration.html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1517904"/>
            <a:ext cx="4846320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&lt;fieldset&gt;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&lt;legend&gt;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Personal Information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&lt;/legend&gt;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&lt;td&gt;&lt;label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Name: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&lt;/label&gt;&lt;/td&gt;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&lt;td&gt;&lt;input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&gt;&lt;/td&gt;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&lt;/tr&gt;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&lt;td&gt;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Gender: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"radio"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"m"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"gender"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value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"Male"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"m"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Male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&lt;/label&gt;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&lt;/tr&gt;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the remaining rows here --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&lt;/fieldset&gt;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value</a:t>
            </a:r>
            <a:r>
              <a:rPr lang="en-US" sz="950" dirty="0">
                <a:solidFill>
                  <a:srgbClr val="9399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"Register"</a:t>
            </a: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50" dirty="0"/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806440" y="1188720"/>
            <a:ext cx="2880360" cy="2194560"/>
          </a:xfrm>
          <a:prstGeom prst="roundRect">
            <a:avLst>
              <a:gd name="adj" fmla="val 3333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961888" y="1298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961888" y="164592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 buttons in a group share one </a:t>
            </a:r>
            <a:r>
              <a:rPr lang="en-US" sz="10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each radio and checkbox a </a:t>
            </a:r>
            <a:r>
              <a:rPr lang="en-US" sz="10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often and refresh the browser</a:t>
            </a:r>
            <a:endParaRPr lang="en-US" sz="1050" dirty="0"/>
          </a:p>
        </p:txBody>
      </p:sp>
      <p:sp>
        <p:nvSpPr>
          <p:cNvPr id="17" name="btn">
            <a:hlinkClick r:id="rId5"/>
          </p:cNvPr>
          <p:cNvSpPr/>
          <p:nvPr/>
        </p:nvSpPr>
        <p:spPr>
          <a:xfrm>
            <a:off x="5806440" y="3566160"/>
            <a:ext cx="2880360" cy="384048"/>
          </a:xfrm>
          <a:prstGeom prst="roundRect">
            <a:avLst>
              <a:gd name="adj" fmla="val 19048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Practise in the W3Schools editor  →</a:t>
            </a:r>
            <a:endParaRPr lang="en-US" sz="950" dirty="0"/>
          </a:p>
        </p:txBody>
      </p:sp>
      <p:sp>
        <p:nvSpPr>
          <p:cNvPr id="18" name="btn">
            <a:hlinkClick r:id="rId6"/>
          </p:cNvPr>
          <p:cNvSpPr/>
          <p:nvPr/>
        </p:nvSpPr>
        <p:spPr>
          <a:xfrm>
            <a:off x="5806440" y="4069080"/>
            <a:ext cx="28803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forms tutorial  →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TASK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static personal website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 static personal website that includes all your information. Use only HTML for now; we will style it with CSS later.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645920"/>
            <a:ext cx="4023360" cy="2971800"/>
          </a:xfrm>
          <a:prstGeom prst="roundRect">
            <a:avLst>
              <a:gd name="adj" fmla="val 1846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6928" y="17373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85800" y="17373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04672" y="173736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05840" y="170078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1097280" y="170535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me.html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493776" y="1920240"/>
            <a:ext cx="3950208" cy="2660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03504" y="2011680"/>
            <a:ext cx="3730752" cy="411480"/>
          </a:xfrm>
          <a:prstGeom prst="rect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03504" y="2011680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&lt;h1&gt; Your name  +  &lt;img&gt; photo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03504" y="2487168"/>
            <a:ext cx="3730752" cy="274320"/>
          </a:xfrm>
          <a:prstGeom prst="rect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603504" y="248716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Navigation: &lt;a&gt; links to each section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03504" y="2825496"/>
            <a:ext cx="1790761" cy="777240"/>
          </a:xfrm>
          <a:prstGeom prst="rect">
            <a:avLst/>
          </a:prstGeom>
          <a:solidFill>
            <a:srgbClr val="E3D9F4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03504" y="2825496"/>
            <a:ext cx="179076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me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&lt;p&gt;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543495" y="2825496"/>
            <a:ext cx="1790761" cy="777240"/>
          </a:xfrm>
          <a:prstGeom prst="rect">
            <a:avLst/>
          </a:prstGeom>
          <a:solidFill>
            <a:srgbClr val="E3D9F4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2543495" y="2825496"/>
            <a:ext cx="179076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&lt;table&gt;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03504" y="3666744"/>
            <a:ext cx="1790761" cy="548640"/>
          </a:xfrm>
          <a:prstGeom prst="rect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603504" y="3666744"/>
            <a:ext cx="17907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 &lt;ul&gt;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543495" y="3666744"/>
            <a:ext cx="1790761" cy="548640"/>
          </a:xfrm>
          <a:prstGeom prst="rect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2543495" y="3666744"/>
            <a:ext cx="17907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Projects  &lt;ol&gt;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03504" y="4279392"/>
            <a:ext cx="3730752" cy="274320"/>
          </a:xfrm>
          <a:prstGeom prst="rect">
            <a:avLst/>
          </a:prstGeom>
          <a:solidFill>
            <a:srgbClr val="C9CCD8"/>
          </a:solidFill>
          <a:ln w="12700">
            <a:solidFill>
              <a:srgbClr val="C9CC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603504" y="427939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Contact: email and GitHub links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4754880" y="1645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 INCLUDE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754880" y="1947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5212080" y="1874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Headings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&lt;h1&gt;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&lt;h3&gt;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paragraphs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754880" y="24048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521208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photo with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4754880" y="28620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 txBox="1"/>
          <p:nvPr/>
        </p:nvSpPr>
        <p:spPr>
          <a:xfrm>
            <a:off x="5212080" y="2788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ordered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an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unordered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list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4754880" y="33192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 txBox="1"/>
          <p:nvPr/>
        </p:nvSpPr>
        <p:spPr>
          <a:xfrm>
            <a:off x="521208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education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&lt;table&gt;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with headers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4754880" y="37764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 txBox="1"/>
          <p:nvPr/>
        </p:nvSpPr>
        <p:spPr>
          <a:xfrm>
            <a:off x="5212080" y="3703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Links: email (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mailto: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and GitHub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4754880" y="4233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875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 txBox="1"/>
          <p:nvPr/>
        </p:nvSpPr>
        <p:spPr>
          <a:xfrm>
            <a:off x="5212080" y="4160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links that jump to sections (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#id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LEAVE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checklist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anim-1-11"/>
          <p:cNvSpPr/>
          <p:nvPr/>
        </p:nvSpPr>
        <p:spPr>
          <a:xfrm>
            <a:off x="457200" y="128016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anim-1-11"/>
          <p:cNvSpPr/>
          <p:nvPr/>
        </p:nvSpPr>
        <p:spPr>
          <a:xfrm>
            <a:off x="594360" y="1417320"/>
            <a:ext cx="347472" cy="347472"/>
          </a:xfrm>
          <a:prstGeom prst="ellipse">
            <a:avLst/>
          </a:prstGeom>
          <a:solidFill>
            <a:srgbClr val="E3D9F4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anim-1-11"/>
          <p:cNvSpPr txBox="1"/>
          <p:nvPr/>
        </p:nvSpPr>
        <p:spPr>
          <a:xfrm>
            <a:off x="594360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anim-1-11"/>
          <p:cNvSpPr/>
          <p:nvPr/>
        </p:nvSpPr>
        <p:spPr>
          <a:xfrm>
            <a:off x="1115568" y="1783080"/>
            <a:ext cx="603504" cy="603504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anim-1-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479" y="1939991"/>
            <a:ext cx="289682" cy="289682"/>
          </a:xfrm>
          <a:prstGeom prst="rect">
            <a:avLst/>
          </a:prstGeom>
        </p:spPr>
      </p:pic>
      <p:sp>
        <p:nvSpPr>
          <p:cNvPr id="13" name="anim-1-11"/>
          <p:cNvSpPr txBox="1"/>
          <p:nvPr/>
        </p:nvSpPr>
        <p:spPr>
          <a:xfrm>
            <a:off x="548640" y="25146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it</a:t>
            </a:r>
            <a:endParaRPr lang="en-US" sz="1400" dirty="0"/>
          </a:p>
        </p:txBody>
      </p:sp>
      <p:sp>
        <p:nvSpPr>
          <p:cNvPr id="14" name="anim-1-11"/>
          <p:cNvSpPr txBox="1"/>
          <p:nvPr/>
        </p:nvSpPr>
        <p:spPr>
          <a:xfrm>
            <a:off x="594360" y="28346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every page in the browser; click every link</a:t>
            </a:r>
            <a:endParaRPr lang="en-US" sz="1050" dirty="0"/>
          </a:p>
        </p:txBody>
      </p:sp>
      <p:sp>
        <p:nvSpPr>
          <p:cNvPr id="15" name="anim-2-12"/>
          <p:cNvSpPr/>
          <p:nvPr/>
        </p:nvSpPr>
        <p:spPr>
          <a:xfrm>
            <a:off x="2560320" y="128016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anim-2-12"/>
          <p:cNvSpPr/>
          <p:nvPr/>
        </p:nvSpPr>
        <p:spPr>
          <a:xfrm>
            <a:off x="2697480" y="1417320"/>
            <a:ext cx="347472" cy="347472"/>
          </a:xfrm>
          <a:prstGeom prst="ellipse">
            <a:avLst/>
          </a:prstGeom>
          <a:solidFill>
            <a:srgbClr val="E3D9F4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nim-2-12"/>
          <p:cNvSpPr txBox="1"/>
          <p:nvPr/>
        </p:nvSpPr>
        <p:spPr>
          <a:xfrm>
            <a:off x="2697480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anim-2-12"/>
          <p:cNvSpPr/>
          <p:nvPr/>
        </p:nvSpPr>
        <p:spPr>
          <a:xfrm>
            <a:off x="3218688" y="1783080"/>
            <a:ext cx="603504" cy="603504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anim-2-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5599" y="1939991"/>
            <a:ext cx="289682" cy="289682"/>
          </a:xfrm>
          <a:prstGeom prst="rect">
            <a:avLst/>
          </a:prstGeom>
        </p:spPr>
      </p:pic>
      <p:sp>
        <p:nvSpPr>
          <p:cNvPr id="20" name="anim-2-12"/>
          <p:cNvSpPr txBox="1"/>
          <p:nvPr/>
        </p:nvSpPr>
        <p:spPr>
          <a:xfrm>
            <a:off x="2651760" y="25146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Tidy it</a:t>
            </a:r>
            <a:endParaRPr lang="en-US" sz="1400" dirty="0"/>
          </a:p>
        </p:txBody>
      </p:sp>
      <p:sp>
        <p:nvSpPr>
          <p:cNvPr id="21" name="anim-2-12"/>
          <p:cNvSpPr txBox="1"/>
          <p:nvPr/>
        </p:nvSpPr>
        <p:spPr>
          <a:xfrm>
            <a:off x="2697480" y="28346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Indent your code; check every tag is closed</a:t>
            </a:r>
            <a:endParaRPr lang="en-US" sz="1050" dirty="0"/>
          </a:p>
        </p:txBody>
      </p:sp>
      <p:sp>
        <p:nvSpPr>
          <p:cNvPr id="22" name="anim-3-13"/>
          <p:cNvSpPr/>
          <p:nvPr/>
        </p:nvSpPr>
        <p:spPr>
          <a:xfrm>
            <a:off x="4663440" y="128016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anim-3-13"/>
          <p:cNvSpPr/>
          <p:nvPr/>
        </p:nvSpPr>
        <p:spPr>
          <a:xfrm>
            <a:off x="4800600" y="1417320"/>
            <a:ext cx="347472" cy="347472"/>
          </a:xfrm>
          <a:prstGeom prst="ellipse">
            <a:avLst/>
          </a:prstGeom>
          <a:solidFill>
            <a:srgbClr val="E3D9F4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anim-3-13"/>
          <p:cNvSpPr txBox="1"/>
          <p:nvPr/>
        </p:nvSpPr>
        <p:spPr>
          <a:xfrm>
            <a:off x="4800600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anim-3-13"/>
          <p:cNvSpPr/>
          <p:nvPr/>
        </p:nvSpPr>
        <p:spPr>
          <a:xfrm>
            <a:off x="5321808" y="1783080"/>
            <a:ext cx="603504" cy="603504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anim-3-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8719" y="1939991"/>
            <a:ext cx="289682" cy="289682"/>
          </a:xfrm>
          <a:prstGeom prst="rect">
            <a:avLst/>
          </a:prstGeom>
        </p:spPr>
      </p:pic>
      <p:sp>
        <p:nvSpPr>
          <p:cNvPr id="27" name="anim-3-13"/>
          <p:cNvSpPr txBox="1"/>
          <p:nvPr/>
        </p:nvSpPr>
        <p:spPr>
          <a:xfrm>
            <a:off x="4754880" y="25146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it</a:t>
            </a:r>
            <a:endParaRPr lang="en-US" sz="1400" dirty="0"/>
          </a:p>
        </p:txBody>
      </p:sp>
      <p:sp>
        <p:nvSpPr>
          <p:cNvPr id="28" name="anim-3-13"/>
          <p:cNvSpPr txBox="1"/>
          <p:nvPr/>
        </p:nvSpPr>
        <p:spPr>
          <a:xfrm>
            <a:off x="4800600" y="28346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lab01 to your course GitHub repository</a:t>
            </a:r>
            <a:endParaRPr lang="en-US" sz="1050" dirty="0"/>
          </a:p>
        </p:txBody>
      </p:sp>
      <p:sp>
        <p:nvSpPr>
          <p:cNvPr id="29" name="anim-4-14"/>
          <p:cNvSpPr/>
          <p:nvPr/>
        </p:nvSpPr>
        <p:spPr>
          <a:xfrm>
            <a:off x="6766560" y="128016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anim-4-14"/>
          <p:cNvSpPr/>
          <p:nvPr/>
        </p:nvSpPr>
        <p:spPr>
          <a:xfrm>
            <a:off x="6903720" y="1417320"/>
            <a:ext cx="347472" cy="347472"/>
          </a:xfrm>
          <a:prstGeom prst="ellipse">
            <a:avLst/>
          </a:prstGeom>
          <a:solidFill>
            <a:srgbClr val="E3D9F4"/>
          </a:solidFill>
          <a:ln w="12700">
            <a:solidFill>
              <a:srgbClr val="E3D9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anim-4-14"/>
          <p:cNvSpPr txBox="1"/>
          <p:nvPr/>
        </p:nvSpPr>
        <p:spPr>
          <a:xfrm>
            <a:off x="6903720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anim-4-14"/>
          <p:cNvSpPr/>
          <p:nvPr/>
        </p:nvSpPr>
        <p:spPr>
          <a:xfrm>
            <a:off x="7424928" y="1783080"/>
            <a:ext cx="603504" cy="603504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anim-4-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1839" y="1939991"/>
            <a:ext cx="289682" cy="289682"/>
          </a:xfrm>
          <a:prstGeom prst="rect">
            <a:avLst/>
          </a:prstGeom>
        </p:spPr>
      </p:pic>
      <p:sp>
        <p:nvSpPr>
          <p:cNvPr id="34" name="anim-4-14"/>
          <p:cNvSpPr txBox="1"/>
          <p:nvPr/>
        </p:nvSpPr>
        <p:spPr>
          <a:xfrm>
            <a:off x="6858000" y="25146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it</a:t>
            </a:r>
            <a:endParaRPr lang="en-US" sz="1400" dirty="0"/>
          </a:p>
        </p:txBody>
      </p:sp>
      <p:sp>
        <p:nvSpPr>
          <p:cNvPr id="35" name="anim-4-14"/>
          <p:cNvSpPr txBox="1"/>
          <p:nvPr/>
        </p:nvSpPr>
        <p:spPr>
          <a:xfrm>
            <a:off x="6903720" y="28346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 the repository link as your instructor directs</a:t>
            </a:r>
            <a:endParaRPr lang="en-US" sz="1050" dirty="0"/>
          </a:p>
        </p:txBody>
      </p:sp>
      <p:sp>
        <p:nvSpPr>
          <p:cNvPr id="36" name="btn">
            <a:hlinkClick r:id="rId9"/>
          </p:cNvPr>
          <p:cNvSpPr/>
          <p:nvPr/>
        </p:nvSpPr>
        <p:spPr>
          <a:xfrm>
            <a:off x="457200" y="397764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GitHub  →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remember from this lab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1ECFA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21792" y="1435608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621792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1243584"/>
            <a:ext cx="3154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start tag + content + end tag; some, like &lt;br&gt;, are empty.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663440" y="11887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828032" y="1435608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4828032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40680" y="1243584"/>
            <a:ext cx="3154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Attributes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go in the start tag as name="value".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2304288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21792" y="2551176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621792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234440" y="2359152"/>
            <a:ext cx="3154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&lt;form&gt;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collects input with elements such as &lt;input&gt; and &lt;textarea&gt;.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663440" y="2304288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1ECFA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828032" y="2551176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4828032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440680" y="2359152"/>
            <a:ext cx="3154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attribute changes what an &lt;input&gt; looks like and accepts.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57200" y="3419856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21792" y="3666744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621792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234440" y="3474720"/>
            <a:ext cx="3154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for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must match the input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is what the server receives.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663440" y="3419856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828032" y="3666744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4828032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5440680" y="3474720"/>
            <a:ext cx="3154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in the browser and </a:t>
            </a: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</a:t>
            </a:r>
            <a:r>
              <a:rPr lang="en-US" sz="11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every lab to GitHub.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FURTHER READING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Books and references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CSC 3215  ·  Web Technologies  ·  Lab 01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800" dirty="0"/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⌂  Outline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75488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0080" y="1325880"/>
            <a:ext cx="438912" cy="438912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197" y="1439997"/>
            <a:ext cx="210678" cy="21067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132588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books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1874520"/>
            <a:ext cx="43891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Sams Teach Yourself Ajax, JavaScript and PHP All in One</a:t>
            </a:r>
            <a:r>
              <a:rPr lang="en-US" sz="9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Ballard and Moncur; Sams, 2010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Phrasebook</a:t>
            </a:r>
            <a:r>
              <a:rPr lang="en-US" sz="9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Christian Wenz; Sams, 2007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 and MySQL Web Development, 4/E</a:t>
            </a:r>
            <a:r>
              <a:rPr lang="en-US" sz="9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Welling and Thomson; Addison-Wesley, 2009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for Programmers</a:t>
            </a:r>
            <a:r>
              <a:rPr lang="en-US" sz="9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P. J. Deitel and H. M. Deitel; Prentice Hall, 2009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Beginning PHP5, Apache, and MySQL Web Development</a:t>
            </a:r>
            <a:r>
              <a:rPr lang="en-US" sz="9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Naramore et al.; Wiley, 2005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XML in a Nutshell, 3/E</a:t>
            </a:r>
            <a:r>
              <a:rPr lang="en-US" sz="950" dirty="0">
                <a:solidFill>
                  <a:srgbClr val="3A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Harold and Means; O'Reilly, 2004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5486400" y="1188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ONLINE: CLICK TO OPEN</a:t>
            </a:r>
            <a:endParaRPr lang="en-US" sz="850" dirty="0"/>
          </a:p>
        </p:txBody>
      </p:sp>
      <p:sp>
        <p:nvSpPr>
          <p:cNvPr id="14" name="btn">
            <a:hlinkClick r:id="rId6"/>
          </p:cNvPr>
          <p:cNvSpPr/>
          <p:nvPr/>
        </p:nvSpPr>
        <p:spPr>
          <a:xfrm>
            <a:off x="5486400" y="1463040"/>
            <a:ext cx="32004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52400" tIns="50800" rIns="1270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Introduction (W3Schools)  →</a:t>
            </a:r>
            <a:endParaRPr lang="en-US" sz="1200" dirty="0"/>
          </a:p>
          <a:p>
            <a:pPr marL="0" indent="0">
              <a:buNone/>
            </a:pPr>
            <a:r>
              <a:rPr lang="en-US" sz="8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www.w3schools.com/html/html_intro.asp</a:t>
            </a:r>
            <a:endParaRPr lang="en-US" sz="1200" dirty="0"/>
          </a:p>
        </p:txBody>
      </p:sp>
      <p:sp>
        <p:nvSpPr>
          <p:cNvPr id="15" name="btn">
            <a:hlinkClick r:id="rId7"/>
          </p:cNvPr>
          <p:cNvSpPr/>
          <p:nvPr/>
        </p:nvSpPr>
        <p:spPr>
          <a:xfrm>
            <a:off x="5486400" y="2249424"/>
            <a:ext cx="32004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52400" tIns="50800" rIns="1270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Forms (W3Schools)  →</a:t>
            </a:r>
            <a:endParaRPr lang="en-US" sz="1200" dirty="0"/>
          </a:p>
          <a:p>
            <a:pPr marL="0" indent="0">
              <a:buNone/>
            </a:pPr>
            <a:r>
              <a:rPr lang="en-US" sz="8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www.w3schools.com/html/html_forms.asp</a:t>
            </a:r>
            <a:endParaRPr lang="en-US" sz="1200" dirty="0"/>
          </a:p>
        </p:txBody>
      </p:sp>
      <p:sp>
        <p:nvSpPr>
          <p:cNvPr id="16" name="btn">
            <a:hlinkClick r:id="rId8"/>
          </p:cNvPr>
          <p:cNvSpPr/>
          <p:nvPr/>
        </p:nvSpPr>
        <p:spPr>
          <a:xfrm>
            <a:off x="5486400" y="3035808"/>
            <a:ext cx="32004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52400" tIns="50800" rIns="1270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and XHTML (W3Schools)  →</a:t>
            </a:r>
            <a:endParaRPr lang="en-US" sz="1200" dirty="0"/>
          </a:p>
          <a:p>
            <a:pPr marL="0" indent="0">
              <a:buNone/>
            </a:pPr>
            <a:r>
              <a:rPr lang="en-US" sz="8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www.w3schools.com/html/html_xhtml.asp</a:t>
            </a:r>
            <a:endParaRPr lang="en-US" sz="1200" dirty="0"/>
          </a:p>
        </p:txBody>
      </p:sp>
      <p:sp>
        <p:nvSpPr>
          <p:cNvPr id="17" name="btn">
            <a:hlinkClick r:id="rId9"/>
          </p:cNvPr>
          <p:cNvSpPr/>
          <p:nvPr/>
        </p:nvSpPr>
        <p:spPr>
          <a:xfrm>
            <a:off x="5486400" y="3822192"/>
            <a:ext cx="32004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52400" tIns="50800" rIns="1270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status codes (MDN)  →</a:t>
            </a:r>
            <a:endParaRPr lang="en-US" sz="1200" dirty="0"/>
          </a:p>
          <a:p>
            <a:pPr marL="0" indent="0">
              <a:buNone/>
            </a:pPr>
            <a:r>
              <a:rPr lang="en-US" sz="800" dirty="0">
                <a:solidFill>
                  <a:srgbClr val="663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developer.mozilla.org/en-US/docs/Web/HTTP/Status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2219</Words>
  <Application>Microsoft Office PowerPoint</Application>
  <PresentationFormat>On-screen Show (16:9)</PresentationFormat>
  <Paragraphs>449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01 — Introduction to Web Technology (HTML)</dc:title>
  <dc:subject>PptxGenJS Presentation</dc:subject>
  <dc:creator>Rifat Al Mamun Rudro</dc:creator>
  <cp:lastModifiedBy>RIFAT AL MAMUN RUDRO</cp:lastModifiedBy>
  <cp:revision>1</cp:revision>
  <dcterms:created xsi:type="dcterms:W3CDTF">2026-10-05T10:04:22Z</dcterms:created>
  <dcterms:modified xsi:type="dcterms:W3CDTF">2026-10-05T11:07:49Z</dcterms:modified>
</cp:coreProperties>
</file>