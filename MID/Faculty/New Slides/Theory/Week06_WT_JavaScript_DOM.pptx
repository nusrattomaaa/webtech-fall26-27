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6"/>
  </p:notesMasterIdLst>
  <p:sldIdLst>
    <p:sldId id="330" r:id="rId2"/>
    <p:sldId id="331" r:id="rId3"/>
    <p:sldId id="323" r:id="rId4"/>
    <p:sldId id="332" r:id="rId5"/>
    <p:sldId id="333" r:id="rId6"/>
    <p:sldId id="334" r:id="rId7"/>
    <p:sldId id="335" r:id="rId8"/>
    <p:sldId id="324" r:id="rId9"/>
    <p:sldId id="336" r:id="rId10"/>
    <p:sldId id="337" r:id="rId11"/>
    <p:sldId id="338" r:id="rId12"/>
    <p:sldId id="325" r:id="rId13"/>
    <p:sldId id="339" r:id="rId14"/>
    <p:sldId id="340" r:id="rId15"/>
    <p:sldId id="341" r:id="rId16"/>
    <p:sldId id="342" r:id="rId17"/>
    <p:sldId id="343" r:id="rId18"/>
    <p:sldId id="344" r:id="rId19"/>
    <p:sldId id="345" r:id="rId20"/>
    <p:sldId id="327" r:id="rId21"/>
    <p:sldId id="346" r:id="rId22"/>
    <p:sldId id="347" r:id="rId23"/>
    <p:sldId id="328" r:id="rId24"/>
    <p:sldId id="348" r:id="rId25"/>
    <p:sldId id="349" r:id="rId26"/>
    <p:sldId id="350" r:id="rId27"/>
    <p:sldId id="351" r:id="rId28"/>
    <p:sldId id="352" r:id="rId29"/>
    <p:sldId id="353" r:id="rId30"/>
    <p:sldId id="354" r:id="rId31"/>
    <p:sldId id="329" r:id="rId32"/>
    <p:sldId id="355" r:id="rId33"/>
    <p:sldId id="356" r:id="rId34"/>
    <p:sldId id="357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6E246A-BF23-413A-A1B2-100A99E1344D}" v="1" dt="2026-10-05T08:38:48.6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32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FAT AL MAMUN RUDRO" userId="24b27b9a-aab3-4351-8aca-a88306e0f932" providerId="ADAL" clId="{DB9BBBDC-F455-4572-BF35-B25E0968203C}"/>
    <pc:docChg chg="custSel addSld delSld modSld addMainMaster delMainMaster">
      <pc:chgData name="RIFAT AL MAMUN RUDRO" userId="24b27b9a-aab3-4351-8aca-a88306e0f932" providerId="ADAL" clId="{DB9BBBDC-F455-4572-BF35-B25E0968203C}" dt="2026-10-05T08:46:59.104" v="90"/>
      <pc:docMkLst>
        <pc:docMk/>
      </pc:docMkLst>
      <pc:sldChg chg="del mod modClrScheme chgLayout">
        <pc:chgData name="RIFAT AL MAMUN RUDRO" userId="24b27b9a-aab3-4351-8aca-a88306e0f932" providerId="ADAL" clId="{DB9BBBDC-F455-4572-BF35-B25E0968203C}" dt="2026-10-05T08:46:49.679" v="88"/>
        <pc:sldMkLst>
          <pc:docMk/>
          <pc:sldMk cId="0" sldId="288"/>
        </pc:sldMkLst>
      </pc:sldChg>
      <pc:sldChg chg="del mod modClrScheme chgLayout">
        <pc:chgData name="RIFAT AL MAMUN RUDRO" userId="24b27b9a-aab3-4351-8aca-a88306e0f932" providerId="ADAL" clId="{DB9BBBDC-F455-4572-BF35-B25E0968203C}" dt="2026-10-05T08:46:59.104" v="90"/>
        <pc:sldMkLst>
          <pc:docMk/>
          <pc:sldMk cId="0" sldId="289"/>
        </pc:sldMkLst>
      </pc:sldChg>
      <pc:sldChg chg="del mod modClrScheme chgLayout">
        <pc:chgData name="RIFAT AL MAMUN RUDRO" userId="24b27b9a-aab3-4351-8aca-a88306e0f932" providerId="ADAL" clId="{DB9BBBDC-F455-4572-BF35-B25E0968203C}" dt="2026-10-05T08:44:13.374" v="38"/>
        <pc:sldMkLst>
          <pc:docMk/>
          <pc:sldMk cId="2506560218" sldId="297"/>
        </pc:sldMkLst>
      </pc:sldChg>
      <pc:sldChg chg="del mod modClrScheme chgLayout">
        <pc:chgData name="RIFAT AL MAMUN RUDRO" userId="24b27b9a-aab3-4351-8aca-a88306e0f932" providerId="ADAL" clId="{DB9BBBDC-F455-4572-BF35-B25E0968203C}" dt="2026-10-05T08:44:28.846" v="40"/>
        <pc:sldMkLst>
          <pc:docMk/>
          <pc:sldMk cId="3618768815" sldId="298"/>
        </pc:sldMkLst>
      </pc:sldChg>
      <pc:sldChg chg="del mod modClrScheme chgLayout">
        <pc:chgData name="RIFAT AL MAMUN RUDRO" userId="24b27b9a-aab3-4351-8aca-a88306e0f932" providerId="ADAL" clId="{DB9BBBDC-F455-4572-BF35-B25E0968203C}" dt="2026-10-05T08:44:38.015" v="42"/>
        <pc:sldMkLst>
          <pc:docMk/>
          <pc:sldMk cId="1308935795" sldId="299"/>
        </pc:sldMkLst>
      </pc:sldChg>
      <pc:sldChg chg="del mod modClrScheme chgLayout">
        <pc:chgData name="RIFAT AL MAMUN RUDRO" userId="24b27b9a-aab3-4351-8aca-a88306e0f932" providerId="ADAL" clId="{DB9BBBDC-F455-4572-BF35-B25E0968203C}" dt="2026-10-05T08:44:46.582" v="44"/>
        <pc:sldMkLst>
          <pc:docMk/>
          <pc:sldMk cId="200439691" sldId="300"/>
        </pc:sldMkLst>
      </pc:sldChg>
      <pc:sldChg chg="del mod modClrScheme chgLayout">
        <pc:chgData name="RIFAT AL MAMUN RUDRO" userId="24b27b9a-aab3-4351-8aca-a88306e0f932" providerId="ADAL" clId="{DB9BBBDC-F455-4572-BF35-B25E0968203C}" dt="2026-10-05T08:44:51.394" v="46"/>
        <pc:sldMkLst>
          <pc:docMk/>
          <pc:sldMk cId="2630324168" sldId="301"/>
        </pc:sldMkLst>
      </pc:sldChg>
      <pc:sldChg chg="del mod modClrScheme chgLayout">
        <pc:chgData name="RIFAT AL MAMUN RUDRO" userId="24b27b9a-aab3-4351-8aca-a88306e0f932" providerId="ADAL" clId="{DB9BBBDC-F455-4572-BF35-B25E0968203C}" dt="2026-10-05T08:44:55.329" v="48"/>
        <pc:sldMkLst>
          <pc:docMk/>
          <pc:sldMk cId="4221117709" sldId="302"/>
        </pc:sldMkLst>
      </pc:sldChg>
      <pc:sldChg chg="del mod modClrScheme chgLayout">
        <pc:chgData name="RIFAT AL MAMUN RUDRO" userId="24b27b9a-aab3-4351-8aca-a88306e0f932" providerId="ADAL" clId="{DB9BBBDC-F455-4572-BF35-B25E0968203C}" dt="2026-10-05T08:45:01.729" v="50"/>
        <pc:sldMkLst>
          <pc:docMk/>
          <pc:sldMk cId="2659883477" sldId="303"/>
        </pc:sldMkLst>
      </pc:sldChg>
      <pc:sldChg chg="del mod modClrScheme chgLayout">
        <pc:chgData name="RIFAT AL MAMUN RUDRO" userId="24b27b9a-aab3-4351-8aca-a88306e0f932" providerId="ADAL" clId="{DB9BBBDC-F455-4572-BF35-B25E0968203C}" dt="2026-10-05T08:45:08.265" v="52"/>
        <pc:sldMkLst>
          <pc:docMk/>
          <pc:sldMk cId="1791150475" sldId="304"/>
        </pc:sldMkLst>
      </pc:sldChg>
      <pc:sldChg chg="del mod modClrScheme chgLayout">
        <pc:chgData name="RIFAT AL MAMUN RUDRO" userId="24b27b9a-aab3-4351-8aca-a88306e0f932" providerId="ADAL" clId="{DB9BBBDC-F455-4572-BF35-B25E0968203C}" dt="2026-10-05T08:45:11.966" v="54"/>
        <pc:sldMkLst>
          <pc:docMk/>
          <pc:sldMk cId="2409458206" sldId="305"/>
        </pc:sldMkLst>
      </pc:sldChg>
      <pc:sldChg chg="del mod modClrScheme chgLayout">
        <pc:chgData name="RIFAT AL MAMUN RUDRO" userId="24b27b9a-aab3-4351-8aca-a88306e0f932" providerId="ADAL" clId="{DB9BBBDC-F455-4572-BF35-B25E0968203C}" dt="2026-10-05T08:45:18.209" v="56"/>
        <pc:sldMkLst>
          <pc:docMk/>
          <pc:sldMk cId="400487180" sldId="306"/>
        </pc:sldMkLst>
      </pc:sldChg>
      <pc:sldChg chg="del mod modClrScheme chgLayout">
        <pc:chgData name="RIFAT AL MAMUN RUDRO" userId="24b27b9a-aab3-4351-8aca-a88306e0f932" providerId="ADAL" clId="{DB9BBBDC-F455-4572-BF35-B25E0968203C}" dt="2026-10-05T08:45:22.019" v="58"/>
        <pc:sldMkLst>
          <pc:docMk/>
          <pc:sldMk cId="3276572748" sldId="307"/>
        </pc:sldMkLst>
      </pc:sldChg>
      <pc:sldChg chg="del mod modClrScheme chgLayout">
        <pc:chgData name="RIFAT AL MAMUN RUDRO" userId="24b27b9a-aab3-4351-8aca-a88306e0f932" providerId="ADAL" clId="{DB9BBBDC-F455-4572-BF35-B25E0968203C}" dt="2026-10-05T08:45:25.914" v="60"/>
        <pc:sldMkLst>
          <pc:docMk/>
          <pc:sldMk cId="333871696" sldId="308"/>
        </pc:sldMkLst>
      </pc:sldChg>
      <pc:sldChg chg="del mod modClrScheme chgLayout">
        <pc:chgData name="RIFAT AL MAMUN RUDRO" userId="24b27b9a-aab3-4351-8aca-a88306e0f932" providerId="ADAL" clId="{DB9BBBDC-F455-4572-BF35-B25E0968203C}" dt="2026-10-05T08:45:38.311" v="64"/>
        <pc:sldMkLst>
          <pc:docMk/>
          <pc:sldMk cId="2930171258" sldId="309"/>
        </pc:sldMkLst>
      </pc:sldChg>
      <pc:sldChg chg="del mod modClrScheme chgLayout">
        <pc:chgData name="RIFAT AL MAMUN RUDRO" userId="24b27b9a-aab3-4351-8aca-a88306e0f932" providerId="ADAL" clId="{DB9BBBDC-F455-4572-BF35-B25E0968203C}" dt="2026-10-05T08:45:42.588" v="66"/>
        <pc:sldMkLst>
          <pc:docMk/>
          <pc:sldMk cId="1767421509" sldId="310"/>
        </pc:sldMkLst>
      </pc:sldChg>
      <pc:sldChg chg="del mod modClrScheme chgLayout">
        <pc:chgData name="RIFAT AL MAMUN RUDRO" userId="24b27b9a-aab3-4351-8aca-a88306e0f932" providerId="ADAL" clId="{DB9BBBDC-F455-4572-BF35-B25E0968203C}" dt="2026-10-05T08:45:49.203" v="68"/>
        <pc:sldMkLst>
          <pc:docMk/>
          <pc:sldMk cId="3721621730" sldId="311"/>
        </pc:sldMkLst>
      </pc:sldChg>
      <pc:sldChg chg="del mod modClrScheme chgLayout">
        <pc:chgData name="RIFAT AL MAMUN RUDRO" userId="24b27b9a-aab3-4351-8aca-a88306e0f932" providerId="ADAL" clId="{DB9BBBDC-F455-4572-BF35-B25E0968203C}" dt="2026-10-05T08:45:53.762" v="70"/>
        <pc:sldMkLst>
          <pc:docMk/>
          <pc:sldMk cId="4176688627" sldId="312"/>
        </pc:sldMkLst>
      </pc:sldChg>
      <pc:sldChg chg="del mod modClrScheme chgLayout">
        <pc:chgData name="RIFAT AL MAMUN RUDRO" userId="24b27b9a-aab3-4351-8aca-a88306e0f932" providerId="ADAL" clId="{DB9BBBDC-F455-4572-BF35-B25E0968203C}" dt="2026-10-05T08:45:58.509" v="72"/>
        <pc:sldMkLst>
          <pc:docMk/>
          <pc:sldMk cId="2526238639" sldId="313"/>
        </pc:sldMkLst>
      </pc:sldChg>
      <pc:sldChg chg="del mod modClrScheme chgLayout">
        <pc:chgData name="RIFAT AL MAMUN RUDRO" userId="24b27b9a-aab3-4351-8aca-a88306e0f932" providerId="ADAL" clId="{DB9BBBDC-F455-4572-BF35-B25E0968203C}" dt="2026-10-05T08:46:05.419" v="74"/>
        <pc:sldMkLst>
          <pc:docMk/>
          <pc:sldMk cId="1335763511" sldId="314"/>
        </pc:sldMkLst>
      </pc:sldChg>
      <pc:sldChg chg="del mod modClrScheme chgLayout">
        <pc:chgData name="RIFAT AL MAMUN RUDRO" userId="24b27b9a-aab3-4351-8aca-a88306e0f932" providerId="ADAL" clId="{DB9BBBDC-F455-4572-BF35-B25E0968203C}" dt="2026-10-05T08:46:09.647" v="76"/>
        <pc:sldMkLst>
          <pc:docMk/>
          <pc:sldMk cId="4165024649" sldId="315"/>
        </pc:sldMkLst>
      </pc:sldChg>
      <pc:sldChg chg="del mod modClrScheme chgLayout">
        <pc:chgData name="RIFAT AL MAMUN RUDRO" userId="24b27b9a-aab3-4351-8aca-a88306e0f932" providerId="ADAL" clId="{DB9BBBDC-F455-4572-BF35-B25E0968203C}" dt="2026-10-05T08:46:13.569" v="78"/>
        <pc:sldMkLst>
          <pc:docMk/>
          <pc:sldMk cId="943213225" sldId="316"/>
        </pc:sldMkLst>
      </pc:sldChg>
      <pc:sldChg chg="del mod modClrScheme chgLayout">
        <pc:chgData name="RIFAT AL MAMUN RUDRO" userId="24b27b9a-aab3-4351-8aca-a88306e0f932" providerId="ADAL" clId="{DB9BBBDC-F455-4572-BF35-B25E0968203C}" dt="2026-10-05T08:46:19.428" v="80"/>
        <pc:sldMkLst>
          <pc:docMk/>
          <pc:sldMk cId="3818256619" sldId="317"/>
        </pc:sldMkLst>
      </pc:sldChg>
      <pc:sldChg chg="del mod modClrScheme chgLayout">
        <pc:chgData name="RIFAT AL MAMUN RUDRO" userId="24b27b9a-aab3-4351-8aca-a88306e0f932" providerId="ADAL" clId="{DB9BBBDC-F455-4572-BF35-B25E0968203C}" dt="2026-10-05T08:46:23.569" v="82"/>
        <pc:sldMkLst>
          <pc:docMk/>
          <pc:sldMk cId="2023869297" sldId="318"/>
        </pc:sldMkLst>
      </pc:sldChg>
      <pc:sldChg chg="del mod modClrScheme chgLayout">
        <pc:chgData name="RIFAT AL MAMUN RUDRO" userId="24b27b9a-aab3-4351-8aca-a88306e0f932" providerId="ADAL" clId="{DB9BBBDC-F455-4572-BF35-B25E0968203C}" dt="2026-10-05T08:46:28.523" v="84"/>
        <pc:sldMkLst>
          <pc:docMk/>
          <pc:sldMk cId="2547163737" sldId="319"/>
        </pc:sldMkLst>
      </pc:sldChg>
      <pc:sldChg chg="del mod modClrScheme chgLayout">
        <pc:chgData name="RIFAT AL MAMUN RUDRO" userId="24b27b9a-aab3-4351-8aca-a88306e0f932" providerId="ADAL" clId="{DB9BBBDC-F455-4572-BF35-B25E0968203C}" dt="2026-10-05T08:46:45.116" v="86"/>
        <pc:sldMkLst>
          <pc:docMk/>
          <pc:sldMk cId="4082818485" sldId="320"/>
        </pc:sldMkLst>
      </pc:sldChg>
      <pc:sldChg chg="del">
        <pc:chgData name="RIFAT AL MAMUN RUDRO" userId="24b27b9a-aab3-4351-8aca-a88306e0f932" providerId="ADAL" clId="{DB9BBBDC-F455-4572-BF35-B25E0968203C}" dt="2026-10-05T08:43:55.419" v="1"/>
        <pc:sldMkLst>
          <pc:docMk/>
          <pc:sldMk cId="64605552" sldId="322"/>
        </pc:sldMkLst>
      </pc:sldChg>
      <pc:sldChg chg="mod modClrScheme chgLayout">
        <pc:chgData name="RIFAT AL MAMUN RUDRO" userId="24b27b9a-aab3-4351-8aca-a88306e0f932" providerId="ADAL" clId="{DB9BBBDC-F455-4572-BF35-B25E0968203C}" dt="2026-10-05T08:43:55.535" v="3"/>
        <pc:sldMkLst>
          <pc:docMk/>
          <pc:sldMk cId="659020553" sldId="323"/>
        </pc:sldMkLst>
      </pc:sldChg>
      <pc:sldChg chg="mod modClrScheme chgLayout">
        <pc:chgData name="RIFAT AL MAMUN RUDRO" userId="24b27b9a-aab3-4351-8aca-a88306e0f932" providerId="ADAL" clId="{DB9BBBDC-F455-4572-BF35-B25E0968203C}" dt="2026-10-05T08:43:55.539" v="8"/>
        <pc:sldMkLst>
          <pc:docMk/>
          <pc:sldMk cId="2787410119" sldId="324"/>
        </pc:sldMkLst>
      </pc:sldChg>
      <pc:sldChg chg="mod modClrScheme chgLayout">
        <pc:chgData name="RIFAT AL MAMUN RUDRO" userId="24b27b9a-aab3-4351-8aca-a88306e0f932" providerId="ADAL" clId="{DB9BBBDC-F455-4572-BF35-B25E0968203C}" dt="2026-10-05T08:43:55.539" v="12"/>
        <pc:sldMkLst>
          <pc:docMk/>
          <pc:sldMk cId="797015130" sldId="325"/>
        </pc:sldMkLst>
      </pc:sldChg>
      <pc:sldChg chg="del mod modClrScheme chgLayout">
        <pc:chgData name="RIFAT AL MAMUN RUDRO" userId="24b27b9a-aab3-4351-8aca-a88306e0f932" providerId="ADAL" clId="{DB9BBBDC-F455-4572-BF35-B25E0968203C}" dt="2026-10-05T08:45:33.690" v="62"/>
        <pc:sldMkLst>
          <pc:docMk/>
          <pc:sldMk cId="273720549" sldId="326"/>
        </pc:sldMkLst>
      </pc:sldChg>
      <pc:sldChg chg="mod modClrScheme chgLayout">
        <pc:chgData name="RIFAT AL MAMUN RUDRO" userId="24b27b9a-aab3-4351-8aca-a88306e0f932" providerId="ADAL" clId="{DB9BBBDC-F455-4572-BF35-B25E0968203C}" dt="2026-10-05T08:43:55.542" v="20"/>
        <pc:sldMkLst>
          <pc:docMk/>
          <pc:sldMk cId="3836900346" sldId="327"/>
        </pc:sldMkLst>
      </pc:sldChg>
      <pc:sldChg chg="mod modClrScheme chgLayout">
        <pc:chgData name="RIFAT AL MAMUN RUDRO" userId="24b27b9a-aab3-4351-8aca-a88306e0f932" providerId="ADAL" clId="{DB9BBBDC-F455-4572-BF35-B25E0968203C}" dt="2026-10-05T08:43:55.542" v="23"/>
        <pc:sldMkLst>
          <pc:docMk/>
          <pc:sldMk cId="3539689437" sldId="328"/>
        </pc:sldMkLst>
      </pc:sldChg>
      <pc:sldChg chg="mod modClrScheme chgLayout">
        <pc:chgData name="RIFAT AL MAMUN RUDRO" userId="24b27b9a-aab3-4351-8aca-a88306e0f932" providerId="ADAL" clId="{DB9BBBDC-F455-4572-BF35-B25E0968203C}" dt="2026-10-05T08:43:55.551" v="31"/>
        <pc:sldMkLst>
          <pc:docMk/>
          <pc:sldMk cId="226405785" sldId="329"/>
        </pc:sldMkLst>
      </pc:sldChg>
      <pc:sldChg chg="add">
        <pc:chgData name="RIFAT AL MAMUN RUDRO" userId="24b27b9a-aab3-4351-8aca-a88306e0f932" providerId="ADAL" clId="{DB9BBBDC-F455-4572-BF35-B25E0968203C}" dt="2026-10-05T08:43:55.388" v="0"/>
        <pc:sldMkLst>
          <pc:docMk/>
          <pc:sldMk cId="1697672461" sldId="330"/>
        </pc:sldMkLst>
      </pc:sldChg>
      <pc:sldChg chg="add">
        <pc:chgData name="RIFAT AL MAMUN RUDRO" userId="24b27b9a-aab3-4351-8aca-a88306e0f932" providerId="ADAL" clId="{DB9BBBDC-F455-4572-BF35-B25E0968203C}" dt="2026-10-05T08:44:13.354" v="37"/>
        <pc:sldMkLst>
          <pc:docMk/>
          <pc:sldMk cId="3123186819" sldId="331"/>
        </pc:sldMkLst>
      </pc:sldChg>
      <pc:sldChg chg="new del">
        <pc:chgData name="RIFAT AL MAMUN RUDRO" userId="24b27b9a-aab3-4351-8aca-a88306e0f932" providerId="ADAL" clId="{DB9BBBDC-F455-4572-BF35-B25E0968203C}" dt="2026-10-05T08:43:55.574" v="36"/>
        <pc:sldMkLst>
          <pc:docMk/>
          <pc:sldMk cId="4259198524" sldId="331"/>
        </pc:sldMkLst>
      </pc:sldChg>
      <pc:sldChg chg="add">
        <pc:chgData name="RIFAT AL MAMUN RUDRO" userId="24b27b9a-aab3-4351-8aca-a88306e0f932" providerId="ADAL" clId="{DB9BBBDC-F455-4572-BF35-B25E0968203C}" dt="2026-10-05T08:44:28.814" v="39"/>
        <pc:sldMkLst>
          <pc:docMk/>
          <pc:sldMk cId="3345771704" sldId="332"/>
        </pc:sldMkLst>
      </pc:sldChg>
      <pc:sldChg chg="add">
        <pc:chgData name="RIFAT AL MAMUN RUDRO" userId="24b27b9a-aab3-4351-8aca-a88306e0f932" providerId="ADAL" clId="{DB9BBBDC-F455-4572-BF35-B25E0968203C}" dt="2026-10-05T08:44:37.996" v="41"/>
        <pc:sldMkLst>
          <pc:docMk/>
          <pc:sldMk cId="147826753" sldId="333"/>
        </pc:sldMkLst>
      </pc:sldChg>
      <pc:sldChg chg="add">
        <pc:chgData name="RIFAT AL MAMUN RUDRO" userId="24b27b9a-aab3-4351-8aca-a88306e0f932" providerId="ADAL" clId="{DB9BBBDC-F455-4572-BF35-B25E0968203C}" dt="2026-10-05T08:44:46.561" v="43"/>
        <pc:sldMkLst>
          <pc:docMk/>
          <pc:sldMk cId="472513359" sldId="334"/>
        </pc:sldMkLst>
      </pc:sldChg>
      <pc:sldChg chg="add">
        <pc:chgData name="RIFAT AL MAMUN RUDRO" userId="24b27b9a-aab3-4351-8aca-a88306e0f932" providerId="ADAL" clId="{DB9BBBDC-F455-4572-BF35-B25E0968203C}" dt="2026-10-05T08:44:51.379" v="45"/>
        <pc:sldMkLst>
          <pc:docMk/>
          <pc:sldMk cId="2751679741" sldId="335"/>
        </pc:sldMkLst>
      </pc:sldChg>
      <pc:sldChg chg="add">
        <pc:chgData name="RIFAT AL MAMUN RUDRO" userId="24b27b9a-aab3-4351-8aca-a88306e0f932" providerId="ADAL" clId="{DB9BBBDC-F455-4572-BF35-B25E0968203C}" dt="2026-10-05T08:44:55.317" v="47"/>
        <pc:sldMkLst>
          <pc:docMk/>
          <pc:sldMk cId="73196587" sldId="336"/>
        </pc:sldMkLst>
      </pc:sldChg>
      <pc:sldChg chg="add">
        <pc:chgData name="RIFAT AL MAMUN RUDRO" userId="24b27b9a-aab3-4351-8aca-a88306e0f932" providerId="ADAL" clId="{DB9BBBDC-F455-4572-BF35-B25E0968203C}" dt="2026-10-05T08:45:01.702" v="49"/>
        <pc:sldMkLst>
          <pc:docMk/>
          <pc:sldMk cId="1684312882" sldId="337"/>
        </pc:sldMkLst>
      </pc:sldChg>
      <pc:sldChg chg="add">
        <pc:chgData name="RIFAT AL MAMUN RUDRO" userId="24b27b9a-aab3-4351-8aca-a88306e0f932" providerId="ADAL" clId="{DB9BBBDC-F455-4572-BF35-B25E0968203C}" dt="2026-10-05T08:45:08.253" v="51"/>
        <pc:sldMkLst>
          <pc:docMk/>
          <pc:sldMk cId="1165048467" sldId="338"/>
        </pc:sldMkLst>
      </pc:sldChg>
      <pc:sldChg chg="add">
        <pc:chgData name="RIFAT AL MAMUN RUDRO" userId="24b27b9a-aab3-4351-8aca-a88306e0f932" providerId="ADAL" clId="{DB9BBBDC-F455-4572-BF35-B25E0968203C}" dt="2026-10-05T08:45:11.949" v="53"/>
        <pc:sldMkLst>
          <pc:docMk/>
          <pc:sldMk cId="2615587485" sldId="339"/>
        </pc:sldMkLst>
      </pc:sldChg>
      <pc:sldChg chg="add">
        <pc:chgData name="RIFAT AL MAMUN RUDRO" userId="24b27b9a-aab3-4351-8aca-a88306e0f932" providerId="ADAL" clId="{DB9BBBDC-F455-4572-BF35-B25E0968203C}" dt="2026-10-05T08:45:18.194" v="55"/>
        <pc:sldMkLst>
          <pc:docMk/>
          <pc:sldMk cId="3744514236" sldId="340"/>
        </pc:sldMkLst>
      </pc:sldChg>
      <pc:sldChg chg="add">
        <pc:chgData name="RIFAT AL MAMUN RUDRO" userId="24b27b9a-aab3-4351-8aca-a88306e0f932" providerId="ADAL" clId="{DB9BBBDC-F455-4572-BF35-B25E0968203C}" dt="2026-10-05T08:45:21.995" v="57"/>
        <pc:sldMkLst>
          <pc:docMk/>
          <pc:sldMk cId="1575090679" sldId="341"/>
        </pc:sldMkLst>
      </pc:sldChg>
      <pc:sldChg chg="add">
        <pc:chgData name="RIFAT AL MAMUN RUDRO" userId="24b27b9a-aab3-4351-8aca-a88306e0f932" providerId="ADAL" clId="{DB9BBBDC-F455-4572-BF35-B25E0968203C}" dt="2026-10-05T08:45:25.901" v="59"/>
        <pc:sldMkLst>
          <pc:docMk/>
          <pc:sldMk cId="3699339165" sldId="342"/>
        </pc:sldMkLst>
      </pc:sldChg>
      <pc:sldChg chg="add">
        <pc:chgData name="RIFAT AL MAMUN RUDRO" userId="24b27b9a-aab3-4351-8aca-a88306e0f932" providerId="ADAL" clId="{DB9BBBDC-F455-4572-BF35-B25E0968203C}" dt="2026-10-05T08:45:33.621" v="61"/>
        <pc:sldMkLst>
          <pc:docMk/>
          <pc:sldMk cId="2050085253" sldId="343"/>
        </pc:sldMkLst>
      </pc:sldChg>
      <pc:sldChg chg="add">
        <pc:chgData name="RIFAT AL MAMUN RUDRO" userId="24b27b9a-aab3-4351-8aca-a88306e0f932" providerId="ADAL" clId="{DB9BBBDC-F455-4572-BF35-B25E0968203C}" dt="2026-10-05T08:45:38.289" v="63"/>
        <pc:sldMkLst>
          <pc:docMk/>
          <pc:sldMk cId="384527926" sldId="344"/>
        </pc:sldMkLst>
      </pc:sldChg>
      <pc:sldChg chg="add">
        <pc:chgData name="RIFAT AL MAMUN RUDRO" userId="24b27b9a-aab3-4351-8aca-a88306e0f932" providerId="ADAL" clId="{DB9BBBDC-F455-4572-BF35-B25E0968203C}" dt="2026-10-05T08:45:42.568" v="65"/>
        <pc:sldMkLst>
          <pc:docMk/>
          <pc:sldMk cId="1063353338" sldId="345"/>
        </pc:sldMkLst>
      </pc:sldChg>
      <pc:sldChg chg="add">
        <pc:chgData name="RIFAT AL MAMUN RUDRO" userId="24b27b9a-aab3-4351-8aca-a88306e0f932" providerId="ADAL" clId="{DB9BBBDC-F455-4572-BF35-B25E0968203C}" dt="2026-10-05T08:45:49.155" v="67"/>
        <pc:sldMkLst>
          <pc:docMk/>
          <pc:sldMk cId="2918601154" sldId="346"/>
        </pc:sldMkLst>
      </pc:sldChg>
      <pc:sldChg chg="add">
        <pc:chgData name="RIFAT AL MAMUN RUDRO" userId="24b27b9a-aab3-4351-8aca-a88306e0f932" providerId="ADAL" clId="{DB9BBBDC-F455-4572-BF35-B25E0968203C}" dt="2026-10-05T08:45:53.730" v="69"/>
        <pc:sldMkLst>
          <pc:docMk/>
          <pc:sldMk cId="3098547895" sldId="347"/>
        </pc:sldMkLst>
      </pc:sldChg>
      <pc:sldChg chg="add">
        <pc:chgData name="RIFAT AL MAMUN RUDRO" userId="24b27b9a-aab3-4351-8aca-a88306e0f932" providerId="ADAL" clId="{DB9BBBDC-F455-4572-BF35-B25E0968203C}" dt="2026-10-05T08:45:58.487" v="71"/>
        <pc:sldMkLst>
          <pc:docMk/>
          <pc:sldMk cId="699724715" sldId="348"/>
        </pc:sldMkLst>
      </pc:sldChg>
      <pc:sldChg chg="add">
        <pc:chgData name="RIFAT AL MAMUN RUDRO" userId="24b27b9a-aab3-4351-8aca-a88306e0f932" providerId="ADAL" clId="{DB9BBBDC-F455-4572-BF35-B25E0968203C}" dt="2026-10-05T08:46:05.396" v="73"/>
        <pc:sldMkLst>
          <pc:docMk/>
          <pc:sldMk cId="2256485557" sldId="349"/>
        </pc:sldMkLst>
      </pc:sldChg>
      <pc:sldChg chg="add">
        <pc:chgData name="RIFAT AL MAMUN RUDRO" userId="24b27b9a-aab3-4351-8aca-a88306e0f932" providerId="ADAL" clId="{DB9BBBDC-F455-4572-BF35-B25E0968203C}" dt="2026-10-05T08:46:09.629" v="75"/>
        <pc:sldMkLst>
          <pc:docMk/>
          <pc:sldMk cId="1215939037" sldId="350"/>
        </pc:sldMkLst>
      </pc:sldChg>
      <pc:sldChg chg="add">
        <pc:chgData name="RIFAT AL MAMUN RUDRO" userId="24b27b9a-aab3-4351-8aca-a88306e0f932" providerId="ADAL" clId="{DB9BBBDC-F455-4572-BF35-B25E0968203C}" dt="2026-10-05T08:46:13.521" v="77"/>
        <pc:sldMkLst>
          <pc:docMk/>
          <pc:sldMk cId="772111057" sldId="351"/>
        </pc:sldMkLst>
      </pc:sldChg>
      <pc:sldChg chg="add">
        <pc:chgData name="RIFAT AL MAMUN RUDRO" userId="24b27b9a-aab3-4351-8aca-a88306e0f932" providerId="ADAL" clId="{DB9BBBDC-F455-4572-BF35-B25E0968203C}" dt="2026-10-05T08:46:19.411" v="79"/>
        <pc:sldMkLst>
          <pc:docMk/>
          <pc:sldMk cId="4114641513" sldId="352"/>
        </pc:sldMkLst>
      </pc:sldChg>
      <pc:sldChg chg="add">
        <pc:chgData name="RIFAT AL MAMUN RUDRO" userId="24b27b9a-aab3-4351-8aca-a88306e0f932" providerId="ADAL" clId="{DB9BBBDC-F455-4572-BF35-B25E0968203C}" dt="2026-10-05T08:46:23.550" v="81"/>
        <pc:sldMkLst>
          <pc:docMk/>
          <pc:sldMk cId="3225375013" sldId="353"/>
        </pc:sldMkLst>
      </pc:sldChg>
      <pc:sldChg chg="add">
        <pc:chgData name="RIFAT AL MAMUN RUDRO" userId="24b27b9a-aab3-4351-8aca-a88306e0f932" providerId="ADAL" clId="{DB9BBBDC-F455-4572-BF35-B25E0968203C}" dt="2026-10-05T08:46:28.507" v="83"/>
        <pc:sldMkLst>
          <pc:docMk/>
          <pc:sldMk cId="3105004535" sldId="354"/>
        </pc:sldMkLst>
      </pc:sldChg>
      <pc:sldChg chg="add">
        <pc:chgData name="RIFAT AL MAMUN RUDRO" userId="24b27b9a-aab3-4351-8aca-a88306e0f932" providerId="ADAL" clId="{DB9BBBDC-F455-4572-BF35-B25E0968203C}" dt="2026-10-05T08:46:45.076" v="85"/>
        <pc:sldMkLst>
          <pc:docMk/>
          <pc:sldMk cId="4000051991" sldId="355"/>
        </pc:sldMkLst>
      </pc:sldChg>
      <pc:sldChg chg="add">
        <pc:chgData name="RIFAT AL MAMUN RUDRO" userId="24b27b9a-aab3-4351-8aca-a88306e0f932" providerId="ADAL" clId="{DB9BBBDC-F455-4572-BF35-B25E0968203C}" dt="2026-10-05T08:46:49.647" v="87"/>
        <pc:sldMkLst>
          <pc:docMk/>
          <pc:sldMk cId="1756639082" sldId="356"/>
        </pc:sldMkLst>
      </pc:sldChg>
      <pc:sldChg chg="add">
        <pc:chgData name="RIFAT AL MAMUN RUDRO" userId="24b27b9a-aab3-4351-8aca-a88306e0f932" providerId="ADAL" clId="{DB9BBBDC-F455-4572-BF35-B25E0968203C}" dt="2026-10-05T08:46:59.078" v="89"/>
        <pc:sldMkLst>
          <pc:docMk/>
          <pc:sldMk cId="4252209064" sldId="357"/>
        </pc:sldMkLst>
      </pc:sldChg>
      <pc:sldMasterChg chg="del delSldLayout">
        <pc:chgData name="RIFAT AL MAMUN RUDRO" userId="24b27b9a-aab3-4351-8aca-a88306e0f932" providerId="ADAL" clId="{DB9BBBDC-F455-4572-BF35-B25E0968203C}" dt="2026-10-05T08:43:55.574" v="36"/>
        <pc:sldMasterMkLst>
          <pc:docMk/>
          <pc:sldMasterMk cId="0" sldId="2147483648"/>
        </pc:sldMasterMkLst>
        <pc:sldLayoutChg chg="del">
          <pc:chgData name="RIFAT AL MAMUN RUDRO" userId="24b27b9a-aab3-4351-8aca-a88306e0f932" providerId="ADAL" clId="{DB9BBBDC-F455-4572-BF35-B25E0968203C}" dt="2026-10-05T08:43:55.574" v="36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add addSldLayout modSldLayout">
        <pc:chgData name="RIFAT AL MAMUN RUDRO" userId="24b27b9a-aab3-4351-8aca-a88306e0f932" providerId="ADAL" clId="{DB9BBBDC-F455-4572-BF35-B25E0968203C}" dt="2026-10-05T08:43:55.388" v="0"/>
        <pc:sldMasterMkLst>
          <pc:docMk/>
          <pc:sldMasterMk cId="0" sldId="2147483650"/>
        </pc:sldMasterMkLst>
        <pc:sldLayoutChg chg="add mod">
          <pc:chgData name="RIFAT AL MAMUN RUDRO" userId="24b27b9a-aab3-4351-8aca-a88306e0f932" providerId="ADAL" clId="{DB9BBBDC-F455-4572-BF35-B25E0968203C}" dt="2026-10-05T08:43:55.388" v="0"/>
          <pc:sldLayoutMkLst>
            <pc:docMk/>
            <pc:sldMasterMk cId="0" sldId="2147483650"/>
            <pc:sldLayoutMk cId="0" sldId="214748365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493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w3schools.com/js/js_loop_while.asp" TargetMode="External"/><Relationship Id="rId4" Type="http://schemas.openxmlformats.org/officeDocument/2006/relationships/hyperlink" Target="https://www.w3schools.com/js/js_loop_for.asp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w3schools.com/jsref/dom_obj_style.asp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pringboard.com/blog/history-of-javascript/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w3schools.com/js/js_validation.asp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3schools.com/js/js_htmldom.asp" TargetMode="External"/><Relationship Id="rId5" Type="http://schemas.openxmlformats.org/officeDocument/2006/relationships/hyperlink" Target="https://www.w3schools.com/js/" TargetMode="External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66344"/>
            <a:ext cx="621792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AMERICAN INTERNATIONAL UNIVERSITY-BANGLADESH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58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of Computer Science  ·  Faculty of Science and Technology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4173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 HTML DOM and Form Validation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377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flow, arrays, objects, changing the page, and checking user input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52160" y="141732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89320" y="15179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135624" y="15179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81928" y="15179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492240" y="147218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dom.js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1746504"/>
            <a:ext cx="25603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el = document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"demo"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 = "red"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14" name="btn">
            <a:hlinkClick r:id="" action="ppaction://noaction"/>
          </p:cNvPr>
          <p:cNvSpPr/>
          <p:nvPr/>
        </p:nvSpPr>
        <p:spPr>
          <a:xfrm>
            <a:off x="457200" y="310896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▶  Start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920240" y="31821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deck: run it in Slide Show mode and click the buttons.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379476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F1F2F6"/>
          </a:solidFill>
          <a:ln w="1270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21792" y="38862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" y="40873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· Web Technologies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2834640" y="379476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1F2F6"/>
          </a:solidFill>
          <a:ln w="1270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2999232" y="38862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2999232" y="408736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No. 05 · Week 06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72000" y="379476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F1F2F6"/>
          </a:solidFill>
          <a:ln w="1270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4736592" y="38862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SEMESTER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4736592" y="408736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2026-27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035040" y="379476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1F2F6"/>
          </a:solidFill>
          <a:ln w="1270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6199632" y="38862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LECTURER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6199632" y="40873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Rifat Al Mamun Rudro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mamun.rudro@aiub.edu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69767246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05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outline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JS DOM and Forms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241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 section to jump to it. The ⌂ Outline button on every slide brings you back here.</a:t>
            </a:r>
            <a:endParaRPr lang="en-US" sz="1000" dirty="0"/>
          </a:p>
        </p:txBody>
      </p:sp>
      <p:sp>
        <p:nvSpPr>
          <p:cNvPr id="9" name="btn">
            <a:hlinkClick r:id="" action="ppaction://noaction"/>
          </p:cNvPr>
          <p:cNvSpPr/>
          <p:nvPr/>
        </p:nvSpPr>
        <p:spPr>
          <a:xfrm>
            <a:off x="457200" y="141732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/ else, switch, and loops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23160" y="158191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6787" y="1705539"/>
            <a:ext cx="228234" cy="228234"/>
          </a:xfrm>
          <a:prstGeom prst="rect">
            <a:avLst/>
          </a:prstGeom>
        </p:spPr>
      </p:pic>
      <p:sp>
        <p:nvSpPr>
          <p:cNvPr id="12" name="btn">
            <a:hlinkClick r:id="" action="ppaction://noaction"/>
          </p:cNvPr>
          <p:cNvSpPr/>
          <p:nvPr/>
        </p:nvSpPr>
        <p:spPr>
          <a:xfrm>
            <a:off x="3264408" y="141732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Creating, accessing, and looping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230368" y="158191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3995" y="1705539"/>
            <a:ext cx="228234" cy="228234"/>
          </a:xfrm>
          <a:prstGeom prst="rect">
            <a:avLst/>
          </a:prstGeom>
        </p:spPr>
      </p:pic>
      <p:sp>
        <p:nvSpPr>
          <p:cNvPr id="15" name="btn">
            <a:hlinkClick r:id="" action="ppaction://noaction"/>
          </p:cNvPr>
          <p:cNvSpPr/>
          <p:nvPr/>
        </p:nvSpPr>
        <p:spPr>
          <a:xfrm>
            <a:off x="6071616" y="141732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Methods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join, pop, push, and friends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8037576" y="158191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1203" y="1705539"/>
            <a:ext cx="228234" cy="228234"/>
          </a:xfrm>
          <a:prstGeom prst="rect">
            <a:avLst/>
          </a:prstGeom>
        </p:spPr>
      </p:pic>
      <p:sp>
        <p:nvSpPr>
          <p:cNvPr id="18" name="btn">
            <a:hlinkClick r:id="" action="ppaction://noaction"/>
          </p:cNvPr>
          <p:cNvSpPr/>
          <p:nvPr/>
        </p:nvSpPr>
        <p:spPr>
          <a:xfrm>
            <a:off x="457200" y="306324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Objects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Properties, methods, arrays of objects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2423160" y="322783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6787" y="3351459"/>
            <a:ext cx="228234" cy="228234"/>
          </a:xfrm>
          <a:prstGeom prst="rect">
            <a:avLst/>
          </a:prstGeom>
        </p:spPr>
      </p:pic>
      <p:sp>
        <p:nvSpPr>
          <p:cNvPr id="21" name="btn">
            <a:hlinkClick r:id="" action="ppaction://noaction"/>
          </p:cNvPr>
          <p:cNvSpPr/>
          <p:nvPr/>
        </p:nvSpPr>
        <p:spPr>
          <a:xfrm>
            <a:off x="3264408" y="306324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HTML DOM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elements and changing CSS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5230368" y="322783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3995" y="3351459"/>
            <a:ext cx="228234" cy="228234"/>
          </a:xfrm>
          <a:prstGeom prst="rect">
            <a:avLst/>
          </a:prstGeom>
        </p:spPr>
      </p:pic>
      <p:sp>
        <p:nvSpPr>
          <p:cNvPr id="24" name="btn">
            <a:hlinkClick r:id="" action="ppaction://noaction"/>
          </p:cNvPr>
          <p:cNvSpPr/>
          <p:nvPr/>
        </p:nvSpPr>
        <p:spPr>
          <a:xfrm>
            <a:off x="6071616" y="306324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and Debugging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forms, finding bugs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8037576" y="322783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1203" y="3351459"/>
            <a:ext cx="228234" cy="22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186819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which code runs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AA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F2F6"/>
          </a:solidFill>
          <a:ln>
            <a:solidFill>
              <a:srgbClr val="DADC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659020553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/ else in a real page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JS DOM and Forms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/ else statements change the flow of a program. The syntax is the same as in other languages.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554480"/>
            <a:ext cx="4480560" cy="3063240"/>
          </a:xfrm>
          <a:prstGeom prst="roundRect">
            <a:avLst>
              <a:gd name="adj" fmla="val 238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16550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" y="16550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6968" y="16550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097280" y="1609344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1883664"/>
            <a:ext cx="420624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"myFunction()"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it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"demo"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&gt;&lt;/p&gt;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myFunction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greeting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greeting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"Good day"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greeting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"Good night"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greeting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"Good evening"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"demo"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innerHTML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greeting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5212080" y="15544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IT WITH  hour = 19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212080" y="1828800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212080" y="1828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 &lt; 18</a:t>
            </a:r>
            <a:endParaRPr lang="en-US" sz="1050" dirty="0"/>
          </a:p>
        </p:txBody>
      </p:sp>
      <p:sp>
        <p:nvSpPr>
          <p:cNvPr id="18" name="anim-1-0"/>
          <p:cNvSpPr/>
          <p:nvPr/>
        </p:nvSpPr>
        <p:spPr>
          <a:xfrm>
            <a:off x="6492240" y="1828800"/>
            <a:ext cx="2194560" cy="502920"/>
          </a:xfrm>
          <a:prstGeom prst="roundRect">
            <a:avLst>
              <a:gd name="adj" fmla="val 9091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nim-1-0"/>
          <p:cNvSpPr txBox="1"/>
          <p:nvPr/>
        </p:nvSpPr>
        <p:spPr>
          <a:xfrm>
            <a:off x="6583680" y="1828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&lt; 18 is false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212080" y="2487168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5212080" y="24871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 &gt; 20</a:t>
            </a:r>
            <a:endParaRPr lang="en-US" sz="1050" dirty="0"/>
          </a:p>
        </p:txBody>
      </p:sp>
      <p:sp>
        <p:nvSpPr>
          <p:cNvPr id="22" name="anim-2-1"/>
          <p:cNvSpPr/>
          <p:nvPr/>
        </p:nvSpPr>
        <p:spPr>
          <a:xfrm>
            <a:off x="6492240" y="2487168"/>
            <a:ext cx="2194560" cy="502920"/>
          </a:xfrm>
          <a:prstGeom prst="roundRect">
            <a:avLst>
              <a:gd name="adj" fmla="val 9091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im-2-1"/>
          <p:cNvSpPr txBox="1"/>
          <p:nvPr/>
        </p:nvSpPr>
        <p:spPr>
          <a:xfrm>
            <a:off x="6583680" y="24871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&gt; 20 is false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212080" y="3145536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5212080" y="314553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050" dirty="0"/>
          </a:p>
        </p:txBody>
      </p:sp>
      <p:sp>
        <p:nvSpPr>
          <p:cNvPr id="26" name="anim-3-2"/>
          <p:cNvSpPr/>
          <p:nvPr/>
        </p:nvSpPr>
        <p:spPr>
          <a:xfrm>
            <a:off x="6492240" y="3145536"/>
            <a:ext cx="2194560" cy="502920"/>
          </a:xfrm>
          <a:prstGeom prst="roundRect">
            <a:avLst>
              <a:gd name="adj" fmla="val 9091"/>
            </a:avLst>
          </a:prstGeom>
          <a:solidFill>
            <a:srgbClr val="E6F5EE"/>
          </a:solidFill>
          <a:ln w="12700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anim-3-2"/>
          <p:cNvSpPr txBox="1"/>
          <p:nvPr/>
        </p:nvSpPr>
        <p:spPr>
          <a:xfrm>
            <a:off x="6583680" y="314553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runs: greeting = "Good evening"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212080" y="38404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321808" y="39319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440680" y="39319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559552" y="39319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5760720" y="389534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5852160" y="389991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5248656" y="4114800"/>
            <a:ext cx="3401568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5358384" y="4224528"/>
            <a:ext cx="640080" cy="237744"/>
          </a:xfrm>
          <a:prstGeom prst="roundRect">
            <a:avLst>
              <a:gd name="adj" fmla="val 11538"/>
            </a:avLst>
          </a:prstGeom>
          <a:solidFill>
            <a:srgbClr val="EFEFEF"/>
          </a:solidFill>
          <a:ln w="9525">
            <a:solidFill>
              <a:srgbClr val="767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5358384" y="4224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</a:t>
            </a:r>
            <a:endParaRPr lang="en-US" sz="900" dirty="0"/>
          </a:p>
        </p:txBody>
      </p:sp>
      <p:sp>
        <p:nvSpPr>
          <p:cNvPr id="37" name="anim-4-3"/>
          <p:cNvSpPr txBox="1"/>
          <p:nvPr/>
        </p:nvSpPr>
        <p:spPr>
          <a:xfrm>
            <a:off x="6163056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evening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4577170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2" grpId="0" animBg="1"/>
      <p:bldP spid="23" grpId="0" animBg="1"/>
      <p:bldP spid="26" grpId="0" animBg="1"/>
      <p:bldP spid="27" grpId="0" animBg="1"/>
      <p:bldP spid="3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switch, and why the type matters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JS DOM and Forms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a tidy replacement for a long else-if chain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Cases use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comparison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(===), so the value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type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must match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87452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57200" y="1874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is a STRING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2212848"/>
            <a:ext cx="2331720" cy="2377440"/>
          </a:xfrm>
          <a:prstGeom prst="roundRect">
            <a:avLst>
              <a:gd name="adj" fmla="val 313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94360" y="231343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40664" y="231343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86968" y="231343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94360" y="2542032"/>
            <a:ext cx="20574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"Off"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"On"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value found"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2926080" y="2212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850" dirty="0"/>
          </a:p>
        </p:txBody>
      </p:sp>
      <p:sp>
        <p:nvSpPr>
          <p:cNvPr id="17" name="anim-1-4"/>
          <p:cNvSpPr/>
          <p:nvPr/>
        </p:nvSpPr>
        <p:spPr>
          <a:xfrm>
            <a:off x="2926080" y="246888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FBEAEA"/>
          </a:solidFill>
          <a:ln w="9525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anim-1-4"/>
          <p:cNvSpPr txBox="1"/>
          <p:nvPr/>
        </p:nvSpPr>
        <p:spPr>
          <a:xfrm>
            <a:off x="2971800" y="25146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value found"</a:t>
            </a:r>
            <a:endParaRPr lang="en-US" sz="1100" dirty="0"/>
          </a:p>
        </p:txBody>
      </p:sp>
      <p:sp>
        <p:nvSpPr>
          <p:cNvPr id="19" name="anim-1-4"/>
          <p:cNvSpPr txBox="1"/>
          <p:nvPr/>
        </p:nvSpPr>
        <p:spPr>
          <a:xfrm>
            <a:off x="2926080" y="356616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"0" === 0 is false, so no case matches.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09160" y="187452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6F5EE"/>
          </a:solidFill>
          <a:ln w="12700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4709160" y="1874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is a NUMBER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709160" y="2212848"/>
            <a:ext cx="2331720" cy="2377440"/>
          </a:xfrm>
          <a:prstGeom prst="roundRect">
            <a:avLst>
              <a:gd name="adj" fmla="val 313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846320" y="231343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992624" y="231343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138928" y="231343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4846320" y="2542032"/>
            <a:ext cx="20574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"Off"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"On"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value found"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7178040" y="2212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850" dirty="0"/>
          </a:p>
        </p:txBody>
      </p:sp>
      <p:sp>
        <p:nvSpPr>
          <p:cNvPr id="28" name="anim-2-5"/>
          <p:cNvSpPr/>
          <p:nvPr/>
        </p:nvSpPr>
        <p:spPr>
          <a:xfrm>
            <a:off x="7178040" y="246888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E6F5EE"/>
          </a:solidFill>
          <a:ln w="9525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anim-2-5"/>
          <p:cNvSpPr txBox="1"/>
          <p:nvPr/>
        </p:nvSpPr>
        <p:spPr>
          <a:xfrm>
            <a:off x="7223760" y="25146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"Off"</a:t>
            </a:r>
            <a:endParaRPr lang="en-US" sz="1600" dirty="0"/>
          </a:p>
        </p:txBody>
      </p:sp>
      <p:sp>
        <p:nvSpPr>
          <p:cNvPr id="30" name="anim-2-5"/>
          <p:cNvSpPr txBox="1"/>
          <p:nvPr/>
        </p:nvSpPr>
        <p:spPr>
          <a:xfrm>
            <a:off x="7178040" y="356616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=== 0 is true, so case 0 runs.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4782675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8" grpId="0" animBg="1"/>
      <p:bldP spid="29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JS DOM and Forms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43000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1508760"/>
            <a:ext cx="2624328" cy="2011680"/>
          </a:xfrm>
          <a:prstGeom prst="roundRect">
            <a:avLst>
              <a:gd name="adj" fmla="val 363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16093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" y="160934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6968" y="16093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94360" y="1837944"/>
            <a:ext cx="235000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r>
              <a:rPr lang="en-US" sz="10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number is "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"&lt;br&gt;"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264408" y="1143000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264408" y="1508760"/>
            <a:ext cx="2624328" cy="2011680"/>
          </a:xfrm>
          <a:prstGeom prst="roundRect">
            <a:avLst>
              <a:gd name="adj" fmla="val 363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401568" y="16093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547872" y="160934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694176" y="16093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3401568" y="1837944"/>
            <a:ext cx="235000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number is "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6071616" y="1143000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... while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071616" y="1508760"/>
            <a:ext cx="2624328" cy="2011680"/>
          </a:xfrm>
          <a:prstGeom prst="roundRect">
            <a:avLst>
              <a:gd name="adj" fmla="val 363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208776" y="16093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355080" y="160934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501384" y="16093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6208776" y="1837944"/>
            <a:ext cx="235000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number is "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57200" y="37033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640080" y="3703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 ... while loop always runs its body </a:t>
            </a: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least once</a:t>
            </a: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because the condition is checked at the end.</a:t>
            </a:r>
            <a:endParaRPr lang="en-US" sz="1200" dirty="0"/>
          </a:p>
        </p:txBody>
      </p:sp>
      <p:sp>
        <p:nvSpPr>
          <p:cNvPr id="28" name="btn">
            <a:hlinkClick r:id="rId4"/>
          </p:cNvPr>
          <p:cNvSpPr/>
          <p:nvPr/>
        </p:nvSpPr>
        <p:spPr>
          <a:xfrm>
            <a:off x="457200" y="4370832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 read: for loop  ↗</a:t>
            </a:r>
            <a:endParaRPr lang="en-US" sz="950" dirty="0"/>
          </a:p>
        </p:txBody>
      </p:sp>
      <p:sp>
        <p:nvSpPr>
          <p:cNvPr id="29" name="btn">
            <a:hlinkClick r:id="rId5"/>
          </p:cNvPr>
          <p:cNvSpPr/>
          <p:nvPr/>
        </p:nvSpPr>
        <p:spPr>
          <a:xfrm>
            <a:off x="2606040" y="4370832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 read: while loop  ↗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472513359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 · QUIZ 1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JS DOM and Forms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" y="709574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5029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switch example, x = "0" (a string). What does text become?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1389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an answer to check it.</a:t>
            </a:r>
            <a:endParaRPr lang="en-US" sz="1000" dirty="0"/>
          </a:p>
        </p:txBody>
      </p:sp>
      <p:sp>
        <p:nvSpPr>
          <p:cNvPr id="11" name="btn">
            <a:hlinkClick r:id="" action="ppaction://noaction"/>
          </p:cNvPr>
          <p:cNvSpPr/>
          <p:nvPr/>
        </p:nvSpPr>
        <p:spPr>
          <a:xfrm>
            <a:off x="45720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"Off"</a:t>
            </a:r>
            <a:endParaRPr lang="en-US" sz="1400" dirty="0"/>
          </a:p>
        </p:txBody>
      </p:sp>
      <p:sp>
        <p:nvSpPr>
          <p:cNvPr id="12" name="btn">
            <a:hlinkClick r:id="" action="ppaction://noaction"/>
          </p:cNvPr>
          <p:cNvSpPr/>
          <p:nvPr/>
        </p:nvSpPr>
        <p:spPr>
          <a:xfrm>
            <a:off x="65836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btn">
            <a:hlinkClick r:id="" action="ppaction://noaction"/>
          </p:cNvPr>
          <p:cNvSpPr/>
          <p:nvPr/>
        </p:nvSpPr>
        <p:spPr>
          <a:xfrm>
            <a:off x="466344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"On"</a:t>
            </a:r>
            <a:endParaRPr lang="en-US" sz="1400" dirty="0"/>
          </a:p>
        </p:txBody>
      </p:sp>
      <p:sp>
        <p:nvSpPr>
          <p:cNvPr id="14" name="btn">
            <a:hlinkClick r:id="" action="ppaction://noaction"/>
          </p:cNvPr>
          <p:cNvSpPr/>
          <p:nvPr/>
        </p:nvSpPr>
        <p:spPr>
          <a:xfrm>
            <a:off x="486460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btn">
            <a:hlinkClick r:id="" action="ppaction://noaction"/>
          </p:cNvPr>
          <p:cNvSpPr/>
          <p:nvPr/>
        </p:nvSpPr>
        <p:spPr>
          <a:xfrm>
            <a:off x="45720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"No value found"</a:t>
            </a:r>
            <a:endParaRPr lang="en-US" sz="1400" dirty="0"/>
          </a:p>
        </p:txBody>
      </p:sp>
      <p:sp>
        <p:nvSpPr>
          <p:cNvPr id="16" name="btn">
            <a:hlinkClick r:id="" action="ppaction://noaction"/>
          </p:cNvPr>
          <p:cNvSpPr/>
          <p:nvPr/>
        </p:nvSpPr>
        <p:spPr>
          <a:xfrm>
            <a:off x="65836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btn">
            <a:hlinkClick r:id="" action="ppaction://noaction"/>
          </p:cNvPr>
          <p:cNvSpPr/>
          <p:nvPr/>
        </p:nvSpPr>
        <p:spPr>
          <a:xfrm>
            <a:off x="466344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error</a:t>
            </a:r>
            <a:endParaRPr lang="en-US" sz="1400" dirty="0"/>
          </a:p>
        </p:txBody>
      </p:sp>
      <p:sp>
        <p:nvSpPr>
          <p:cNvPr id="18" name="btn">
            <a:hlinkClick r:id="" action="ppaction://noaction"/>
          </p:cNvPr>
          <p:cNvSpPr/>
          <p:nvPr/>
        </p:nvSpPr>
        <p:spPr>
          <a:xfrm>
            <a:off x="486460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751679741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values in one variable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AA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F2F6"/>
          </a:solidFill>
          <a:ln>
            <a:solidFill>
              <a:srgbClr val="DADC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787410119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and accessing an array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JS DOM and Forms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array stores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values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 a single variable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literal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the easiest way to create one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also use the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keyword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an element by its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indexes start at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30632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316382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" y="316382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6968" y="316382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94360" y="3392424"/>
            <a:ext cx="3749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cars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"Saab"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"Volvo"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"BMW"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cars2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"Saab"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"Volvo"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"BMW"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cars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"Saab"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cars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"Opel"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5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change an element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1188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cars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14173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846320" y="1636776"/>
            <a:ext cx="123444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4846320" y="163677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"Saab"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080760" y="14173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080760" y="1636776"/>
            <a:ext cx="123444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6080760" y="163677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"Volvo"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0" y="14173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315200" y="1636776"/>
            <a:ext cx="123444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315200" y="163677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"BMW"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846320" y="212140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 cars[0]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4846320" y="25146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 cars[0] = "Opel"</a:t>
            </a:r>
            <a:endParaRPr lang="en-US" sz="850" dirty="0"/>
          </a:p>
        </p:txBody>
      </p:sp>
      <p:sp>
        <p:nvSpPr>
          <p:cNvPr id="26" name="anim-1-6"/>
          <p:cNvSpPr txBox="1"/>
          <p:nvPr/>
        </p:nvSpPr>
        <p:spPr>
          <a:xfrm>
            <a:off x="4846320" y="27432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27" name="anim-1-6"/>
          <p:cNvSpPr/>
          <p:nvPr/>
        </p:nvSpPr>
        <p:spPr>
          <a:xfrm>
            <a:off x="4846320" y="2962656"/>
            <a:ext cx="1234440" cy="457200"/>
          </a:xfrm>
          <a:prstGeom prst="rect">
            <a:avLst/>
          </a:prstGeom>
          <a:solidFill>
            <a:srgbClr val="66339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anim-1-6"/>
          <p:cNvSpPr txBox="1"/>
          <p:nvPr/>
        </p:nvSpPr>
        <p:spPr>
          <a:xfrm>
            <a:off x="4846320" y="296265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"Opel"</a:t>
            </a:r>
            <a:endParaRPr lang="en-US" sz="1200" dirty="0"/>
          </a:p>
        </p:txBody>
      </p:sp>
      <p:sp>
        <p:nvSpPr>
          <p:cNvPr id="29" name="anim-1-6"/>
          <p:cNvSpPr txBox="1"/>
          <p:nvPr/>
        </p:nvSpPr>
        <p:spPr>
          <a:xfrm>
            <a:off x="6080760" y="27432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anim-1-6"/>
          <p:cNvSpPr/>
          <p:nvPr/>
        </p:nvSpPr>
        <p:spPr>
          <a:xfrm>
            <a:off x="6080760" y="2962656"/>
            <a:ext cx="123444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anim-1-6"/>
          <p:cNvSpPr txBox="1"/>
          <p:nvPr/>
        </p:nvSpPr>
        <p:spPr>
          <a:xfrm>
            <a:off x="6080760" y="296265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"Volvo"</a:t>
            </a:r>
            <a:endParaRPr lang="en-US" sz="1200" dirty="0"/>
          </a:p>
        </p:txBody>
      </p:sp>
      <p:sp>
        <p:nvSpPr>
          <p:cNvPr id="32" name="anim-1-6"/>
          <p:cNvSpPr txBox="1"/>
          <p:nvPr/>
        </p:nvSpPr>
        <p:spPr>
          <a:xfrm>
            <a:off x="7315200" y="27432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anim-1-6"/>
          <p:cNvSpPr/>
          <p:nvPr/>
        </p:nvSpPr>
        <p:spPr>
          <a:xfrm>
            <a:off x="7315200" y="2962656"/>
            <a:ext cx="123444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anim-1-6"/>
          <p:cNvSpPr txBox="1"/>
          <p:nvPr/>
        </p:nvSpPr>
        <p:spPr>
          <a:xfrm>
            <a:off x="7315200" y="296265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"BMW"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846320" y="37033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4983480" y="37033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 are special objects: </a:t>
            </a:r>
            <a:r>
              <a:rPr lang="en-US" sz="1050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cars</a:t>
            </a: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gives "object". Use </a:t>
            </a:r>
            <a:r>
              <a:rPr lang="en-US" sz="1050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Array.isArray(cars)</a:t>
            </a: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 check for an array.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319658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array can hold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JS DOM and Forms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array element can be anything: a number, a string, an object, a function, or even another array.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6002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170078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" y="170078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6968" y="170078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94360" y="1929384"/>
            <a:ext cx="3657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myCars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"Saab"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"BMW"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myArray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myArray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function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myArray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myFunction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function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myArray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myCars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1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 array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1600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myArray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18288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16" name="anim-1-7"/>
          <p:cNvSpPr/>
          <p:nvPr/>
        </p:nvSpPr>
        <p:spPr>
          <a:xfrm>
            <a:off x="4663440" y="2048256"/>
            <a:ext cx="1280160" cy="566928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nim-1-7"/>
          <p:cNvSpPr txBox="1"/>
          <p:nvPr/>
        </p:nvSpPr>
        <p:spPr>
          <a:xfrm>
            <a:off x="4663440" y="204825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Date.now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07608" y="18288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anim-2-8"/>
          <p:cNvSpPr/>
          <p:nvPr/>
        </p:nvSpPr>
        <p:spPr>
          <a:xfrm>
            <a:off x="6007608" y="2048256"/>
            <a:ext cx="1280160" cy="566928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nim-2-8"/>
          <p:cNvSpPr txBox="1"/>
          <p:nvPr/>
        </p:nvSpPr>
        <p:spPr>
          <a:xfrm>
            <a:off x="6007608" y="204825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myFunction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351776" y="18288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anim-3-9"/>
          <p:cNvSpPr/>
          <p:nvPr/>
        </p:nvSpPr>
        <p:spPr>
          <a:xfrm>
            <a:off x="7351776" y="2048256"/>
            <a:ext cx="1280160" cy="566928"/>
          </a:xfrm>
          <a:prstGeom prst="rect">
            <a:avLst/>
          </a:prstGeom>
          <a:solidFill>
            <a:srgbClr val="66339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im-3-9"/>
          <p:cNvSpPr txBox="1"/>
          <p:nvPr/>
        </p:nvSpPr>
        <p:spPr>
          <a:xfrm>
            <a:off x="7351776" y="204825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myCars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3D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</a:t>
            </a:r>
            <a:endParaRPr lang="en-US" sz="1000" dirty="0"/>
          </a:p>
        </p:txBody>
      </p:sp>
      <p:sp>
        <p:nvSpPr>
          <p:cNvPr id="24" name="anim-3-10"/>
          <p:cNvSpPr/>
          <p:nvPr/>
        </p:nvSpPr>
        <p:spPr>
          <a:xfrm>
            <a:off x="7991856" y="2651760"/>
            <a:ext cx="914" cy="320040"/>
          </a:xfrm>
          <a:prstGeom prst="line">
            <a:avLst/>
          </a:prstGeom>
          <a:noFill/>
          <a:ln w="19050">
            <a:solidFill>
              <a:srgbClr val="6633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anim-3-10"/>
          <p:cNvSpPr txBox="1"/>
          <p:nvPr/>
        </p:nvSpPr>
        <p:spPr>
          <a:xfrm>
            <a:off x="7214616" y="28803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26" name="anim-3-10"/>
          <p:cNvSpPr/>
          <p:nvPr/>
        </p:nvSpPr>
        <p:spPr>
          <a:xfrm>
            <a:off x="7214616" y="3099816"/>
            <a:ext cx="77724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anim-3-10"/>
          <p:cNvSpPr txBox="1"/>
          <p:nvPr/>
        </p:nvSpPr>
        <p:spPr>
          <a:xfrm>
            <a:off x="7214616" y="309981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"Saab"</a:t>
            </a:r>
            <a:endParaRPr lang="en-US" sz="900" dirty="0"/>
          </a:p>
        </p:txBody>
      </p:sp>
      <p:sp>
        <p:nvSpPr>
          <p:cNvPr id="28" name="anim-3-10"/>
          <p:cNvSpPr txBox="1"/>
          <p:nvPr/>
        </p:nvSpPr>
        <p:spPr>
          <a:xfrm>
            <a:off x="7991856" y="28803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anim-3-10"/>
          <p:cNvSpPr/>
          <p:nvPr/>
        </p:nvSpPr>
        <p:spPr>
          <a:xfrm>
            <a:off x="7991856" y="3099816"/>
            <a:ext cx="77724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anim-3-10"/>
          <p:cNvSpPr txBox="1"/>
          <p:nvPr/>
        </p:nvSpPr>
        <p:spPr>
          <a:xfrm>
            <a:off x="7991856" y="309981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"BMW"</a:t>
            </a:r>
            <a:endParaRPr lang="en-US" sz="900" dirty="0"/>
          </a:p>
        </p:txBody>
      </p:sp>
      <p:sp>
        <p:nvSpPr>
          <p:cNvPr id="31" name="anim-3-10"/>
          <p:cNvSpPr txBox="1"/>
          <p:nvPr/>
        </p:nvSpPr>
        <p:spPr>
          <a:xfrm>
            <a:off x="5486400" y="3657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array inside an array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7200" y="333756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621792" y="3429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the whole array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621792" y="37033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 to the array by name: document.getElementById("demo").innerHTML = cars; prints Saab,Volvo,BMW.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8431288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Looping through an array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JS DOM and Forms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430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 loop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508760"/>
            <a:ext cx="3977640" cy="1965960"/>
          </a:xfrm>
          <a:prstGeom prst="roundRect">
            <a:avLst>
              <a:gd name="adj" fmla="val 372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16093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" y="160934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6968" y="16093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94360" y="1837944"/>
            <a:ext cx="370332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"Banana"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"Orange"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"Apple"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"Mango"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"&lt;ul&gt;"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"&lt;li&gt;"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"&lt;/li&gt;"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"&lt;/ul&gt;"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11430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Array.forEach()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709160" y="1508760"/>
            <a:ext cx="3977640" cy="1965960"/>
          </a:xfrm>
          <a:prstGeom prst="roundRect">
            <a:avLst>
              <a:gd name="adj" fmla="val 372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846320" y="16093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992624" y="160934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138928" y="16093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4846320" y="1837944"/>
            <a:ext cx="370332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"Banana"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"Orange"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"Apple"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"Mango"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"&lt;ul&gt;"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myFunction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"&lt;/ul&gt;"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myFunction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"&lt;li&gt;"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"&lt;/li&gt;"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36393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PRODUCE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66928" y="39319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85800" y="39319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04672" y="39319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005840" y="389534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1097280" y="389991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93776" y="4114800"/>
            <a:ext cx="8156448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anim-1-11"/>
          <p:cNvSpPr txBox="1"/>
          <p:nvPr/>
        </p:nvSpPr>
        <p:spPr>
          <a:xfrm>
            <a:off x="768096" y="4224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 Banana</a:t>
            </a:r>
            <a:endParaRPr lang="en-US" sz="1200" dirty="0"/>
          </a:p>
        </p:txBody>
      </p:sp>
      <p:sp>
        <p:nvSpPr>
          <p:cNvPr id="29" name="anim-2-12"/>
          <p:cNvSpPr txBox="1"/>
          <p:nvPr/>
        </p:nvSpPr>
        <p:spPr>
          <a:xfrm>
            <a:off x="2231136" y="4224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 Orange</a:t>
            </a:r>
            <a:endParaRPr lang="en-US" sz="1200" dirty="0"/>
          </a:p>
        </p:txBody>
      </p:sp>
      <p:sp>
        <p:nvSpPr>
          <p:cNvPr id="30" name="anim-3-13"/>
          <p:cNvSpPr txBox="1"/>
          <p:nvPr/>
        </p:nvSpPr>
        <p:spPr>
          <a:xfrm>
            <a:off x="3694176" y="4224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 Apple</a:t>
            </a:r>
            <a:endParaRPr lang="en-US" sz="1200" dirty="0"/>
          </a:p>
        </p:txBody>
      </p:sp>
      <p:sp>
        <p:nvSpPr>
          <p:cNvPr id="31" name="anim-4-14"/>
          <p:cNvSpPr txBox="1"/>
          <p:nvPr/>
        </p:nvSpPr>
        <p:spPr>
          <a:xfrm>
            <a:off x="5157216" y="4224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 Mango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4572000" y="36393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fruits.length is 4; each pass adds one &lt;li&gt;. Click to build the list.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6504846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Methods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tools for working with arrays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AA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F2F6"/>
          </a:solidFill>
          <a:ln>
            <a:solidFill>
              <a:srgbClr val="DADC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797015130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METHODS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toString() and join()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JS DOM and Forms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43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fruits = ["Banana", "Orange", "Apple", "Mango"];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371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591056"/>
            <a:ext cx="128016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15910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Banana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737360" y="1371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737360" y="1591056"/>
            <a:ext cx="128016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737360" y="15910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Orange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3017520" y="1371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017520" y="1591056"/>
            <a:ext cx="128016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3017520" y="15910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1371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297680" y="1591056"/>
            <a:ext cx="128016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4297680" y="15910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Mango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331720"/>
            <a:ext cx="2377440" cy="548640"/>
          </a:xfrm>
          <a:prstGeom prst="roundRect">
            <a:avLst>
              <a:gd name="adj" fmla="val 83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457200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fruits.toString()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Converts the array to a string of comma-separated values</a:t>
            </a:r>
            <a:endParaRPr lang="en-US" sz="1050" dirty="0"/>
          </a:p>
        </p:txBody>
      </p:sp>
      <p:sp>
        <p:nvSpPr>
          <p:cNvPr id="24" name="anim-1-15"/>
          <p:cNvSpPr txBox="1"/>
          <p:nvPr/>
        </p:nvSpPr>
        <p:spPr>
          <a:xfrm>
            <a:off x="2880360" y="23317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E6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anim-1-15"/>
          <p:cNvSpPr/>
          <p:nvPr/>
        </p:nvSpPr>
        <p:spPr>
          <a:xfrm>
            <a:off x="3291840" y="2331720"/>
            <a:ext cx="5394960" cy="548640"/>
          </a:xfrm>
          <a:prstGeom prst="roundRect">
            <a:avLst>
              <a:gd name="adj" fmla="val 8333"/>
            </a:avLst>
          </a:prstGeom>
          <a:solidFill>
            <a:srgbClr val="E6F5EE"/>
          </a:solidFill>
          <a:ln w="12700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anim-1-15"/>
          <p:cNvSpPr txBox="1"/>
          <p:nvPr/>
        </p:nvSpPr>
        <p:spPr>
          <a:xfrm>
            <a:off x="3383280" y="23317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"Banana,Orange,Apple,Mango"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3474720"/>
            <a:ext cx="2377440" cy="548640"/>
          </a:xfrm>
          <a:prstGeom prst="roundRect">
            <a:avLst>
              <a:gd name="adj" fmla="val 83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45720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fruits.join(" * ")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4069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Joins all elements into a string, with the separator you choose</a:t>
            </a:r>
            <a:endParaRPr lang="en-US" sz="1050" dirty="0"/>
          </a:p>
        </p:txBody>
      </p:sp>
      <p:sp>
        <p:nvSpPr>
          <p:cNvPr id="30" name="anim-2-16"/>
          <p:cNvSpPr txBox="1"/>
          <p:nvPr/>
        </p:nvSpPr>
        <p:spPr>
          <a:xfrm>
            <a:off x="2880360" y="34747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E6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anim-2-16"/>
          <p:cNvSpPr/>
          <p:nvPr/>
        </p:nvSpPr>
        <p:spPr>
          <a:xfrm>
            <a:off x="3291840" y="3474720"/>
            <a:ext cx="5394960" cy="548640"/>
          </a:xfrm>
          <a:prstGeom prst="roundRect">
            <a:avLst>
              <a:gd name="adj" fmla="val 8333"/>
            </a:avLst>
          </a:prstGeom>
          <a:solidFill>
            <a:srgbClr val="E6F5EE"/>
          </a:solidFill>
          <a:ln w="12700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anim-2-16"/>
          <p:cNvSpPr txBox="1"/>
          <p:nvPr/>
        </p:nvSpPr>
        <p:spPr>
          <a:xfrm>
            <a:off x="3383280" y="34747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"Banana * Orange * Apple * Mango"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Usage: document.getElementById("demo").innerHTML = fruits.join(" * ");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1558748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30" grpId="0" animBg="1"/>
      <p:bldP spid="31" grpId="0" animBg="1"/>
      <p:bldP spid="3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METHODS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pop() and push()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JS DOM and Forms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45720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fruits.pop()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783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Removes the </a:t>
            </a: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</a:t>
            </a: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element and returns it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017520" y="1188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017520" y="141732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3017520" y="1417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Banana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931920" y="141732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3931920" y="1417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Orange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846320" y="141732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4846320" y="1417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760720" y="141732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5760720" y="1417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Mango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3017520" y="19659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</a:t>
            </a:r>
            <a:endParaRPr lang="en-US" sz="850" dirty="0"/>
          </a:p>
        </p:txBody>
      </p:sp>
      <p:sp>
        <p:nvSpPr>
          <p:cNvPr id="21" name="anim-1-17"/>
          <p:cNvSpPr/>
          <p:nvPr/>
        </p:nvSpPr>
        <p:spPr>
          <a:xfrm>
            <a:off x="3017520" y="219456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anim-1-17"/>
          <p:cNvSpPr txBox="1"/>
          <p:nvPr/>
        </p:nvSpPr>
        <p:spPr>
          <a:xfrm>
            <a:off x="3017520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Banana</a:t>
            </a:r>
            <a:endParaRPr lang="en-US" sz="950" dirty="0"/>
          </a:p>
        </p:txBody>
      </p:sp>
      <p:sp>
        <p:nvSpPr>
          <p:cNvPr id="23" name="anim-1-17"/>
          <p:cNvSpPr/>
          <p:nvPr/>
        </p:nvSpPr>
        <p:spPr>
          <a:xfrm>
            <a:off x="3931920" y="219456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anim-1-17"/>
          <p:cNvSpPr txBox="1"/>
          <p:nvPr/>
        </p:nvSpPr>
        <p:spPr>
          <a:xfrm>
            <a:off x="3931920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Orange</a:t>
            </a:r>
            <a:endParaRPr lang="en-US" sz="950" dirty="0"/>
          </a:p>
        </p:txBody>
      </p:sp>
      <p:sp>
        <p:nvSpPr>
          <p:cNvPr id="25" name="anim-1-17"/>
          <p:cNvSpPr/>
          <p:nvPr/>
        </p:nvSpPr>
        <p:spPr>
          <a:xfrm>
            <a:off x="4846320" y="219456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anim-1-17"/>
          <p:cNvSpPr txBox="1"/>
          <p:nvPr/>
        </p:nvSpPr>
        <p:spPr>
          <a:xfrm>
            <a:off x="4846320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950" dirty="0"/>
          </a:p>
        </p:txBody>
      </p:sp>
      <p:sp>
        <p:nvSpPr>
          <p:cNvPr id="27" name="anim-1-17"/>
          <p:cNvSpPr/>
          <p:nvPr/>
        </p:nvSpPr>
        <p:spPr>
          <a:xfrm>
            <a:off x="5760720" y="2194560"/>
            <a:ext cx="914400" cy="457200"/>
          </a:xfrm>
          <a:prstGeom prst="rect">
            <a:avLst/>
          </a:prstGeom>
          <a:solidFill>
            <a:srgbClr val="FBEAEA"/>
          </a:solidFill>
          <a:ln w="12700">
            <a:solidFill>
              <a:srgbClr val="D6454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anim-1-17"/>
          <p:cNvSpPr txBox="1"/>
          <p:nvPr/>
        </p:nvSpPr>
        <p:spPr>
          <a:xfrm>
            <a:off x="5760720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Mango</a:t>
            </a:r>
            <a:endParaRPr lang="en-US" sz="950" dirty="0"/>
          </a:p>
        </p:txBody>
      </p:sp>
      <p:sp>
        <p:nvSpPr>
          <p:cNvPr id="29" name="anim-2-18"/>
          <p:cNvSpPr/>
          <p:nvPr/>
        </p:nvSpPr>
        <p:spPr>
          <a:xfrm>
            <a:off x="7726680" y="219456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anim-2-18"/>
          <p:cNvSpPr txBox="1"/>
          <p:nvPr/>
        </p:nvSpPr>
        <p:spPr>
          <a:xfrm>
            <a:off x="7726680" y="21945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"Mango"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57200" y="297180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45720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fruits.push("Kiwi")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3520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Adds an element </a:t>
            </a: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the end</a:t>
            </a: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returns the </a:t>
            </a: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length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3017520" y="29260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017520" y="315468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301752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Banana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3931920" y="315468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 txBox="1"/>
          <p:nvPr/>
        </p:nvSpPr>
        <p:spPr>
          <a:xfrm>
            <a:off x="393192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Orange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846320" y="315468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 txBox="1"/>
          <p:nvPr/>
        </p:nvSpPr>
        <p:spPr>
          <a:xfrm>
            <a:off x="484632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760720" y="315468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 txBox="1"/>
          <p:nvPr/>
        </p:nvSpPr>
        <p:spPr>
          <a:xfrm>
            <a:off x="576072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Mango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3017520" y="3703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</a:t>
            </a:r>
            <a:endParaRPr lang="en-US" sz="850" dirty="0"/>
          </a:p>
        </p:txBody>
      </p:sp>
      <p:sp>
        <p:nvSpPr>
          <p:cNvPr id="44" name="anim-3-19"/>
          <p:cNvSpPr/>
          <p:nvPr/>
        </p:nvSpPr>
        <p:spPr>
          <a:xfrm>
            <a:off x="3017520" y="393192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anim-3-19"/>
          <p:cNvSpPr txBox="1"/>
          <p:nvPr/>
        </p:nvSpPr>
        <p:spPr>
          <a:xfrm>
            <a:off x="3017520" y="3931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Banana</a:t>
            </a:r>
            <a:endParaRPr lang="en-US" sz="950" dirty="0"/>
          </a:p>
        </p:txBody>
      </p:sp>
      <p:sp>
        <p:nvSpPr>
          <p:cNvPr id="46" name="anim-3-19"/>
          <p:cNvSpPr/>
          <p:nvPr/>
        </p:nvSpPr>
        <p:spPr>
          <a:xfrm>
            <a:off x="3931920" y="393192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anim-3-19"/>
          <p:cNvSpPr txBox="1"/>
          <p:nvPr/>
        </p:nvSpPr>
        <p:spPr>
          <a:xfrm>
            <a:off x="3931920" y="3931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Orange</a:t>
            </a:r>
            <a:endParaRPr lang="en-US" sz="950" dirty="0"/>
          </a:p>
        </p:txBody>
      </p:sp>
      <p:sp>
        <p:nvSpPr>
          <p:cNvPr id="48" name="anim-3-19"/>
          <p:cNvSpPr/>
          <p:nvPr/>
        </p:nvSpPr>
        <p:spPr>
          <a:xfrm>
            <a:off x="4846320" y="393192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anim-3-19"/>
          <p:cNvSpPr txBox="1"/>
          <p:nvPr/>
        </p:nvSpPr>
        <p:spPr>
          <a:xfrm>
            <a:off x="4846320" y="3931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950" dirty="0"/>
          </a:p>
        </p:txBody>
      </p:sp>
      <p:sp>
        <p:nvSpPr>
          <p:cNvPr id="50" name="anim-3-19"/>
          <p:cNvSpPr/>
          <p:nvPr/>
        </p:nvSpPr>
        <p:spPr>
          <a:xfrm>
            <a:off x="5760720" y="3931920"/>
            <a:ext cx="914400" cy="457200"/>
          </a:xfrm>
          <a:prstGeom prst="rect">
            <a:avLst/>
          </a:prstGeom>
          <a:solidFill>
            <a:srgbClr val="F1E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anim-3-19"/>
          <p:cNvSpPr txBox="1"/>
          <p:nvPr/>
        </p:nvSpPr>
        <p:spPr>
          <a:xfrm>
            <a:off x="5760720" y="3931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Mango</a:t>
            </a:r>
            <a:endParaRPr lang="en-US" sz="950" dirty="0"/>
          </a:p>
        </p:txBody>
      </p:sp>
      <p:sp>
        <p:nvSpPr>
          <p:cNvPr id="52" name="anim-3-19"/>
          <p:cNvSpPr/>
          <p:nvPr/>
        </p:nvSpPr>
        <p:spPr>
          <a:xfrm>
            <a:off x="6675120" y="3931920"/>
            <a:ext cx="914400" cy="457200"/>
          </a:xfrm>
          <a:prstGeom prst="rect">
            <a:avLst/>
          </a:prstGeom>
          <a:solidFill>
            <a:srgbClr val="66339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anim-3-19"/>
          <p:cNvSpPr txBox="1"/>
          <p:nvPr/>
        </p:nvSpPr>
        <p:spPr>
          <a:xfrm>
            <a:off x="6675120" y="3931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Kiwi</a:t>
            </a:r>
            <a:endParaRPr lang="en-US" sz="950" dirty="0"/>
          </a:p>
        </p:txBody>
      </p:sp>
      <p:sp>
        <p:nvSpPr>
          <p:cNvPr id="54" name="anim-4-20"/>
          <p:cNvSpPr/>
          <p:nvPr/>
        </p:nvSpPr>
        <p:spPr>
          <a:xfrm>
            <a:off x="7726680" y="3931920"/>
            <a:ext cx="960120" cy="457200"/>
          </a:xfrm>
          <a:prstGeom prst="roundRect">
            <a:avLst>
              <a:gd name="adj" fmla="val 1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anim-4-20"/>
          <p:cNvSpPr txBox="1"/>
          <p:nvPr/>
        </p:nvSpPr>
        <p:spPr>
          <a:xfrm>
            <a:off x="7726680" y="39319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5</a:t>
            </a:r>
            <a:endParaRPr lang="en-US" sz="950" dirty="0"/>
          </a:p>
        </p:txBody>
      </p:sp>
      <p:sp>
        <p:nvSpPr>
          <p:cNvPr id="56" name="Text 53"/>
          <p:cNvSpPr txBox="1"/>
          <p:nvPr/>
        </p:nvSpPr>
        <p:spPr>
          <a:xfrm>
            <a:off x="457200" y="45720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Correction: push() returns the new length of the array, not the added value.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4451423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METHODS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useful array methods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JS DOM and Forms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457200" y="1188720"/>
          <a:ext cx="8229600" cy="3297936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00" dirty="0"/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100" dirty="0"/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Example on ["Banana", "Orange", "Apple", "Mango"]</a:t>
                      </a:r>
                      <a:endParaRPr lang="en-US" sz="1100" dirty="0"/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length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Number of elements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fruits.length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shift()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Removes the first element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fruits.shift()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"Banana"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unshift()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Adds to the front, returns new length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fruits.unshift("Lemon")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indexOf()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Position of a value (-1 if missing)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fruits.indexOf("Apple")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includes()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Is the value in the array?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fruits.includes("Kiwi")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slice()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Copies part of the array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fruits.slice(1, 3)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["Orange", "Apple"]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sort()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Sorts alphabetically, in place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fruits.sort()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["Apple", "Banana", ...]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concat()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Joins two arrays into a new one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A3F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fruits.concat(["Kiwi"])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9E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[..., "Mango", "Kiwi"]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45720" marT="18288" marB="18288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45720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example starts from the original four fruits.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75090679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 · QUIZ 2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JS DOM and Forms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" y="709574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5029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fruits has 4 elements. What does fruits.push("Kiwi") return?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1389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an answer to check it.</a:t>
            </a:r>
            <a:endParaRPr lang="en-US" sz="1000" dirty="0"/>
          </a:p>
        </p:txBody>
      </p:sp>
      <p:sp>
        <p:nvSpPr>
          <p:cNvPr id="11" name="btn">
            <a:hlinkClick r:id="" action="ppaction://noaction"/>
          </p:cNvPr>
          <p:cNvSpPr/>
          <p:nvPr/>
        </p:nvSpPr>
        <p:spPr>
          <a:xfrm>
            <a:off x="45720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"Kiwi"</a:t>
            </a:r>
            <a:endParaRPr lang="en-US" sz="1400" dirty="0"/>
          </a:p>
        </p:txBody>
      </p:sp>
      <p:sp>
        <p:nvSpPr>
          <p:cNvPr id="12" name="btn">
            <a:hlinkClick r:id="" action="ppaction://noaction"/>
          </p:cNvPr>
          <p:cNvSpPr/>
          <p:nvPr/>
        </p:nvSpPr>
        <p:spPr>
          <a:xfrm>
            <a:off x="65836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btn">
            <a:hlinkClick r:id="" action="ppaction://noaction"/>
          </p:cNvPr>
          <p:cNvSpPr/>
          <p:nvPr/>
        </p:nvSpPr>
        <p:spPr>
          <a:xfrm>
            <a:off x="466344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btn">
            <a:hlinkClick r:id="" action="ppaction://noaction"/>
          </p:cNvPr>
          <p:cNvSpPr/>
          <p:nvPr/>
        </p:nvSpPr>
        <p:spPr>
          <a:xfrm>
            <a:off x="486460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btn">
            <a:hlinkClick r:id="" action="ppaction://noaction"/>
          </p:cNvPr>
          <p:cNvSpPr/>
          <p:nvPr/>
        </p:nvSpPr>
        <p:spPr>
          <a:xfrm>
            <a:off x="45720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btn">
            <a:hlinkClick r:id="" action="ppaction://noaction"/>
          </p:cNvPr>
          <p:cNvSpPr/>
          <p:nvPr/>
        </p:nvSpPr>
        <p:spPr>
          <a:xfrm>
            <a:off x="65836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btn">
            <a:hlinkClick r:id="" action="ppaction://noaction"/>
          </p:cNvPr>
          <p:cNvSpPr/>
          <p:nvPr/>
        </p:nvSpPr>
        <p:spPr>
          <a:xfrm>
            <a:off x="466344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</a:t>
            </a:r>
            <a:endParaRPr lang="en-US" sz="1400" dirty="0"/>
          </a:p>
        </p:txBody>
      </p:sp>
      <p:sp>
        <p:nvSpPr>
          <p:cNvPr id="18" name="btn">
            <a:hlinkClick r:id="" action="ppaction://noaction"/>
          </p:cNvPr>
          <p:cNvSpPr/>
          <p:nvPr/>
        </p:nvSpPr>
        <p:spPr>
          <a:xfrm>
            <a:off x="486460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699339165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Objects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Grouping related data and behaviour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AA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800" dirty="0"/>
          </a:p>
        </p:txBody>
      </p:sp>
      <p:sp>
        <p:nvSpPr>
          <p:cNvPr id="8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F2F6"/>
          </a:solidFill>
          <a:ln>
            <a:solidFill>
              <a:srgbClr val="DADC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050085253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objects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JS DOM and Forms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object groups related values as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name: value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pairs, called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properties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property that holds a function is a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 property with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or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bracket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notation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514600"/>
            <a:ext cx="4114800" cy="2103120"/>
          </a:xfrm>
          <a:prstGeom prst="roundRect">
            <a:avLst>
              <a:gd name="adj" fmla="val 347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261518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" y="261518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6968" y="261518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097280" y="256946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person.js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2843784"/>
            <a:ext cx="38404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"John"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"Doe"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fullName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46320" y="1188720"/>
            <a:ext cx="2011680" cy="2240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983480" y="1261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983480" y="1600200"/>
            <a:ext cx="868680" cy="365760"/>
          </a:xfrm>
          <a:prstGeom prst="rect">
            <a:avLst/>
          </a:prstGeom>
          <a:solidFill>
            <a:srgbClr val="F1ECF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4983480" y="16002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852160" y="1600200"/>
            <a:ext cx="868680" cy="365760"/>
          </a:xfrm>
          <a:prstGeom prst="rect">
            <a:avLst/>
          </a:prstGeom>
          <a:solidFill>
            <a:srgbClr val="F7F8F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852160" y="16002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"John"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983480" y="2039112"/>
            <a:ext cx="868680" cy="365760"/>
          </a:xfrm>
          <a:prstGeom prst="rect">
            <a:avLst/>
          </a:prstGeom>
          <a:solidFill>
            <a:srgbClr val="F1ECF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4983480" y="20391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852160" y="2039112"/>
            <a:ext cx="868680" cy="365760"/>
          </a:xfrm>
          <a:prstGeom prst="rect">
            <a:avLst/>
          </a:prstGeom>
          <a:solidFill>
            <a:srgbClr val="F7F8F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5852160" y="20391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"Doe"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983480" y="2478024"/>
            <a:ext cx="868680" cy="365760"/>
          </a:xfrm>
          <a:prstGeom prst="rect">
            <a:avLst/>
          </a:prstGeom>
          <a:solidFill>
            <a:srgbClr val="F1ECF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4983480" y="247802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852160" y="2478024"/>
            <a:ext cx="868680" cy="365760"/>
          </a:xfrm>
          <a:prstGeom prst="rect">
            <a:avLst/>
          </a:prstGeom>
          <a:solidFill>
            <a:srgbClr val="F7F8F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5852160" y="247802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983480" y="2916936"/>
            <a:ext cx="868680" cy="365760"/>
          </a:xfrm>
          <a:prstGeom prst="rect">
            <a:avLst/>
          </a:prstGeom>
          <a:solidFill>
            <a:srgbClr val="F1ECF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4983480" y="291693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fullName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852160" y="2916936"/>
            <a:ext cx="868680" cy="365760"/>
          </a:xfrm>
          <a:prstGeom prst="rect">
            <a:avLst/>
          </a:prstGeom>
          <a:solidFill>
            <a:srgbClr val="66339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5852160" y="291693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ƒ ()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7086600" y="1188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7086600" y="1444752"/>
            <a:ext cx="1600200" cy="329184"/>
          </a:xfrm>
          <a:prstGeom prst="roundRect">
            <a:avLst>
              <a:gd name="adj" fmla="val 1388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7086600" y="144475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person.firstName</a:t>
            </a:r>
            <a:endParaRPr lang="en-US" sz="850" dirty="0"/>
          </a:p>
        </p:txBody>
      </p:sp>
      <p:sp>
        <p:nvSpPr>
          <p:cNvPr id="36" name="anim-1-21"/>
          <p:cNvSpPr txBox="1"/>
          <p:nvPr/>
        </p:nvSpPr>
        <p:spPr>
          <a:xfrm>
            <a:off x="7086600" y="179222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"John"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086600" y="2130552"/>
            <a:ext cx="1600200" cy="329184"/>
          </a:xfrm>
          <a:prstGeom prst="roundRect">
            <a:avLst>
              <a:gd name="adj" fmla="val 1388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 txBox="1"/>
          <p:nvPr/>
        </p:nvSpPr>
        <p:spPr>
          <a:xfrm>
            <a:off x="7086600" y="213055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person["lastName"]</a:t>
            </a:r>
            <a:endParaRPr lang="en-US" sz="850" dirty="0"/>
          </a:p>
        </p:txBody>
      </p:sp>
      <p:sp>
        <p:nvSpPr>
          <p:cNvPr id="39" name="anim-2-22"/>
          <p:cNvSpPr txBox="1"/>
          <p:nvPr/>
        </p:nvSpPr>
        <p:spPr>
          <a:xfrm>
            <a:off x="7086600" y="247802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"Doe"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086600" y="2816352"/>
            <a:ext cx="1600200" cy="329184"/>
          </a:xfrm>
          <a:prstGeom prst="roundRect">
            <a:avLst>
              <a:gd name="adj" fmla="val 1388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 txBox="1"/>
          <p:nvPr/>
        </p:nvSpPr>
        <p:spPr>
          <a:xfrm>
            <a:off x="7086600" y="281635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person.fullName()</a:t>
            </a:r>
            <a:endParaRPr lang="en-US" sz="850" dirty="0"/>
          </a:p>
        </p:txBody>
      </p:sp>
      <p:sp>
        <p:nvSpPr>
          <p:cNvPr id="42" name="anim-3-23"/>
          <p:cNvSpPr txBox="1"/>
          <p:nvPr/>
        </p:nvSpPr>
        <p:spPr>
          <a:xfrm>
            <a:off x="7086600" y="316382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"John Doe"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846320" y="361188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 txBox="1"/>
          <p:nvPr/>
        </p:nvSpPr>
        <p:spPr>
          <a:xfrm>
            <a:off x="5001768" y="36118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a method, </a:t>
            </a:r>
            <a:r>
              <a:rPr lang="en-US" sz="11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means "the object that owns the method", so this.firstName is "John".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8452792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9" grpId="0" animBg="1"/>
      <p:bldP spid="4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 of objects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JS DOM and Forms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 usually combines both: an array where every element is an object.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554480"/>
            <a:ext cx="4572000" cy="2194560"/>
          </a:xfrm>
          <a:prstGeom prst="roundRect">
            <a:avLst>
              <a:gd name="adj" fmla="val 33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16550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" y="16550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6968" y="16550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097280" y="1609344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students.js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1883664"/>
            <a:ext cx="42976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"Rahim"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cgpa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3.80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"Karim"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cgpa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3.45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"Nadia"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cgpa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3.92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"</a:t>
            </a:r>
            <a:r>
              <a:rPr lang="en-US" sz="11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cgpa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3886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57200" y="4096512"/>
            <a:ext cx="4572000" cy="521208"/>
          </a:xfrm>
          <a:prstGeom prst="roundRect">
            <a:avLst>
              <a:gd name="adj" fmla="val 8772"/>
            </a:avLst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94360" y="4096512"/>
            <a:ext cx="4389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Rahim: 3.8    Karim: 3.45    Nadia: 3.92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0" y="1554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850" dirty="0"/>
          </a:p>
        </p:txBody>
      </p:sp>
      <p:sp>
        <p:nvSpPr>
          <p:cNvPr id="19" name="anim-1-24"/>
          <p:cNvSpPr txBox="1"/>
          <p:nvPr/>
        </p:nvSpPr>
        <p:spPr>
          <a:xfrm>
            <a:off x="5303520" y="1810512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100" dirty="0"/>
          </a:p>
        </p:txBody>
      </p:sp>
      <p:sp>
        <p:nvSpPr>
          <p:cNvPr id="20" name="anim-1-24"/>
          <p:cNvSpPr/>
          <p:nvPr/>
        </p:nvSpPr>
        <p:spPr>
          <a:xfrm>
            <a:off x="5760720" y="1810512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anim-1-24"/>
          <p:cNvSpPr txBox="1"/>
          <p:nvPr/>
        </p:nvSpPr>
        <p:spPr>
          <a:xfrm>
            <a:off x="5897880" y="18105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</a:t>
            </a:r>
            <a:r>
              <a:rPr lang="en-US" sz="10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"Rahim"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cgpa: </a:t>
            </a:r>
            <a:r>
              <a:rPr lang="en-US" sz="1050" b="1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3.80</a:t>
            </a:r>
            <a:endParaRPr lang="en-US" sz="1050" dirty="0"/>
          </a:p>
        </p:txBody>
      </p:sp>
      <p:sp>
        <p:nvSpPr>
          <p:cNvPr id="22" name="anim-2-25"/>
          <p:cNvSpPr txBox="1"/>
          <p:nvPr/>
        </p:nvSpPr>
        <p:spPr>
          <a:xfrm>
            <a:off x="5303520" y="265176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100" dirty="0"/>
          </a:p>
        </p:txBody>
      </p:sp>
      <p:sp>
        <p:nvSpPr>
          <p:cNvPr id="23" name="anim-2-25"/>
          <p:cNvSpPr/>
          <p:nvPr/>
        </p:nvSpPr>
        <p:spPr>
          <a:xfrm>
            <a:off x="5760720" y="265176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anim-2-25"/>
          <p:cNvSpPr txBox="1"/>
          <p:nvPr/>
        </p:nvSpPr>
        <p:spPr>
          <a:xfrm>
            <a:off x="5897880" y="2651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</a:t>
            </a:r>
            <a:r>
              <a:rPr lang="en-US" sz="10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"Karim"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cgpa: </a:t>
            </a:r>
            <a:r>
              <a:rPr lang="en-US" sz="1050" b="1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3.45</a:t>
            </a:r>
            <a:endParaRPr lang="en-US" sz="1050" dirty="0"/>
          </a:p>
        </p:txBody>
      </p:sp>
      <p:sp>
        <p:nvSpPr>
          <p:cNvPr id="25" name="anim-3-26"/>
          <p:cNvSpPr txBox="1"/>
          <p:nvPr/>
        </p:nvSpPr>
        <p:spPr>
          <a:xfrm>
            <a:off x="5303520" y="3493008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1100" dirty="0"/>
          </a:p>
        </p:txBody>
      </p:sp>
      <p:sp>
        <p:nvSpPr>
          <p:cNvPr id="26" name="anim-3-26"/>
          <p:cNvSpPr/>
          <p:nvPr/>
        </p:nvSpPr>
        <p:spPr>
          <a:xfrm>
            <a:off x="5760720" y="3493008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anim-3-26"/>
          <p:cNvSpPr txBox="1"/>
          <p:nvPr/>
        </p:nvSpPr>
        <p:spPr>
          <a:xfrm>
            <a:off x="5897880" y="349300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</a:t>
            </a:r>
            <a:r>
              <a:rPr lang="en-US" sz="10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"Nadia"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cgpa: </a:t>
            </a:r>
            <a:r>
              <a:rPr lang="en-US" sz="1050" b="1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3.92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06335333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HTML DOM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elements and changing them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AA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800" dirty="0"/>
          </a:p>
        </p:txBody>
      </p:sp>
      <p:sp>
        <p:nvSpPr>
          <p:cNvPr id="8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F2F6"/>
          </a:solidFill>
          <a:ln>
            <a:solidFill>
              <a:srgbClr val="DADC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836900346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DOM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DOM operations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JS DOM and Forms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browser builds the page as a tree of objects, the DOM. JavaScript uses the document object to find elements and change them.</a:t>
            </a:r>
            <a:endParaRPr lang="en-US" sz="1250" dirty="0"/>
          </a:p>
        </p:txBody>
      </p:sp>
      <p:sp>
        <p:nvSpPr>
          <p:cNvPr id="9" name="anim-1-27"/>
          <p:cNvSpPr/>
          <p:nvPr/>
        </p:nvSpPr>
        <p:spPr>
          <a:xfrm>
            <a:off x="457200" y="1737360"/>
            <a:ext cx="262432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anim-1-27"/>
          <p:cNvSpPr/>
          <p:nvPr/>
        </p:nvSpPr>
        <p:spPr>
          <a:xfrm>
            <a:off x="594360" y="1856232"/>
            <a:ext cx="329184" cy="329184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anim-1-27"/>
          <p:cNvSpPr txBox="1"/>
          <p:nvPr/>
        </p:nvSpPr>
        <p:spPr>
          <a:xfrm>
            <a:off x="594360" y="1856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anim-1-27"/>
          <p:cNvSpPr txBox="1"/>
          <p:nvPr/>
        </p:nvSpPr>
        <p:spPr>
          <a:xfrm>
            <a:off x="1005840" y="185623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by id</a:t>
            </a:r>
            <a:endParaRPr lang="en-US" sz="1250" dirty="0"/>
          </a:p>
        </p:txBody>
      </p:sp>
      <p:sp>
        <p:nvSpPr>
          <p:cNvPr id="13" name="anim-1-27"/>
          <p:cNvSpPr/>
          <p:nvPr/>
        </p:nvSpPr>
        <p:spPr>
          <a:xfrm>
            <a:off x="566928" y="2304288"/>
            <a:ext cx="2404872" cy="603504"/>
          </a:xfrm>
          <a:prstGeom prst="roundRect">
            <a:avLst>
              <a:gd name="adj" fmla="val 757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anim-1-27"/>
          <p:cNvSpPr txBox="1"/>
          <p:nvPr/>
        </p:nvSpPr>
        <p:spPr>
          <a:xfrm>
            <a:off x="640080" y="230428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document.getElementById("demo")</a:t>
            </a:r>
            <a:endParaRPr lang="en-US" sz="850" dirty="0"/>
          </a:p>
        </p:txBody>
      </p:sp>
      <p:sp>
        <p:nvSpPr>
          <p:cNvPr id="15" name="anim-2-28"/>
          <p:cNvSpPr/>
          <p:nvPr/>
        </p:nvSpPr>
        <p:spPr>
          <a:xfrm>
            <a:off x="3264408" y="1737360"/>
            <a:ext cx="262432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anim-2-28"/>
          <p:cNvSpPr/>
          <p:nvPr/>
        </p:nvSpPr>
        <p:spPr>
          <a:xfrm>
            <a:off x="3401568" y="1856232"/>
            <a:ext cx="329184" cy="329184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nim-2-28"/>
          <p:cNvSpPr txBox="1"/>
          <p:nvPr/>
        </p:nvSpPr>
        <p:spPr>
          <a:xfrm>
            <a:off x="3401568" y="1856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anim-2-28"/>
          <p:cNvSpPr txBox="1"/>
          <p:nvPr/>
        </p:nvSpPr>
        <p:spPr>
          <a:xfrm>
            <a:off x="3813048" y="185623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by CSS selector</a:t>
            </a:r>
            <a:endParaRPr lang="en-US" sz="1250" dirty="0"/>
          </a:p>
        </p:txBody>
      </p:sp>
      <p:sp>
        <p:nvSpPr>
          <p:cNvPr id="19" name="anim-2-28"/>
          <p:cNvSpPr/>
          <p:nvPr/>
        </p:nvSpPr>
        <p:spPr>
          <a:xfrm>
            <a:off x="3374136" y="2304288"/>
            <a:ext cx="2404872" cy="603504"/>
          </a:xfrm>
          <a:prstGeom prst="roundRect">
            <a:avLst>
              <a:gd name="adj" fmla="val 757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nim-2-28"/>
          <p:cNvSpPr txBox="1"/>
          <p:nvPr/>
        </p:nvSpPr>
        <p:spPr>
          <a:xfrm>
            <a:off x="3447288" y="230428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document.querySelector(".card p")</a:t>
            </a:r>
            <a:endParaRPr lang="en-US" sz="850" dirty="0"/>
          </a:p>
        </p:txBody>
      </p:sp>
      <p:sp>
        <p:nvSpPr>
          <p:cNvPr id="21" name="anim-3-29"/>
          <p:cNvSpPr/>
          <p:nvPr/>
        </p:nvSpPr>
        <p:spPr>
          <a:xfrm>
            <a:off x="6071616" y="1737360"/>
            <a:ext cx="262432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anim-3-29"/>
          <p:cNvSpPr/>
          <p:nvPr/>
        </p:nvSpPr>
        <p:spPr>
          <a:xfrm>
            <a:off x="6208776" y="1856232"/>
            <a:ext cx="329184" cy="329184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anim-3-29"/>
          <p:cNvSpPr txBox="1"/>
          <p:nvPr/>
        </p:nvSpPr>
        <p:spPr>
          <a:xfrm>
            <a:off x="6208776" y="1856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anim-3-29"/>
          <p:cNvSpPr txBox="1"/>
          <p:nvPr/>
        </p:nvSpPr>
        <p:spPr>
          <a:xfrm>
            <a:off x="6620256" y="185623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the content</a:t>
            </a:r>
            <a:endParaRPr lang="en-US" sz="1250" dirty="0"/>
          </a:p>
        </p:txBody>
      </p:sp>
      <p:sp>
        <p:nvSpPr>
          <p:cNvPr id="25" name="anim-3-29"/>
          <p:cNvSpPr/>
          <p:nvPr/>
        </p:nvSpPr>
        <p:spPr>
          <a:xfrm>
            <a:off x="6181344" y="2304288"/>
            <a:ext cx="2404872" cy="603504"/>
          </a:xfrm>
          <a:prstGeom prst="roundRect">
            <a:avLst>
              <a:gd name="adj" fmla="val 757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anim-3-29"/>
          <p:cNvSpPr txBox="1"/>
          <p:nvPr/>
        </p:nvSpPr>
        <p:spPr>
          <a:xfrm>
            <a:off x="6254496" y="230428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el.innerHTML = "Hello";</a:t>
            </a:r>
            <a:endParaRPr lang="en-US" sz="850" dirty="0"/>
          </a:p>
        </p:txBody>
      </p:sp>
      <p:sp>
        <p:nvSpPr>
          <p:cNvPr id="27" name="anim-4-30"/>
          <p:cNvSpPr/>
          <p:nvPr/>
        </p:nvSpPr>
        <p:spPr>
          <a:xfrm>
            <a:off x="457200" y="3200400"/>
            <a:ext cx="262432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anim-4-30"/>
          <p:cNvSpPr/>
          <p:nvPr/>
        </p:nvSpPr>
        <p:spPr>
          <a:xfrm>
            <a:off x="594360" y="3319272"/>
            <a:ext cx="329184" cy="329184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anim-4-30"/>
          <p:cNvSpPr txBox="1"/>
          <p:nvPr/>
        </p:nvSpPr>
        <p:spPr>
          <a:xfrm>
            <a:off x="59436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anim-4-30"/>
          <p:cNvSpPr txBox="1"/>
          <p:nvPr/>
        </p:nvSpPr>
        <p:spPr>
          <a:xfrm>
            <a:off x="1005840" y="331927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an input</a:t>
            </a:r>
            <a:endParaRPr lang="en-US" sz="1250" dirty="0"/>
          </a:p>
        </p:txBody>
      </p:sp>
      <p:sp>
        <p:nvSpPr>
          <p:cNvPr id="31" name="anim-4-30"/>
          <p:cNvSpPr/>
          <p:nvPr/>
        </p:nvSpPr>
        <p:spPr>
          <a:xfrm>
            <a:off x="566928" y="3767328"/>
            <a:ext cx="2404872" cy="603504"/>
          </a:xfrm>
          <a:prstGeom prst="roundRect">
            <a:avLst>
              <a:gd name="adj" fmla="val 757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anim-4-30"/>
          <p:cNvSpPr txBox="1"/>
          <p:nvPr/>
        </p:nvSpPr>
        <p:spPr>
          <a:xfrm>
            <a:off x="640080" y="376732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 = el.value;</a:t>
            </a:r>
            <a:endParaRPr lang="en-US" sz="850" dirty="0"/>
          </a:p>
        </p:txBody>
      </p:sp>
      <p:sp>
        <p:nvSpPr>
          <p:cNvPr id="33" name="anim-5-31"/>
          <p:cNvSpPr/>
          <p:nvPr/>
        </p:nvSpPr>
        <p:spPr>
          <a:xfrm>
            <a:off x="3264408" y="3200400"/>
            <a:ext cx="262432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anim-5-31"/>
          <p:cNvSpPr/>
          <p:nvPr/>
        </p:nvSpPr>
        <p:spPr>
          <a:xfrm>
            <a:off x="3401568" y="3319272"/>
            <a:ext cx="329184" cy="329184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anim-5-31"/>
          <p:cNvSpPr txBox="1"/>
          <p:nvPr/>
        </p:nvSpPr>
        <p:spPr>
          <a:xfrm>
            <a:off x="3401568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anim-5-31"/>
          <p:cNvSpPr txBox="1"/>
          <p:nvPr/>
        </p:nvSpPr>
        <p:spPr>
          <a:xfrm>
            <a:off x="3813048" y="331927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the style</a:t>
            </a:r>
            <a:endParaRPr lang="en-US" sz="1250" dirty="0"/>
          </a:p>
        </p:txBody>
      </p:sp>
      <p:sp>
        <p:nvSpPr>
          <p:cNvPr id="37" name="anim-5-31"/>
          <p:cNvSpPr/>
          <p:nvPr/>
        </p:nvSpPr>
        <p:spPr>
          <a:xfrm>
            <a:off x="3374136" y="3767328"/>
            <a:ext cx="2404872" cy="603504"/>
          </a:xfrm>
          <a:prstGeom prst="roundRect">
            <a:avLst>
              <a:gd name="adj" fmla="val 757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anim-5-31"/>
          <p:cNvSpPr txBox="1"/>
          <p:nvPr/>
        </p:nvSpPr>
        <p:spPr>
          <a:xfrm>
            <a:off x="3447288" y="376732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el.style.color = "red";</a:t>
            </a:r>
            <a:endParaRPr lang="en-US" sz="850" dirty="0"/>
          </a:p>
        </p:txBody>
      </p:sp>
      <p:sp>
        <p:nvSpPr>
          <p:cNvPr id="39" name="anim-6-32"/>
          <p:cNvSpPr/>
          <p:nvPr/>
        </p:nvSpPr>
        <p:spPr>
          <a:xfrm>
            <a:off x="6071616" y="3200400"/>
            <a:ext cx="262432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anim-6-32"/>
          <p:cNvSpPr/>
          <p:nvPr/>
        </p:nvSpPr>
        <p:spPr>
          <a:xfrm>
            <a:off x="6208776" y="3319272"/>
            <a:ext cx="329184" cy="329184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anim-6-32"/>
          <p:cNvSpPr txBox="1"/>
          <p:nvPr/>
        </p:nvSpPr>
        <p:spPr>
          <a:xfrm>
            <a:off x="6208776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anim-6-32"/>
          <p:cNvSpPr txBox="1"/>
          <p:nvPr/>
        </p:nvSpPr>
        <p:spPr>
          <a:xfrm>
            <a:off x="6620256" y="331927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new element</a:t>
            </a:r>
            <a:endParaRPr lang="en-US" sz="1250" dirty="0"/>
          </a:p>
        </p:txBody>
      </p:sp>
      <p:sp>
        <p:nvSpPr>
          <p:cNvPr id="43" name="anim-6-32"/>
          <p:cNvSpPr/>
          <p:nvPr/>
        </p:nvSpPr>
        <p:spPr>
          <a:xfrm>
            <a:off x="6181344" y="3767328"/>
            <a:ext cx="2404872" cy="603504"/>
          </a:xfrm>
          <a:prstGeom prst="roundRect">
            <a:avLst>
              <a:gd name="adj" fmla="val 757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anim-6-32"/>
          <p:cNvSpPr txBox="1"/>
          <p:nvPr/>
        </p:nvSpPr>
        <p:spPr>
          <a:xfrm>
            <a:off x="6254496" y="376732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li = document.createElement("li");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list.appendChild(li);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91860115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DOM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Changing CSS with the DOM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JS DOM and Forms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HTML DOM lets JavaScript change the style of any HTML element: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46304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document.getElementById(</a:t>
            </a:r>
            <a:r>
              <a:rPr lang="en-US" sz="15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5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).style.</a:t>
            </a:r>
            <a:r>
              <a:rPr lang="en-US" sz="1500" b="1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</a:t>
            </a:r>
            <a:r>
              <a:rPr lang="en-US" sz="15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5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style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148840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94360" y="224942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40664" y="224942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86968" y="224942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94360" y="2478024"/>
            <a:ext cx="42976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</a:t>
            </a: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"id1"</a:t>
            </a:r>
            <a:r>
              <a:rPr lang="en-US" sz="8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Heading 1</a:t>
            </a:r>
            <a:r>
              <a:rPr lang="en-US" sz="8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"button"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onclick="document.getElementById('id1').style.color = 'red'"&gt;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Click Me!</a:t>
            </a:r>
            <a:r>
              <a:rPr lang="en-US" sz="8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257800" y="2148840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367528" y="224028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486400" y="224028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605272" y="224028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806440" y="220370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5897880" y="220827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5294376" y="2423160"/>
            <a:ext cx="3355848" cy="11064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5431536" y="24963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Heading 1</a:t>
            </a:r>
            <a:endParaRPr lang="en-US" sz="1800" dirty="0"/>
          </a:p>
        </p:txBody>
      </p:sp>
      <p:sp>
        <p:nvSpPr>
          <p:cNvPr id="24" name="anim-1-33"/>
          <p:cNvSpPr/>
          <p:nvPr/>
        </p:nvSpPr>
        <p:spPr>
          <a:xfrm>
            <a:off x="5385816" y="2496312"/>
            <a:ext cx="2377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nim-1-33"/>
          <p:cNvSpPr txBox="1"/>
          <p:nvPr/>
        </p:nvSpPr>
        <p:spPr>
          <a:xfrm>
            <a:off x="5431536" y="24963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Heading 1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431536" y="3063240"/>
            <a:ext cx="777240" cy="246888"/>
          </a:xfrm>
          <a:prstGeom prst="roundRect">
            <a:avLst>
              <a:gd name="adj" fmla="val 11111"/>
            </a:avLst>
          </a:prstGeom>
          <a:solidFill>
            <a:srgbClr val="EFEFEF"/>
          </a:solidFill>
          <a:ln w="9525">
            <a:solidFill>
              <a:srgbClr val="767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5431536" y="306324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Me!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6300216" y="3081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to "press" the button.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3749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NAME → DOM PROPERTY (camelCase)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950" dirty="0">
                <a:solidFill>
                  <a:srgbClr val="8E6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1828800" y="3977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r>
              <a:rPr lang="en-US" sz="950" dirty="0">
                <a:solidFill>
                  <a:srgbClr val="8E6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backgroundColor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470916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r>
              <a:rPr lang="en-US" sz="950" dirty="0">
                <a:solidFill>
                  <a:srgbClr val="8E6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fontSize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662940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r>
              <a:rPr lang="en-US" sz="950" dirty="0">
                <a:solidFill>
                  <a:srgbClr val="8E6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endParaRPr lang="en-US" sz="950" dirty="0"/>
          </a:p>
        </p:txBody>
      </p:sp>
      <p:sp>
        <p:nvSpPr>
          <p:cNvPr id="34" name="btn">
            <a:hlinkClick r:id="rId4"/>
          </p:cNvPr>
          <p:cNvSpPr/>
          <p:nvPr/>
        </p:nvSpPr>
        <p:spPr>
          <a:xfrm>
            <a:off x="457200" y="4343400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style properties  ↗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09854789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8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Validation and Debugging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input before it is sent, and finding bugs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AA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800" dirty="0"/>
          </a:p>
        </p:txBody>
      </p:sp>
      <p:sp>
        <p:nvSpPr>
          <p:cNvPr id="8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F2F6"/>
          </a:solidFill>
          <a:ln>
            <a:solidFill>
              <a:srgbClr val="DADC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539689437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VALIDATION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JavaScript validation works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JS DOM and Forms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form has an event called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onsubmit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which runs when the form is submitted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function returns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if the values are valid, otherwise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it returns true, the form is sent; if false, sending is cancelled</a:t>
            </a:r>
            <a:endParaRPr lang="en-US" sz="1250" dirty="0"/>
          </a:p>
        </p:txBody>
      </p:sp>
      <p:sp>
        <p:nvSpPr>
          <p:cNvPr id="9" name="anim-1-34"/>
          <p:cNvSpPr/>
          <p:nvPr/>
        </p:nvSpPr>
        <p:spPr>
          <a:xfrm>
            <a:off x="457200" y="237744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anim-1-34"/>
          <p:cNvSpPr/>
          <p:nvPr/>
        </p:nvSpPr>
        <p:spPr>
          <a:xfrm>
            <a:off x="594360" y="2578608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anim-1-3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006" y="2721254"/>
            <a:ext cx="263347" cy="263347"/>
          </a:xfrm>
          <a:prstGeom prst="rect">
            <a:avLst/>
          </a:prstGeom>
        </p:spPr>
      </p:pic>
      <p:sp>
        <p:nvSpPr>
          <p:cNvPr id="12" name="anim-1-34"/>
          <p:cNvSpPr txBox="1"/>
          <p:nvPr/>
        </p:nvSpPr>
        <p:spPr>
          <a:xfrm>
            <a:off x="1234440" y="2377440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clicks Submit</a:t>
            </a:r>
            <a:endParaRPr lang="en-US" sz="1150" dirty="0"/>
          </a:p>
        </p:txBody>
      </p:sp>
      <p:sp>
        <p:nvSpPr>
          <p:cNvPr id="13" name="anim-2-35"/>
          <p:cNvSpPr txBox="1"/>
          <p:nvPr/>
        </p:nvSpPr>
        <p:spPr>
          <a:xfrm>
            <a:off x="2331720" y="2377440"/>
            <a:ext cx="274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8E6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anim-2-36"/>
          <p:cNvSpPr/>
          <p:nvPr/>
        </p:nvSpPr>
        <p:spPr>
          <a:xfrm>
            <a:off x="2606040" y="237744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anim-2-36"/>
          <p:cNvSpPr/>
          <p:nvPr/>
        </p:nvSpPr>
        <p:spPr>
          <a:xfrm>
            <a:off x="2743200" y="2578608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anim-2-3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5846" y="2721254"/>
            <a:ext cx="263347" cy="263347"/>
          </a:xfrm>
          <a:prstGeom prst="rect">
            <a:avLst/>
          </a:prstGeom>
        </p:spPr>
      </p:pic>
      <p:sp>
        <p:nvSpPr>
          <p:cNvPr id="17" name="anim-2-36"/>
          <p:cNvSpPr txBox="1"/>
          <p:nvPr/>
        </p:nvSpPr>
        <p:spPr>
          <a:xfrm>
            <a:off x="3383280" y="2377440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onsubmit runs validateForm()</a:t>
            </a:r>
            <a:endParaRPr lang="en-US" sz="1150" dirty="0"/>
          </a:p>
        </p:txBody>
      </p:sp>
      <p:sp>
        <p:nvSpPr>
          <p:cNvPr id="18" name="anim-3-37"/>
          <p:cNvSpPr txBox="1"/>
          <p:nvPr/>
        </p:nvSpPr>
        <p:spPr>
          <a:xfrm>
            <a:off x="4480560" y="2377440"/>
            <a:ext cx="274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8E6C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19" name="anim-3-38"/>
          <p:cNvSpPr/>
          <p:nvPr/>
        </p:nvSpPr>
        <p:spPr>
          <a:xfrm>
            <a:off x="4754880" y="237744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anim-3-38"/>
          <p:cNvSpPr/>
          <p:nvPr/>
        </p:nvSpPr>
        <p:spPr>
          <a:xfrm>
            <a:off x="4892040" y="2578608"/>
            <a:ext cx="548640" cy="54864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anim-3-3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4686" y="2721254"/>
            <a:ext cx="263347" cy="263347"/>
          </a:xfrm>
          <a:prstGeom prst="rect">
            <a:avLst/>
          </a:prstGeom>
        </p:spPr>
      </p:pic>
      <p:sp>
        <p:nvSpPr>
          <p:cNvPr id="22" name="anim-3-38"/>
          <p:cNvSpPr txBox="1"/>
          <p:nvPr/>
        </p:nvSpPr>
        <p:spPr>
          <a:xfrm>
            <a:off x="5532120" y="2377440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Values valid?</a:t>
            </a:r>
            <a:endParaRPr lang="en-US" sz="1150" dirty="0"/>
          </a:p>
        </p:txBody>
      </p:sp>
      <p:sp>
        <p:nvSpPr>
          <p:cNvPr id="23" name="anim-4-39"/>
          <p:cNvSpPr/>
          <p:nvPr/>
        </p:nvSpPr>
        <p:spPr>
          <a:xfrm>
            <a:off x="6537960" y="2651760"/>
            <a:ext cx="365760" cy="914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anim-4-39"/>
          <p:cNvSpPr/>
          <p:nvPr/>
        </p:nvSpPr>
        <p:spPr>
          <a:xfrm>
            <a:off x="6949440" y="233172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6F5EE"/>
          </a:solidFill>
          <a:ln w="9525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nim-4-39"/>
          <p:cNvSpPr txBox="1"/>
          <p:nvPr/>
        </p:nvSpPr>
        <p:spPr>
          <a:xfrm>
            <a:off x="7040880" y="23317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is sent</a:t>
            </a:r>
            <a:endParaRPr lang="en-US" sz="1200" dirty="0"/>
          </a:p>
        </p:txBody>
      </p:sp>
      <p:sp>
        <p:nvSpPr>
          <p:cNvPr id="26" name="anim-5-40"/>
          <p:cNvSpPr/>
          <p:nvPr/>
        </p:nvSpPr>
        <p:spPr>
          <a:xfrm>
            <a:off x="6537960" y="3108960"/>
            <a:ext cx="365760" cy="320040"/>
          </a:xfrm>
          <a:prstGeom prst="line">
            <a:avLst/>
          </a:prstGeom>
          <a:noFill/>
          <a:ln w="25400">
            <a:solidFill>
              <a:srgbClr val="D6454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anim-5-40"/>
          <p:cNvSpPr/>
          <p:nvPr/>
        </p:nvSpPr>
        <p:spPr>
          <a:xfrm>
            <a:off x="6949440" y="315468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FBEAEA"/>
          </a:solidFill>
          <a:ln w="9525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anim-5-40"/>
          <p:cNvSpPr txBox="1"/>
          <p:nvPr/>
        </p:nvSpPr>
        <p:spPr>
          <a:xfrm>
            <a:off x="7040880" y="31546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2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error, stay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CF3DE"/>
          </a:solidFill>
          <a:ln w="9525">
            <a:solidFill>
              <a:srgbClr val="FCF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C98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Remember: </a:t>
            </a: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checks improve the experience, but users can switch JavaScript off. Always validate again on the server.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69972471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VALIDATION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validation example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JS DOM and Forms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5120640" cy="3429000"/>
          </a:xfrm>
          <a:prstGeom prst="roundRect">
            <a:avLst>
              <a:gd name="adj" fmla="val 21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066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8696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97280" y="1243584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1517904"/>
            <a:ext cx="4846320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validateForm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fname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"fname"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lname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"lname"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fname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lname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 must be filled out"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"myForm"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"/action_page.php"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onsubmit="return validateForm()" method="post"&gt;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First Name: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"fname"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"fname"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&gt;&lt;br&gt;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Last Name: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"lname"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"lname"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&gt;&lt;br&gt;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950" dirty="0"/>
          </a:p>
        </p:txBody>
      </p:sp>
      <p:sp>
        <p:nvSpPr>
          <p:cNvPr id="14" name="anim-1-41"/>
          <p:cNvSpPr/>
          <p:nvPr/>
        </p:nvSpPr>
        <p:spPr>
          <a:xfrm>
            <a:off x="5806440" y="1188720"/>
            <a:ext cx="2880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anim-1-41"/>
          <p:cNvSpPr txBox="1"/>
          <p:nvPr/>
        </p:nvSpPr>
        <p:spPr>
          <a:xfrm>
            <a:off x="5943600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.value</a:t>
            </a:r>
            <a:endParaRPr lang="en-US" sz="1000" dirty="0"/>
          </a:p>
        </p:txBody>
      </p:sp>
      <p:sp>
        <p:nvSpPr>
          <p:cNvPr id="16" name="anim-1-41"/>
          <p:cNvSpPr txBox="1"/>
          <p:nvPr/>
        </p:nvSpPr>
        <p:spPr>
          <a:xfrm>
            <a:off x="5943600" y="1536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reads what the user typed into each box</a:t>
            </a:r>
            <a:endParaRPr lang="en-US" sz="1050" dirty="0"/>
          </a:p>
        </p:txBody>
      </p:sp>
      <p:sp>
        <p:nvSpPr>
          <p:cNvPr id="17" name="anim-2-42"/>
          <p:cNvSpPr/>
          <p:nvPr/>
        </p:nvSpPr>
        <p:spPr>
          <a:xfrm>
            <a:off x="5806440" y="2057400"/>
            <a:ext cx="2880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anim-2-42"/>
          <p:cNvSpPr txBox="1"/>
          <p:nvPr/>
        </p:nvSpPr>
        <p:spPr>
          <a:xfrm>
            <a:off x="5943600" y="2121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fname == "" || ...</a:t>
            </a:r>
            <a:endParaRPr lang="en-US" sz="1000" dirty="0"/>
          </a:p>
        </p:txBody>
      </p:sp>
      <p:sp>
        <p:nvSpPr>
          <p:cNvPr id="19" name="anim-2-42"/>
          <p:cNvSpPr txBox="1"/>
          <p:nvPr/>
        </p:nvSpPr>
        <p:spPr>
          <a:xfrm>
            <a:off x="5943600" y="24048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if either name is empty</a:t>
            </a:r>
            <a:endParaRPr lang="en-US" sz="1050" dirty="0"/>
          </a:p>
        </p:txBody>
      </p:sp>
      <p:sp>
        <p:nvSpPr>
          <p:cNvPr id="20" name="anim-3-43"/>
          <p:cNvSpPr/>
          <p:nvPr/>
        </p:nvSpPr>
        <p:spPr>
          <a:xfrm>
            <a:off x="5806440" y="2926080"/>
            <a:ext cx="2880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anim-3-43"/>
          <p:cNvSpPr txBox="1"/>
          <p:nvPr/>
        </p:nvSpPr>
        <p:spPr>
          <a:xfrm>
            <a:off x="5943600" y="29900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false</a:t>
            </a:r>
            <a:endParaRPr lang="en-US" sz="1000" dirty="0"/>
          </a:p>
        </p:txBody>
      </p:sp>
      <p:sp>
        <p:nvSpPr>
          <p:cNvPr id="22" name="anim-3-43"/>
          <p:cNvSpPr txBox="1"/>
          <p:nvPr/>
        </p:nvSpPr>
        <p:spPr>
          <a:xfrm>
            <a:off x="5943600" y="32735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cancels sending the form</a:t>
            </a:r>
            <a:endParaRPr lang="en-US" sz="1050" dirty="0"/>
          </a:p>
        </p:txBody>
      </p:sp>
      <p:sp>
        <p:nvSpPr>
          <p:cNvPr id="23" name="anim-4-44"/>
          <p:cNvSpPr/>
          <p:nvPr/>
        </p:nvSpPr>
        <p:spPr>
          <a:xfrm>
            <a:off x="5806440" y="3794760"/>
            <a:ext cx="2880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anim-4-44"/>
          <p:cNvSpPr txBox="1"/>
          <p:nvPr/>
        </p:nvSpPr>
        <p:spPr>
          <a:xfrm>
            <a:off x="5943600" y="38587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onsubmit="return ..."</a:t>
            </a:r>
            <a:endParaRPr lang="en-US" sz="1000" dirty="0"/>
          </a:p>
        </p:txBody>
      </p:sp>
      <p:sp>
        <p:nvSpPr>
          <p:cNvPr id="25" name="anim-4-44"/>
          <p:cNvSpPr txBox="1"/>
          <p:nvPr/>
        </p:nvSpPr>
        <p:spPr>
          <a:xfrm>
            <a:off x="5943600" y="41422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return is needed, or false is ignored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25648555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VALIDATION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demo: try submitting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JS DOM and Forms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one of the buttons to see what validateForm() does with each form.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508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Empty last name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1828800"/>
            <a:ext cx="3977640" cy="1600200"/>
          </a:xfrm>
          <a:prstGeom prst="roundRect">
            <a:avLst>
              <a:gd name="adj" fmla="val 3429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66928" y="19202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85800" y="19202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04672" y="19202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05840" y="188366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1097280" y="188823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493776" y="2103120"/>
            <a:ext cx="3904488" cy="1289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76656" y="22860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Name: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545336" y="2304288"/>
            <a:ext cx="15544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591056" y="23042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Rahim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676656" y="26060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Name: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545336" y="2624328"/>
            <a:ext cx="15544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76656" y="2971800"/>
            <a:ext cx="640080" cy="237744"/>
          </a:xfrm>
          <a:prstGeom prst="roundRect">
            <a:avLst>
              <a:gd name="adj" fmla="val 11538"/>
            </a:avLst>
          </a:prstGeom>
          <a:solidFill>
            <a:srgbClr val="EFEFEF"/>
          </a:solidFill>
          <a:ln w="9525">
            <a:solidFill>
              <a:srgbClr val="767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676656" y="2971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</a:t>
            </a:r>
            <a:endParaRPr lang="en-US" sz="900" dirty="0"/>
          </a:p>
        </p:txBody>
      </p:sp>
      <p:sp>
        <p:nvSpPr>
          <p:cNvPr id="24" name="btn">
            <a:hlinkClick r:id="" action="ppaction://noaction"/>
          </p:cNvPr>
          <p:cNvSpPr/>
          <p:nvPr/>
        </p:nvSpPr>
        <p:spPr>
          <a:xfrm>
            <a:off x="457200" y="361188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▶  Submit this form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709160" y="1508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names filled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709160" y="1828800"/>
            <a:ext cx="3977640" cy="1600200"/>
          </a:xfrm>
          <a:prstGeom prst="roundRect">
            <a:avLst>
              <a:gd name="adj" fmla="val 3429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818888" y="19202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937760" y="19202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056632" y="19202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257800" y="188366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5349240" y="188823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32" name="Shape 29"/>
          <p:cNvSpPr/>
          <p:nvPr/>
        </p:nvSpPr>
        <p:spPr>
          <a:xfrm>
            <a:off x="4745736" y="2103120"/>
            <a:ext cx="3904488" cy="1289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4928616" y="22860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Name: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797296" y="2304288"/>
            <a:ext cx="15544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5843016" y="23042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Rahim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4928616" y="26060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Name: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797296" y="2624328"/>
            <a:ext cx="15544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 txBox="1"/>
          <p:nvPr/>
        </p:nvSpPr>
        <p:spPr>
          <a:xfrm>
            <a:off x="5843016" y="26243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Uddin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928616" y="2971800"/>
            <a:ext cx="640080" cy="237744"/>
          </a:xfrm>
          <a:prstGeom prst="roundRect">
            <a:avLst>
              <a:gd name="adj" fmla="val 11538"/>
            </a:avLst>
          </a:prstGeom>
          <a:solidFill>
            <a:srgbClr val="EFEFEF"/>
          </a:solidFill>
          <a:ln w="9525">
            <a:solidFill>
              <a:srgbClr val="767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 txBox="1"/>
          <p:nvPr/>
        </p:nvSpPr>
        <p:spPr>
          <a:xfrm>
            <a:off x="4928616" y="2971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</a:t>
            </a:r>
            <a:endParaRPr lang="en-US" sz="900" dirty="0"/>
          </a:p>
        </p:txBody>
      </p:sp>
      <p:sp>
        <p:nvSpPr>
          <p:cNvPr id="41" name="btn">
            <a:hlinkClick r:id="" action="ppaction://noaction"/>
          </p:cNvPr>
          <p:cNvSpPr/>
          <p:nvPr/>
        </p:nvSpPr>
        <p:spPr>
          <a:xfrm>
            <a:off x="4709160" y="361188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▶  Submit this form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457200" y="4297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button shows the result on its own slide, with a way back.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15939037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VALIDATION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HTML5 validation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JS DOM and Forms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browsers can check many rules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any JavaScript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using attributes on the inputs: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554480"/>
            <a:ext cx="4937760" cy="2103120"/>
          </a:xfrm>
          <a:prstGeom prst="roundRect">
            <a:avLst>
              <a:gd name="adj" fmla="val 347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16550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" y="16550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6968" y="16550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94360" y="1883664"/>
            <a:ext cx="46634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"/action_page.php"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method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"post"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"fname"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required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required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"password"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"pass"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minlength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"8"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"number"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"age"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min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"1"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max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"120"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"phone"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pattern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"[0-9]{11}"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050" dirty="0"/>
          </a:p>
        </p:txBody>
      </p:sp>
      <p:sp>
        <p:nvSpPr>
          <p:cNvPr id="14" name="anim-1-45"/>
          <p:cNvSpPr/>
          <p:nvPr/>
        </p:nvSpPr>
        <p:spPr>
          <a:xfrm>
            <a:off x="5623560" y="155448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anim-1-45"/>
          <p:cNvSpPr txBox="1"/>
          <p:nvPr/>
        </p:nvSpPr>
        <p:spPr>
          <a:xfrm>
            <a:off x="5623560" y="15544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950" dirty="0"/>
          </a:p>
        </p:txBody>
      </p:sp>
      <p:sp>
        <p:nvSpPr>
          <p:cNvPr id="16" name="anim-1-45"/>
          <p:cNvSpPr txBox="1"/>
          <p:nvPr/>
        </p:nvSpPr>
        <p:spPr>
          <a:xfrm>
            <a:off x="7040880" y="15544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field cannot be empty</a:t>
            </a:r>
            <a:endParaRPr lang="en-US" sz="1050" dirty="0"/>
          </a:p>
        </p:txBody>
      </p:sp>
      <p:sp>
        <p:nvSpPr>
          <p:cNvPr id="17" name="anim-2-46"/>
          <p:cNvSpPr/>
          <p:nvPr/>
        </p:nvSpPr>
        <p:spPr>
          <a:xfrm>
            <a:off x="5623560" y="198424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anim-2-46"/>
          <p:cNvSpPr txBox="1"/>
          <p:nvPr/>
        </p:nvSpPr>
        <p:spPr>
          <a:xfrm>
            <a:off x="5623560" y="198424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type="email"</a:t>
            </a:r>
            <a:endParaRPr lang="en-US" sz="950" dirty="0"/>
          </a:p>
        </p:txBody>
      </p:sp>
      <p:sp>
        <p:nvSpPr>
          <p:cNvPr id="19" name="anim-2-46"/>
          <p:cNvSpPr txBox="1"/>
          <p:nvPr/>
        </p:nvSpPr>
        <p:spPr>
          <a:xfrm>
            <a:off x="7040880" y="19842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 look like an email address</a:t>
            </a:r>
            <a:endParaRPr lang="en-US" sz="1050" dirty="0"/>
          </a:p>
        </p:txBody>
      </p:sp>
      <p:sp>
        <p:nvSpPr>
          <p:cNvPr id="20" name="anim-3-47"/>
          <p:cNvSpPr/>
          <p:nvPr/>
        </p:nvSpPr>
        <p:spPr>
          <a:xfrm>
            <a:off x="5623560" y="2414016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anim-3-47"/>
          <p:cNvSpPr txBox="1"/>
          <p:nvPr/>
        </p:nvSpPr>
        <p:spPr>
          <a:xfrm>
            <a:off x="5623560" y="241401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minlength</a:t>
            </a:r>
            <a:endParaRPr lang="en-US" sz="950" dirty="0"/>
          </a:p>
        </p:txBody>
      </p:sp>
      <p:sp>
        <p:nvSpPr>
          <p:cNvPr id="22" name="anim-3-47"/>
          <p:cNvSpPr txBox="1"/>
          <p:nvPr/>
        </p:nvSpPr>
        <p:spPr>
          <a:xfrm>
            <a:off x="7040880" y="241401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least this many characters</a:t>
            </a:r>
            <a:endParaRPr lang="en-US" sz="1050" dirty="0"/>
          </a:p>
        </p:txBody>
      </p:sp>
      <p:sp>
        <p:nvSpPr>
          <p:cNvPr id="23" name="anim-4-48"/>
          <p:cNvSpPr/>
          <p:nvPr/>
        </p:nvSpPr>
        <p:spPr>
          <a:xfrm>
            <a:off x="5623560" y="2843784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anim-4-48"/>
          <p:cNvSpPr txBox="1"/>
          <p:nvPr/>
        </p:nvSpPr>
        <p:spPr>
          <a:xfrm>
            <a:off x="5623560" y="284378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/ max</a:t>
            </a:r>
            <a:endParaRPr lang="en-US" sz="950" dirty="0"/>
          </a:p>
        </p:txBody>
      </p:sp>
      <p:sp>
        <p:nvSpPr>
          <p:cNvPr id="25" name="anim-4-48"/>
          <p:cNvSpPr txBox="1"/>
          <p:nvPr/>
        </p:nvSpPr>
        <p:spPr>
          <a:xfrm>
            <a:off x="7040880" y="284378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allowed number range</a:t>
            </a:r>
            <a:endParaRPr lang="en-US" sz="1050" dirty="0"/>
          </a:p>
        </p:txBody>
      </p:sp>
      <p:sp>
        <p:nvSpPr>
          <p:cNvPr id="26" name="anim-5-49"/>
          <p:cNvSpPr/>
          <p:nvPr/>
        </p:nvSpPr>
        <p:spPr>
          <a:xfrm>
            <a:off x="5623560" y="3273552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anim-5-49"/>
          <p:cNvSpPr txBox="1"/>
          <p:nvPr/>
        </p:nvSpPr>
        <p:spPr>
          <a:xfrm>
            <a:off x="5623560" y="32735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</a:t>
            </a:r>
            <a:endParaRPr lang="en-US" sz="950" dirty="0"/>
          </a:p>
        </p:txBody>
      </p:sp>
      <p:sp>
        <p:nvSpPr>
          <p:cNvPr id="28" name="anim-5-49"/>
          <p:cNvSpPr txBox="1"/>
          <p:nvPr/>
        </p:nvSpPr>
        <p:spPr>
          <a:xfrm>
            <a:off x="7040880" y="32735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 match a regular expression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640080" y="38404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HTML5 attributes for simple rules, and JavaScript for rules that compare fields, such as "Password and Confirm Password must match".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7211105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 debugging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JS DOM and Forms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console.log()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displays JavaScript values in the debugger window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debugger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keyword stops execution and opens the debugger, if the developer tools are open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DevTools you can also click a line number to set a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breakpoint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30175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31181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" y="31181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6968" y="31181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097280" y="307238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3346704"/>
            <a:ext cx="37490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75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debugger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05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pauses here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"demo"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innerHTML</a:t>
            </a:r>
            <a:r>
              <a:rPr lang="en-US" sz="10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754880" y="1188720"/>
            <a:ext cx="3931920" cy="3429000"/>
          </a:xfrm>
          <a:prstGeom prst="roundRect">
            <a:avLst>
              <a:gd name="adj" fmla="val 1600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864608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983480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102352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303520" y="124358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394960" y="124815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DevTools · Sources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4791456" y="1463040"/>
            <a:ext cx="3858768" cy="31181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791456" y="1463040"/>
            <a:ext cx="3858768" cy="3118104"/>
          </a:xfrm>
          <a:prstGeom prst="rect">
            <a:avLst/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791456" y="1463040"/>
            <a:ext cx="3858768" cy="320040"/>
          </a:xfrm>
          <a:prstGeom prst="rect">
            <a:avLst/>
          </a:prstGeom>
          <a:solidFill>
            <a:srgbClr val="FFF8C5"/>
          </a:solidFill>
          <a:ln w="12700">
            <a:solidFill>
              <a:srgbClr val="FFF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4901184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⏸  Paused on debugger statement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4882896" y="19202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5175504" y="1920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15 * 5;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4882896" y="21945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5175504" y="21945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console.log(x);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791456" y="2468880"/>
            <a:ext cx="385876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4882896" y="246888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5175504" y="24688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debugger;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4882896" y="274320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5175504" y="27432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document.getElementById(...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791456" y="3154680"/>
            <a:ext cx="3858768" cy="0"/>
          </a:xfrm>
          <a:prstGeom prst="line">
            <a:avLst/>
          </a:prstGeom>
          <a:noFill/>
          <a:ln w="9525">
            <a:solidFill>
              <a:srgbClr val="3C4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4901184" y="32186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DC1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5020056" y="34564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x: 75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4901184" y="37947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DC1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5020056" y="40233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4114641513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 · QUIZ 3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JS DOM and Forms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800" dirty="0"/>
          </a:p>
        </p:txBody>
      </p:sp>
      <p:sp>
        <p:nvSpPr>
          <p:cNvPr id="6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" y="709574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5029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validateForm() returns false. What happens to the form?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1389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an answer to check it.</a:t>
            </a:r>
            <a:endParaRPr lang="en-US" sz="1000" dirty="0"/>
          </a:p>
        </p:txBody>
      </p:sp>
      <p:sp>
        <p:nvSpPr>
          <p:cNvPr id="11" name="btn">
            <a:hlinkClick r:id="" action="ppaction://noaction"/>
          </p:cNvPr>
          <p:cNvSpPr/>
          <p:nvPr/>
        </p:nvSpPr>
        <p:spPr>
          <a:xfrm>
            <a:off x="45720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sent anyway</a:t>
            </a:r>
            <a:endParaRPr lang="en-US" sz="1400" dirty="0"/>
          </a:p>
        </p:txBody>
      </p:sp>
      <p:sp>
        <p:nvSpPr>
          <p:cNvPr id="12" name="btn">
            <a:hlinkClick r:id="" action="ppaction://noaction"/>
          </p:cNvPr>
          <p:cNvSpPr/>
          <p:nvPr/>
        </p:nvSpPr>
        <p:spPr>
          <a:xfrm>
            <a:off x="65836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btn">
            <a:hlinkClick r:id="" action="ppaction://noaction"/>
          </p:cNvPr>
          <p:cNvSpPr/>
          <p:nvPr/>
        </p:nvSpPr>
        <p:spPr>
          <a:xfrm>
            <a:off x="466344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not sent, and the page stays</a:t>
            </a:r>
            <a:endParaRPr lang="en-US" sz="1400" dirty="0"/>
          </a:p>
        </p:txBody>
      </p:sp>
      <p:sp>
        <p:nvSpPr>
          <p:cNvPr id="14" name="btn">
            <a:hlinkClick r:id="" action="ppaction://noaction"/>
          </p:cNvPr>
          <p:cNvSpPr/>
          <p:nvPr/>
        </p:nvSpPr>
        <p:spPr>
          <a:xfrm>
            <a:off x="486460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btn">
            <a:hlinkClick r:id="" action="ppaction://noaction"/>
          </p:cNvPr>
          <p:cNvSpPr/>
          <p:nvPr/>
        </p:nvSpPr>
        <p:spPr>
          <a:xfrm>
            <a:off x="45720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page reloads empty</a:t>
            </a:r>
            <a:endParaRPr lang="en-US" sz="1400" dirty="0"/>
          </a:p>
        </p:txBody>
      </p:sp>
      <p:sp>
        <p:nvSpPr>
          <p:cNvPr id="16" name="btn">
            <a:hlinkClick r:id="" action="ppaction://noaction"/>
          </p:cNvPr>
          <p:cNvSpPr/>
          <p:nvPr/>
        </p:nvSpPr>
        <p:spPr>
          <a:xfrm>
            <a:off x="65836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btn">
            <a:hlinkClick r:id="" action="ppaction://noaction"/>
          </p:cNvPr>
          <p:cNvSpPr/>
          <p:nvPr/>
        </p:nvSpPr>
        <p:spPr>
          <a:xfrm>
            <a:off x="466344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browser shows an error page</a:t>
            </a:r>
            <a:endParaRPr lang="en-US" sz="1400" dirty="0"/>
          </a:p>
        </p:txBody>
      </p:sp>
      <p:sp>
        <p:nvSpPr>
          <p:cNvPr id="18" name="btn">
            <a:hlinkClick r:id="" action="ppaction://noaction"/>
          </p:cNvPr>
          <p:cNvSpPr/>
          <p:nvPr/>
        </p:nvSpPr>
        <p:spPr>
          <a:xfrm>
            <a:off x="486460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225375013"/>
      </p:ext>
    </p:extLst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JS DOM and Forms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3291840" cy="3429000"/>
          </a:xfrm>
          <a:prstGeom prst="roundRect">
            <a:avLst>
              <a:gd name="adj" fmla="val 2222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85800" y="1417320"/>
            <a:ext cx="640080" cy="64008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1" y="158374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5800" y="2194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the patient form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5603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patient registration form from the HTML lecture and add a validateForm() function.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Time: 30 minutes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023360" y="12618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4480560" y="1188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Name must not be empty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023360" y="183794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4480560" y="17647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must be between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and 120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023360" y="24140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4480560" y="23408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and Confirm Password must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023360" y="29900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4480560" y="29169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terms checkbox must be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ticked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023360" y="35661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4480560" y="34930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each error in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using element.style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4023360" y="414223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 txBox="1"/>
          <p:nvPr/>
        </p:nvSpPr>
        <p:spPr>
          <a:xfrm>
            <a:off x="4480560" y="4069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selected departments in an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log it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105004535"/>
      </p:ext>
    </p:extLst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65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66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remember from today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1F2F6"/>
          </a:solidFill>
          <a:ln w="1270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21792" y="151790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21792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33502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</a:t>
            </a: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compares with ===, so "0" and 0 do not match.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28016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1F2F6"/>
          </a:solidFill>
          <a:ln w="1270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28032" y="151790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828032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40680" y="133502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</a:t>
            </a: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start at index 0; loop with for or forEach.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237744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1F2F6"/>
          </a:solidFill>
          <a:ln w="1270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21792" y="261518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21792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243230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pop()</a:t>
            </a: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returns the removed element;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push()</a:t>
            </a: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returns the new length.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663440" y="237744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1F2F6"/>
          </a:solidFill>
          <a:ln w="1270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828032" y="261518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4828032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40680" y="243230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Objects</a:t>
            </a: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hold name: value pairs; methods use this.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7200" y="347472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1F2F6"/>
          </a:solidFill>
          <a:ln w="1270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21792" y="371246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621792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234440" y="352958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any element with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document.getElementById(id).style.property</a:t>
            </a: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663440" y="347472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1F2F6"/>
          </a:solidFill>
          <a:ln w="1270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828032" y="371246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4828032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440680" y="352958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onsubmit="return validateForm()"</a:t>
            </a: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return false stops the form. Validate on the server too.</a:t>
            </a:r>
            <a:endParaRPr lang="en-US" sz="1150" dirty="0"/>
          </a:p>
        </p:txBody>
      </p:sp>
      <p:sp>
        <p:nvSpPr>
          <p:cNvPr id="30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F2F6"/>
          </a:solidFill>
          <a:ln>
            <a:solidFill>
              <a:srgbClr val="DADC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26405785"/>
      </p:ext>
    </p:extLst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FURTHER READING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Books and references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JS DOM and Forms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800" dirty="0"/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7548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0080" y="1325880"/>
            <a:ext cx="438912" cy="438912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197" y="1439997"/>
            <a:ext cx="210678" cy="21067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132588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books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1874520"/>
            <a:ext cx="43891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Sams Teach Yourself Ajax, JavaScript and PHP All in One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Ballard and Moncur; Sams, 2010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Phrasebook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Christian Wenz; Sams, 2007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 and MySQL Web Development, 4/E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Welling and Thomson; Addison-Wesley, 2009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for Programmers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P. J. Deitel and H. M. Deitel; Prentice Hall, 2009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Beginning PHP5, Apache, and MySQL Web Development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Naramore et al.; Wiley, 2005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 in a Nutshell, 3/E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Harold and Means; O'Reilly, 2004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1188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ONLINE: CLICK TO OPEN</a:t>
            </a:r>
            <a:endParaRPr lang="en-US" sz="850" dirty="0"/>
          </a:p>
        </p:txBody>
      </p:sp>
      <p:sp>
        <p:nvSpPr>
          <p:cNvPr id="14" name="btn">
            <a:hlinkClick r:id="rId5"/>
          </p:cNvPr>
          <p:cNvSpPr/>
          <p:nvPr/>
        </p:nvSpPr>
        <p:spPr>
          <a:xfrm>
            <a:off x="5486400" y="1463040"/>
            <a:ext cx="32004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52400" tIns="50800" rIns="1270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W3Schools JavaScript  ↗</a:t>
            </a:r>
            <a:endParaRPr lang="en-US" sz="1200" dirty="0"/>
          </a:p>
          <a:p>
            <a:pPr marL="0" indent="0">
              <a:buNone/>
            </a:pPr>
            <a:r>
              <a:rPr lang="en-US" sz="8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www.w3schools.com/js/</a:t>
            </a:r>
            <a:endParaRPr lang="en-US" sz="1200" dirty="0"/>
          </a:p>
        </p:txBody>
      </p:sp>
      <p:sp>
        <p:nvSpPr>
          <p:cNvPr id="15" name="btn">
            <a:hlinkClick r:id="rId6"/>
          </p:cNvPr>
          <p:cNvSpPr/>
          <p:nvPr/>
        </p:nvSpPr>
        <p:spPr>
          <a:xfrm>
            <a:off x="5486400" y="2249424"/>
            <a:ext cx="32004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52400" tIns="50800" rIns="1270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W3Schools HTML DOM  ↗</a:t>
            </a:r>
            <a:endParaRPr lang="en-US" sz="1200" dirty="0"/>
          </a:p>
          <a:p>
            <a:pPr marL="0" indent="0">
              <a:buNone/>
            </a:pPr>
            <a:r>
              <a:rPr lang="en-US" sz="8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www.w3schools.com/js/js_htmldom.asp</a:t>
            </a:r>
            <a:endParaRPr lang="en-US" sz="1200" dirty="0"/>
          </a:p>
        </p:txBody>
      </p:sp>
      <p:sp>
        <p:nvSpPr>
          <p:cNvPr id="16" name="btn">
            <a:hlinkClick r:id="rId7"/>
          </p:cNvPr>
          <p:cNvSpPr/>
          <p:nvPr/>
        </p:nvSpPr>
        <p:spPr>
          <a:xfrm>
            <a:off x="5486400" y="3035808"/>
            <a:ext cx="32004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52400" tIns="50800" rIns="1270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W3Schools Form Validation  ↗</a:t>
            </a:r>
            <a:endParaRPr lang="en-US" sz="1200" dirty="0"/>
          </a:p>
          <a:p>
            <a:pPr marL="0" indent="0">
              <a:buNone/>
            </a:pPr>
            <a:r>
              <a:rPr lang="en-US" sz="8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www.w3schools.com/js/js_validation.asp</a:t>
            </a:r>
            <a:endParaRPr lang="en-US" sz="1200" dirty="0"/>
          </a:p>
        </p:txBody>
      </p:sp>
      <p:sp>
        <p:nvSpPr>
          <p:cNvPr id="17" name="btn">
            <a:hlinkClick r:id="rId8"/>
          </p:cNvPr>
          <p:cNvSpPr/>
          <p:nvPr/>
        </p:nvSpPr>
        <p:spPr>
          <a:xfrm>
            <a:off x="5486400" y="3822192"/>
            <a:ext cx="32004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52400" tIns="50800" rIns="1270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of JavaScript  ↗</a:t>
            </a:r>
            <a:endParaRPr lang="en-US" sz="1200" dirty="0"/>
          </a:p>
          <a:p>
            <a:pPr marL="0" indent="0">
              <a:buNone/>
            </a:pPr>
            <a:r>
              <a:rPr lang="en-US" sz="8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www.springboard.com/blog/history-of-javascript/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00051991"/>
      </p:ext>
    </p:extLst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RESULT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validateForm() returned false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754880" cy="2743200"/>
          </a:xfrm>
          <a:prstGeom prst="roundRect">
            <a:avLst>
              <a:gd name="adj" fmla="val 2000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66928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85800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04672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05840" y="124358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097280" y="124815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493776" y="1463040"/>
            <a:ext cx="4681728" cy="2432304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76656" y="16459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Name: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545336" y="1664208"/>
            <a:ext cx="15544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591056" y="166420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Rahim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76656" y="19659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Name: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545336" y="1984248"/>
            <a:ext cx="155448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76656" y="2331720"/>
            <a:ext cx="640080" cy="237744"/>
          </a:xfrm>
          <a:prstGeom prst="roundRect">
            <a:avLst>
              <a:gd name="adj" fmla="val 11538"/>
            </a:avLst>
          </a:prstGeom>
          <a:solidFill>
            <a:srgbClr val="EFEFEF"/>
          </a:solidFill>
          <a:ln w="9525">
            <a:solidFill>
              <a:srgbClr val="767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676656" y="23317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408176" y="201168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1545336" y="20848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page says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545336" y="2331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must be filled out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739896" y="2624328"/>
            <a:ext cx="502920" cy="228600"/>
          </a:xfrm>
          <a:prstGeom prst="roundRect">
            <a:avLst>
              <a:gd name="adj" fmla="val 40000"/>
            </a:avLst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3739896" y="26243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486400" y="1188720"/>
            <a:ext cx="3200400" cy="2743200"/>
          </a:xfrm>
          <a:prstGeom prst="roundRect">
            <a:avLst>
              <a:gd name="adj" fmla="val 2667"/>
            </a:avLst>
          </a:prstGeom>
          <a:solidFill>
            <a:srgbClr val="FBEAEA"/>
          </a:solidFill>
          <a:ln w="9525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5669280" y="1325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0" y="164592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lname was "", so the if condition was true. The alert appeared, the function returned false, and the form was not sent.</a:t>
            </a:r>
            <a:endParaRPr lang="en-US" sz="1200" dirty="0"/>
          </a:p>
        </p:txBody>
      </p:sp>
      <p:sp>
        <p:nvSpPr>
          <p:cNvPr id="27" name="btn">
            <a:hlinkClick r:id="" action="ppaction://noaction"/>
          </p:cNvPr>
          <p:cNvSpPr/>
          <p:nvPr/>
        </p:nvSpPr>
        <p:spPr>
          <a:xfrm>
            <a:off x="457200" y="416052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↺  Back to the demo</a:t>
            </a:r>
            <a:endParaRPr lang="en-US" sz="1100" dirty="0"/>
          </a:p>
        </p:txBody>
      </p:sp>
      <p:sp>
        <p:nvSpPr>
          <p:cNvPr id="28" name="btn">
            <a:hlinkClick r:id="" action="ppaction://noaction"/>
          </p:cNvPr>
          <p:cNvSpPr/>
          <p:nvPr/>
        </p:nvSpPr>
        <p:spPr>
          <a:xfrm>
            <a:off x="2606040" y="416052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Continue  ▸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56639082"/>
      </p:ext>
    </p:extLst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RESULT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validateForm() let it through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754880" cy="2743200"/>
          </a:xfrm>
          <a:prstGeom prst="roundRect">
            <a:avLst>
              <a:gd name="adj" fmla="val 2000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66928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85800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04672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05840" y="124358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097280" y="124815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localhost/action_page.php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493776" y="1463040"/>
            <a:ext cx="4681728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456" y="192024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93776" y="2697480"/>
            <a:ext cx="46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submitted to /action_page.php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" y="3108960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fname=Rahim&amp;lname=Uddin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0" y="1188720"/>
            <a:ext cx="3200400" cy="2743200"/>
          </a:xfrm>
          <a:prstGeom prst="roundRect">
            <a:avLst>
              <a:gd name="adj" fmla="val 2667"/>
            </a:avLst>
          </a:prstGeom>
          <a:solidFill>
            <a:srgbClr val="E6F5EE"/>
          </a:solidFill>
          <a:ln w="9525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5669280" y="1325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669280" y="164592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values were filled in, so the if block was skipped. The function returned nothing (not false), so the browser sent the form to the action URL with method post.</a:t>
            </a:r>
            <a:endParaRPr lang="en-US" sz="1200" dirty="0"/>
          </a:p>
        </p:txBody>
      </p:sp>
      <p:sp>
        <p:nvSpPr>
          <p:cNvPr id="18" name="btn">
            <a:hlinkClick r:id="" action="ppaction://noaction"/>
          </p:cNvPr>
          <p:cNvSpPr/>
          <p:nvPr/>
        </p:nvSpPr>
        <p:spPr>
          <a:xfrm>
            <a:off x="457200" y="416052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↺  Back to the demo</a:t>
            </a:r>
            <a:endParaRPr lang="en-US" sz="1100" dirty="0"/>
          </a:p>
        </p:txBody>
      </p:sp>
      <p:sp>
        <p:nvSpPr>
          <p:cNvPr id="19" name="btn">
            <a:hlinkClick r:id="" action="ppaction://noaction"/>
          </p:cNvPr>
          <p:cNvSpPr/>
          <p:nvPr/>
        </p:nvSpPr>
        <p:spPr>
          <a:xfrm>
            <a:off x="2606040" y="416052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Continue  ▸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52209064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 [1791189835279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E55D5F0-6AA1-4365-B715-14BE37176B3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0ba78ad0-620a-4e33-b0d0-ef23f364937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3628</Words>
  <Application>Microsoft Office PowerPoint</Application>
  <PresentationFormat>On-screen Show (16:9)</PresentationFormat>
  <Paragraphs>738</Paragraphs>
  <Slides>34</Slides>
  <Notes>34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Cambria</vt:lpstr>
      <vt:lpstr>Courier New</vt:lpstr>
      <vt:lpstr>Office Theme [1791189835279]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JS HTML DOM and Form Validation</dc:title>
  <dc:subject>PptxGenJS Presentation</dc:subject>
  <dc:creator>Rifat Al Mamun Rudro</dc:creator>
  <cp:lastModifiedBy>RIFAT AL MAMUN RUDRO</cp:lastModifiedBy>
  <cp:revision>3</cp:revision>
  <dcterms:created xsi:type="dcterms:W3CDTF">2026-10-03T15:47:09Z</dcterms:created>
  <dcterms:modified xsi:type="dcterms:W3CDTF">2026-10-05T08:47:06Z</dcterms:modified>
</cp:coreProperties>
</file>